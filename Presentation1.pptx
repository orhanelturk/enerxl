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F317-6BFF-0D7C-7249-A3196DD3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F0324-B191-D111-8B4C-304A05720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3F53-2FA7-290C-6CD9-4543B6BA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CC4DA-F34E-53D7-0591-C5BCD0E4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1F072-BE45-2699-F9BF-84970B95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5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4761-63D2-1692-005B-D67387FCB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EE471-A036-3747-9368-A7B5A8E1D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EF572-2CEA-46FD-321B-FF3A3AF2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447CA-3FA5-CC8D-0FED-8D82276E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464C8-7EFE-C663-5353-788A2FF8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4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3173-2510-B2F9-8B91-CFBF4D4B7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9CFBA-1869-178B-64FC-6B927C705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8D31F-671A-AE0D-C147-27D4E33F5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14FF7-56A2-52BE-4F50-76D510149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592F0-157D-1030-25D2-5A862B50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6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CF22-CBFB-92D8-88C6-6FEB6F5F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58E78-F34B-A177-0413-62AB98482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FA061-388F-2E1A-4630-70E37DA4C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C9D2C-AF7E-8062-8FD9-A103F68E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8CE0A-6EB7-064C-7F34-FC90E760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3E4FE-5389-95B1-CA18-55E94BE9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60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41E9-DF21-7035-4D1B-A464D57E9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7C286-89A7-4B5C-F68A-586667A5B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5CBF2-B11E-0614-1983-4B8AF4EFA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7F27D7-62DA-4B46-E315-FA0B68000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8C1A8-4A1A-17FB-1452-55C919442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7D889-0C5E-E5BA-EBEA-52928CD9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D23308-DCC7-BA07-FA92-2AB8649F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BC83E-0CDD-FFBA-2601-D945038E0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3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0D3D-4011-EA38-4A3F-07D76403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A06FC-01DD-F0FD-684E-7F0B1290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37D79-2BE5-0066-B2AE-EBDD5247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5211D-A229-962A-193B-AF77FCDB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52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41F566-7D63-1318-24A3-6B91F5D9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08C0EE-4803-3429-0D70-6F3BC763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4C8F5-D609-BABF-881D-C824ABFB2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63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2A5D-52EC-3A1D-3723-F112BFF4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26F47-C76C-BFB0-B188-EC0CF1FF3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F3DBF-7515-6EFF-BE64-C06C75B01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B4A96-E86D-6A53-2386-5CF6E966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3F0E4-CF0D-EEA8-3722-FBA21F680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BBA6A-B7FF-604F-1D90-22A17913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43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87769-9753-BEF7-1539-5A4C7F94D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490CB-461D-AAA0-4AD2-339D0CAF75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03BFD-F755-7069-4659-E0909A7C6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D7772-6A24-A337-3BA9-C271055C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DAF09-788C-9077-0DDA-46310A7E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50A98-C9A4-0BFF-F526-B43FFE31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1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CB4C-CC17-D4CF-09A8-4D0444411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3970F-0F4F-9F76-8409-6F12B460B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AB87B-FBBD-CCD8-3666-C8FC0676E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2E52A-FF00-823F-00BE-04366B5A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1D598-5AD3-CCAE-15F8-C651AFDB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93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5621D3-D79A-1748-E045-F8FB23CF1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89FC5-6C66-84D8-89DF-023399A10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6A8A7-F909-CAD4-C245-3DC959706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0518D-A8E4-FDA6-DE6C-A5CADF9A6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D077A-DFF9-F470-B3A7-F5A3CCE5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2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7A40E2-CB71-88F0-5A4A-6CB436983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5D3C7-25AF-C9FA-3B67-D1089D60F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9D39D-DD88-1D0F-A53F-EF34328EB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EBE32-DFA1-4001-8ADD-BE91301E3C3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43BD8-F92E-175C-8ED9-879476EB9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49F15-FB69-22F2-1740-707A4DF94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792B8-BE62-4DD8-A250-10B087CF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9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22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22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22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5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22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49271-0874-C9F4-3033-963E61917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D3F8156A-1BD7-ED47-10E0-2E65A695E0C3}"/>
              </a:ext>
            </a:extLst>
          </p:cNvPr>
          <p:cNvGrpSpPr/>
          <p:nvPr/>
        </p:nvGrpSpPr>
        <p:grpSpPr>
          <a:xfrm>
            <a:off x="3099482" y="207072"/>
            <a:ext cx="420624" cy="402336"/>
            <a:chOff x="524955" y="969178"/>
            <a:chExt cx="420624" cy="40233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F9998B02-8684-35B5-2D29-CFB8493267E5}"/>
                </a:ext>
              </a:extLst>
            </p:cNvPr>
            <p:cNvSpPr/>
            <p:nvPr/>
          </p:nvSpPr>
          <p:spPr>
            <a:xfrm>
              <a:off x="524955" y="969178"/>
              <a:ext cx="420624" cy="40233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Graphic 58" descr="Pencil outline">
              <a:extLst>
                <a:ext uri="{FF2B5EF4-FFF2-40B4-BE49-F238E27FC236}">
                  <a16:creationId xmlns:a16="http://schemas.microsoft.com/office/drawing/2014/main" id="{375997F2-C32C-92C7-647D-A92E87BB1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222" y="997097"/>
              <a:ext cx="364067" cy="364067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BD7193-DA3B-7EEF-A1C4-EC9CAC454B3E}"/>
              </a:ext>
            </a:extLst>
          </p:cNvPr>
          <p:cNvSpPr/>
          <p:nvPr/>
        </p:nvSpPr>
        <p:spPr>
          <a:xfrm rot="5400000">
            <a:off x="2446552" y="-2010369"/>
            <a:ext cx="539203" cy="485314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570FC53-ADDF-2EEB-A696-7BE59B07C860}"/>
              </a:ext>
            </a:extLst>
          </p:cNvPr>
          <p:cNvGrpSpPr/>
          <p:nvPr/>
        </p:nvGrpSpPr>
        <p:grpSpPr>
          <a:xfrm>
            <a:off x="391026" y="213973"/>
            <a:ext cx="420624" cy="402336"/>
            <a:chOff x="525780" y="493776"/>
            <a:chExt cx="420624" cy="40233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F6A0C06-38A0-8527-B7C5-2A96EEF76D66}"/>
                </a:ext>
              </a:extLst>
            </p:cNvPr>
            <p:cNvSpPr/>
            <p:nvPr/>
          </p:nvSpPr>
          <p:spPr>
            <a:xfrm>
              <a:off x="525780" y="493776"/>
              <a:ext cx="420624" cy="40233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 descr="Magnifying glass outline">
              <a:extLst>
                <a:ext uri="{FF2B5EF4-FFF2-40B4-BE49-F238E27FC236}">
                  <a16:creationId xmlns:a16="http://schemas.microsoft.com/office/drawing/2014/main" id="{207334C6-253D-5A4A-578A-52379D72A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6481" y="524467"/>
              <a:ext cx="354394" cy="354394"/>
            </a:xfrm>
            <a:prstGeom prst="rect">
              <a:avLst/>
            </a:prstGeom>
          </p:spPr>
        </p:pic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2AA10C-245E-D7E7-9BBD-135EBE8F3E52}"/>
              </a:ext>
            </a:extLst>
          </p:cNvPr>
          <p:cNvSpPr/>
          <p:nvPr/>
        </p:nvSpPr>
        <p:spPr>
          <a:xfrm>
            <a:off x="2451899" y="213973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F7F180C-B39C-245B-9468-5E31AF676B02}"/>
              </a:ext>
            </a:extLst>
          </p:cNvPr>
          <p:cNvGrpSpPr/>
          <p:nvPr/>
        </p:nvGrpSpPr>
        <p:grpSpPr>
          <a:xfrm>
            <a:off x="1951761" y="213973"/>
            <a:ext cx="420624" cy="402336"/>
            <a:chOff x="525780" y="1946337"/>
            <a:chExt cx="420624" cy="40233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E8A3491-4B5C-625F-444B-D52C561CB724}"/>
                </a:ext>
              </a:extLst>
            </p:cNvPr>
            <p:cNvSpPr/>
            <p:nvPr/>
          </p:nvSpPr>
          <p:spPr>
            <a:xfrm>
              <a:off x="525780" y="1946337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 descr="Electric Tower outline">
              <a:extLst>
                <a:ext uri="{FF2B5EF4-FFF2-40B4-BE49-F238E27FC236}">
                  <a16:creationId xmlns:a16="http://schemas.microsoft.com/office/drawing/2014/main" id="{A855C003-F879-9832-8765-70898B992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4039" y="1972880"/>
              <a:ext cx="349250" cy="349250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9D2CBB-4671-63F0-FAAE-CE47104C54B8}"/>
              </a:ext>
            </a:extLst>
          </p:cNvPr>
          <p:cNvCxnSpPr>
            <a:cxnSpLocks/>
          </p:cNvCxnSpPr>
          <p:nvPr/>
        </p:nvCxnSpPr>
        <p:spPr>
          <a:xfrm>
            <a:off x="2993080" y="272978"/>
            <a:ext cx="0" cy="30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83D970C-2327-4DAD-6473-04D2A4C8050E}"/>
              </a:ext>
            </a:extLst>
          </p:cNvPr>
          <p:cNvGrpSpPr/>
          <p:nvPr/>
        </p:nvGrpSpPr>
        <p:grpSpPr>
          <a:xfrm>
            <a:off x="4627102" y="205188"/>
            <a:ext cx="420624" cy="402336"/>
            <a:chOff x="531114" y="4073969"/>
            <a:chExt cx="420624" cy="40233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90B428EE-DEE3-CC95-EBA1-DF574EE55889}"/>
                </a:ext>
              </a:extLst>
            </p:cNvPr>
            <p:cNvSpPr/>
            <p:nvPr/>
          </p:nvSpPr>
          <p:spPr>
            <a:xfrm>
              <a:off x="531114" y="4073969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isk outline">
              <a:extLst>
                <a:ext uri="{FF2B5EF4-FFF2-40B4-BE49-F238E27FC236}">
                  <a16:creationId xmlns:a16="http://schemas.microsoft.com/office/drawing/2014/main" id="{41C219FF-CA0E-E0CA-446E-6102E1AAF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4039" y="4100512"/>
              <a:ext cx="349250" cy="34925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F4D93BD-FC6C-E835-BABA-9AB464A0EFCB}"/>
              </a:ext>
            </a:extLst>
          </p:cNvPr>
          <p:cNvGrpSpPr/>
          <p:nvPr/>
        </p:nvGrpSpPr>
        <p:grpSpPr>
          <a:xfrm>
            <a:off x="4126964" y="205188"/>
            <a:ext cx="420624" cy="402336"/>
            <a:chOff x="531114" y="3589782"/>
            <a:chExt cx="420624" cy="40233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AD11CF48-F2DA-17B2-D8B6-DB7E74253AEE}"/>
                </a:ext>
              </a:extLst>
            </p:cNvPr>
            <p:cNvSpPr/>
            <p:nvPr/>
          </p:nvSpPr>
          <p:spPr>
            <a:xfrm>
              <a:off x="531114" y="3589782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Graphic 38" descr="Share outline">
              <a:extLst>
                <a:ext uri="{FF2B5EF4-FFF2-40B4-BE49-F238E27FC236}">
                  <a16:creationId xmlns:a16="http://schemas.microsoft.com/office/drawing/2014/main" id="{DA9647F4-4C05-AC25-F4B2-9EC4016B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8329" y="3633470"/>
              <a:ext cx="314960" cy="31496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D719209-2F55-6D95-C95F-41A7A4747906}"/>
              </a:ext>
            </a:extLst>
          </p:cNvPr>
          <p:cNvGrpSpPr/>
          <p:nvPr/>
        </p:nvGrpSpPr>
        <p:grpSpPr>
          <a:xfrm>
            <a:off x="3610894" y="205188"/>
            <a:ext cx="420624" cy="402336"/>
            <a:chOff x="531114" y="3105595"/>
            <a:chExt cx="420624" cy="4023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1DD0D2C-32B8-161D-4CAB-E65C76E682A9}"/>
                </a:ext>
              </a:extLst>
            </p:cNvPr>
            <p:cNvSpPr/>
            <p:nvPr/>
          </p:nvSpPr>
          <p:spPr>
            <a:xfrm>
              <a:off x="531114" y="3105595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Layers Design outline">
              <a:extLst>
                <a:ext uri="{FF2B5EF4-FFF2-40B4-BE49-F238E27FC236}">
                  <a16:creationId xmlns:a16="http://schemas.microsoft.com/office/drawing/2014/main" id="{E7B84867-8B55-D0CD-3951-62E62D8A7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8895" y="3126296"/>
              <a:ext cx="347133" cy="347133"/>
            </a:xfrm>
            <a:prstGeom prst="rect">
              <a:avLst/>
            </a:prstGeom>
          </p:spPr>
        </p:pic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2E6865-5858-8A48-6677-D312253FFF0F}"/>
              </a:ext>
            </a:extLst>
          </p:cNvPr>
          <p:cNvSpPr/>
          <p:nvPr/>
        </p:nvSpPr>
        <p:spPr>
          <a:xfrm>
            <a:off x="1435156" y="213973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2DF4DA0-7A33-DF90-A1C3-044A813DE759}"/>
              </a:ext>
            </a:extLst>
          </p:cNvPr>
          <p:cNvSpPr/>
          <p:nvPr/>
        </p:nvSpPr>
        <p:spPr>
          <a:xfrm>
            <a:off x="4261197" y="5976331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7EF94776-BE01-AE4E-2624-CFC4037F8505}"/>
              </a:ext>
            </a:extLst>
          </p:cNvPr>
          <p:cNvSpPr/>
          <p:nvPr/>
        </p:nvSpPr>
        <p:spPr>
          <a:xfrm>
            <a:off x="4760648" y="5976331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7D913B8-3D5C-2FA4-0240-DFF4E24D3332}"/>
              </a:ext>
            </a:extLst>
          </p:cNvPr>
          <p:cNvSpPr/>
          <p:nvPr/>
        </p:nvSpPr>
        <p:spPr>
          <a:xfrm>
            <a:off x="5271160" y="5976331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Graphic 74" descr="Clipboard outline">
            <a:extLst>
              <a:ext uri="{FF2B5EF4-FFF2-40B4-BE49-F238E27FC236}">
                <a16:creationId xmlns:a16="http://schemas.microsoft.com/office/drawing/2014/main" id="{86574177-5F06-5A57-2AFF-CBC6F905E1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99195" y="5993863"/>
            <a:ext cx="343529" cy="343529"/>
          </a:xfrm>
          <a:prstGeom prst="rect">
            <a:avLst/>
          </a:prstGeom>
        </p:spPr>
      </p:pic>
      <p:grpSp>
        <p:nvGrpSpPr>
          <p:cNvPr id="78" name="Group 77">
            <a:extLst>
              <a:ext uri="{FF2B5EF4-FFF2-40B4-BE49-F238E27FC236}">
                <a16:creationId xmlns:a16="http://schemas.microsoft.com/office/drawing/2014/main" id="{03761CE8-1C07-8073-681E-DB58F68FCEE5}"/>
              </a:ext>
            </a:extLst>
          </p:cNvPr>
          <p:cNvGrpSpPr/>
          <p:nvPr/>
        </p:nvGrpSpPr>
        <p:grpSpPr>
          <a:xfrm>
            <a:off x="4371223" y="6056575"/>
            <a:ext cx="218302" cy="234950"/>
            <a:chOff x="3270250" y="2033063"/>
            <a:chExt cx="218302" cy="23495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81903CC-5178-890B-7706-097F22BB21B0}"/>
                </a:ext>
              </a:extLst>
            </p:cNvPr>
            <p:cNvSpPr/>
            <p:nvPr/>
          </p:nvSpPr>
          <p:spPr>
            <a:xfrm>
              <a:off x="3270250" y="2033063"/>
              <a:ext cx="165100" cy="165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3666BBA-B58E-2D64-60BF-8ED285260111}"/>
                </a:ext>
              </a:extLst>
            </p:cNvPr>
            <p:cNvSpPr/>
            <p:nvPr/>
          </p:nvSpPr>
          <p:spPr>
            <a:xfrm>
              <a:off x="3323452" y="2102913"/>
              <a:ext cx="165100" cy="165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Arrow: Quad 78">
            <a:extLst>
              <a:ext uri="{FF2B5EF4-FFF2-40B4-BE49-F238E27FC236}">
                <a16:creationId xmlns:a16="http://schemas.microsoft.com/office/drawing/2014/main" id="{BE677D46-9520-1562-0D14-8E680E30FFD1}"/>
              </a:ext>
            </a:extLst>
          </p:cNvPr>
          <p:cNvSpPr/>
          <p:nvPr/>
        </p:nvSpPr>
        <p:spPr>
          <a:xfrm>
            <a:off x="5339849" y="6035793"/>
            <a:ext cx="280817" cy="280817"/>
          </a:xfrm>
          <a:prstGeom prst="quadArrow">
            <a:avLst>
              <a:gd name="adj1" fmla="val 22500"/>
              <a:gd name="adj2" fmla="val 18882"/>
              <a:gd name="adj3" fmla="val 256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A15E031-1489-9A96-1323-0DA0E7027A09}"/>
              </a:ext>
            </a:extLst>
          </p:cNvPr>
          <p:cNvGrpSpPr/>
          <p:nvPr/>
        </p:nvGrpSpPr>
        <p:grpSpPr>
          <a:xfrm>
            <a:off x="5817011" y="5953746"/>
            <a:ext cx="420624" cy="402336"/>
            <a:chOff x="1885448" y="2507413"/>
            <a:chExt cx="420624" cy="402336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5E9C019D-B975-5112-1741-C344AE504884}"/>
                </a:ext>
              </a:extLst>
            </p:cNvPr>
            <p:cNvSpPr/>
            <p:nvPr/>
          </p:nvSpPr>
          <p:spPr>
            <a:xfrm>
              <a:off x="1885448" y="2507413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CFA4722F-26A8-A4B9-EF78-9AF10B5BF610}"/>
                </a:ext>
              </a:extLst>
            </p:cNvPr>
            <p:cNvGrpSpPr/>
            <p:nvPr/>
          </p:nvGrpSpPr>
          <p:grpSpPr>
            <a:xfrm>
              <a:off x="1951691" y="2543758"/>
              <a:ext cx="288137" cy="312195"/>
              <a:chOff x="3571240" y="2316480"/>
              <a:chExt cx="328301" cy="355712"/>
            </a:xfrm>
          </p:grpSpPr>
          <p:sp>
            <p:nvSpPr>
              <p:cNvPr id="82" name="Arrow: Circular 81">
                <a:extLst>
                  <a:ext uri="{FF2B5EF4-FFF2-40B4-BE49-F238E27FC236}">
                    <a16:creationId xmlns:a16="http://schemas.microsoft.com/office/drawing/2014/main" id="{FC170980-5CAB-D231-2F2B-F559ED67780F}"/>
                  </a:ext>
                </a:extLst>
              </p:cNvPr>
              <p:cNvSpPr/>
              <p:nvPr/>
            </p:nvSpPr>
            <p:spPr>
              <a:xfrm>
                <a:off x="3571240" y="2316480"/>
                <a:ext cx="328301" cy="328301"/>
              </a:xfrm>
              <a:prstGeom prst="circularArrow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Arrow: Circular 82">
                <a:extLst>
                  <a:ext uri="{FF2B5EF4-FFF2-40B4-BE49-F238E27FC236}">
                    <a16:creationId xmlns:a16="http://schemas.microsoft.com/office/drawing/2014/main" id="{2265FE38-8E6C-876A-F706-04EA75A17FDE}"/>
                  </a:ext>
                </a:extLst>
              </p:cNvPr>
              <p:cNvSpPr/>
              <p:nvPr/>
            </p:nvSpPr>
            <p:spPr>
              <a:xfrm rot="10800000">
                <a:off x="3571240" y="2343891"/>
                <a:ext cx="328301" cy="328301"/>
              </a:xfrm>
              <a:prstGeom prst="circularArrow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2F8E9D79-0CE1-3268-47AC-C594ECD408A8}"/>
              </a:ext>
            </a:extLst>
          </p:cNvPr>
          <p:cNvSpPr/>
          <p:nvPr/>
        </p:nvSpPr>
        <p:spPr>
          <a:xfrm>
            <a:off x="6313636" y="5953295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E24AD4B-C10C-99CB-4C0F-E2F138DB6812}"/>
              </a:ext>
            </a:extLst>
          </p:cNvPr>
          <p:cNvSpPr/>
          <p:nvPr/>
        </p:nvSpPr>
        <p:spPr>
          <a:xfrm>
            <a:off x="6824148" y="5953295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67173DF-34EB-D22F-A9DD-E2245F64702E}"/>
              </a:ext>
            </a:extLst>
          </p:cNvPr>
          <p:cNvGrpSpPr/>
          <p:nvPr/>
        </p:nvGrpSpPr>
        <p:grpSpPr>
          <a:xfrm>
            <a:off x="8355826" y="5948290"/>
            <a:ext cx="420624" cy="402336"/>
            <a:chOff x="382161" y="3008846"/>
            <a:chExt cx="420624" cy="402336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F4F7D16F-2F0E-A8AB-E88E-1C52156EDC54}"/>
                </a:ext>
              </a:extLst>
            </p:cNvPr>
            <p:cNvSpPr/>
            <p:nvPr/>
          </p:nvSpPr>
          <p:spPr>
            <a:xfrm>
              <a:off x="382161" y="3008846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5" name="Graphic 104" descr="Garbage outline">
              <a:extLst>
                <a:ext uri="{FF2B5EF4-FFF2-40B4-BE49-F238E27FC236}">
                  <a16:creationId xmlns:a16="http://schemas.microsoft.com/office/drawing/2014/main" id="{B05E4BAB-5F3B-5F00-A96E-6B2559D18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24141" y="3059843"/>
              <a:ext cx="326365" cy="326365"/>
            </a:xfrm>
            <a:prstGeom prst="rect">
              <a:avLst/>
            </a:prstGeom>
          </p:spPr>
        </p:pic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F41FD40-4EFB-CE95-91E9-1A8C67EB2927}"/>
              </a:ext>
            </a:extLst>
          </p:cNvPr>
          <p:cNvSpPr/>
          <p:nvPr/>
        </p:nvSpPr>
        <p:spPr>
          <a:xfrm>
            <a:off x="6407725" y="6073619"/>
            <a:ext cx="243499" cy="152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5B9A1A7-F0C7-E53B-2D70-E90A125E7FE1}"/>
              </a:ext>
            </a:extLst>
          </p:cNvPr>
          <p:cNvGrpSpPr/>
          <p:nvPr/>
        </p:nvGrpSpPr>
        <p:grpSpPr>
          <a:xfrm>
            <a:off x="6921601" y="6035793"/>
            <a:ext cx="218302" cy="234950"/>
            <a:chOff x="3270250" y="2033063"/>
            <a:chExt cx="218302" cy="234950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3BAD0FE-AB5E-C4A3-E662-3FFB515D7649}"/>
                </a:ext>
              </a:extLst>
            </p:cNvPr>
            <p:cNvSpPr/>
            <p:nvPr/>
          </p:nvSpPr>
          <p:spPr>
            <a:xfrm>
              <a:off x="3270250" y="2033063"/>
              <a:ext cx="165100" cy="165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8A5D302-6926-C70D-9DBF-E2C8EDCAA38B}"/>
                </a:ext>
              </a:extLst>
            </p:cNvPr>
            <p:cNvSpPr/>
            <p:nvPr/>
          </p:nvSpPr>
          <p:spPr>
            <a:xfrm>
              <a:off x="3323452" y="2102913"/>
              <a:ext cx="165100" cy="165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9B963FA-6C88-3F50-60A3-D9ABF9CBA172}"/>
              </a:ext>
            </a:extLst>
          </p:cNvPr>
          <p:cNvGrpSpPr/>
          <p:nvPr/>
        </p:nvGrpSpPr>
        <p:grpSpPr>
          <a:xfrm>
            <a:off x="7852257" y="5953295"/>
            <a:ext cx="420624" cy="402336"/>
            <a:chOff x="1885448" y="3008846"/>
            <a:chExt cx="420624" cy="402336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83900180-2719-9F0D-156C-66AB9B2CE4EE}"/>
                </a:ext>
              </a:extLst>
            </p:cNvPr>
            <p:cNvSpPr/>
            <p:nvPr/>
          </p:nvSpPr>
          <p:spPr>
            <a:xfrm>
              <a:off x="1885448" y="3008846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67D24D2B-761B-3790-1FD4-24FD34DA0F8B}"/>
                </a:ext>
              </a:extLst>
            </p:cNvPr>
            <p:cNvGrpSpPr/>
            <p:nvPr/>
          </p:nvGrpSpPr>
          <p:grpSpPr>
            <a:xfrm>
              <a:off x="1959460" y="3071261"/>
              <a:ext cx="280368" cy="277507"/>
              <a:chOff x="4050332" y="2713759"/>
              <a:chExt cx="1504284" cy="1488936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C6600E78-7FD4-D339-6ACE-98459E1270C6}"/>
                  </a:ext>
                </a:extLst>
              </p:cNvPr>
              <p:cNvSpPr/>
              <p:nvPr/>
            </p:nvSpPr>
            <p:spPr>
              <a:xfrm>
                <a:off x="4050332" y="2713759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30AEE797-52F6-9930-FE13-869759D22920}"/>
                  </a:ext>
                </a:extLst>
              </p:cNvPr>
              <p:cNvSpPr/>
              <p:nvPr/>
            </p:nvSpPr>
            <p:spPr>
              <a:xfrm>
                <a:off x="4554340" y="2713759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2A84933-515F-60DE-BB51-F05162EDF745}"/>
                  </a:ext>
                </a:extLst>
              </p:cNvPr>
              <p:cNvSpPr/>
              <p:nvPr/>
            </p:nvSpPr>
            <p:spPr>
              <a:xfrm>
                <a:off x="5054478" y="2713759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B76334CF-C123-9379-76C5-462128F2E982}"/>
                  </a:ext>
                </a:extLst>
              </p:cNvPr>
              <p:cNvSpPr/>
              <p:nvPr/>
            </p:nvSpPr>
            <p:spPr>
              <a:xfrm>
                <a:off x="4050332" y="3208158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99963E78-952F-148D-43BE-9412F008FA55}"/>
                  </a:ext>
                </a:extLst>
              </p:cNvPr>
              <p:cNvSpPr/>
              <p:nvPr/>
            </p:nvSpPr>
            <p:spPr>
              <a:xfrm>
                <a:off x="4554340" y="3208158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0F2ABC6D-CBE2-186B-2BCE-CB0ED1F60CE3}"/>
                  </a:ext>
                </a:extLst>
              </p:cNvPr>
              <p:cNvSpPr/>
              <p:nvPr/>
            </p:nvSpPr>
            <p:spPr>
              <a:xfrm>
                <a:off x="5054478" y="3208158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6E538A9A-944E-56E3-B921-BD36D7DC63A7}"/>
                  </a:ext>
                </a:extLst>
              </p:cNvPr>
              <p:cNvSpPr/>
              <p:nvPr/>
            </p:nvSpPr>
            <p:spPr>
              <a:xfrm>
                <a:off x="4050332" y="3702557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975AC715-9EC6-0F62-D6C4-6C16C99F1208}"/>
                  </a:ext>
                </a:extLst>
              </p:cNvPr>
              <p:cNvSpPr/>
              <p:nvPr/>
            </p:nvSpPr>
            <p:spPr>
              <a:xfrm>
                <a:off x="4554340" y="3702557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80465AB0-1447-4CE0-31B0-56CE50AEDC87}"/>
                  </a:ext>
                </a:extLst>
              </p:cNvPr>
              <p:cNvSpPr/>
              <p:nvPr/>
            </p:nvSpPr>
            <p:spPr>
              <a:xfrm>
                <a:off x="5054478" y="3702557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46AED35-D5DB-5F68-E9FE-7A217534103A}"/>
              </a:ext>
            </a:extLst>
          </p:cNvPr>
          <p:cNvSpPr/>
          <p:nvPr/>
        </p:nvSpPr>
        <p:spPr>
          <a:xfrm>
            <a:off x="7348689" y="5945275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234D505-B3F2-92AA-5E56-D1C769613A08}"/>
              </a:ext>
            </a:extLst>
          </p:cNvPr>
          <p:cNvGrpSpPr/>
          <p:nvPr/>
        </p:nvGrpSpPr>
        <p:grpSpPr>
          <a:xfrm>
            <a:off x="7455889" y="6047952"/>
            <a:ext cx="211082" cy="167540"/>
            <a:chOff x="4011883" y="1614693"/>
            <a:chExt cx="335093" cy="265970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23E36B5-4D0A-6B5C-27E0-D645F38013C5}"/>
                </a:ext>
              </a:extLst>
            </p:cNvPr>
            <p:cNvCxnSpPr>
              <a:cxnSpLocks/>
            </p:cNvCxnSpPr>
            <p:nvPr/>
          </p:nvCxnSpPr>
          <p:spPr>
            <a:xfrm>
              <a:off x="4011883" y="1614693"/>
              <a:ext cx="32551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33F15648-5463-4B01-7C46-25915FF761BD}"/>
                </a:ext>
              </a:extLst>
            </p:cNvPr>
            <p:cNvCxnSpPr>
              <a:cxnSpLocks/>
            </p:cNvCxnSpPr>
            <p:nvPr/>
          </p:nvCxnSpPr>
          <p:spPr>
            <a:xfrm>
              <a:off x="4011883" y="1880663"/>
              <a:ext cx="33509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5FDE6975-139D-C505-F847-98DF33AC4FE3}"/>
                </a:ext>
              </a:extLst>
            </p:cNvPr>
            <p:cNvSpPr/>
            <p:nvPr/>
          </p:nvSpPr>
          <p:spPr>
            <a:xfrm>
              <a:off x="4104253" y="1677295"/>
              <a:ext cx="140769" cy="14076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93F7BDC3-CBAE-25B8-2696-92DE105C86ED}"/>
              </a:ext>
            </a:extLst>
          </p:cNvPr>
          <p:cNvSpPr/>
          <p:nvPr/>
        </p:nvSpPr>
        <p:spPr>
          <a:xfrm>
            <a:off x="4162770" y="5845898"/>
            <a:ext cx="5708218" cy="606154"/>
          </a:xfrm>
          <a:prstGeom prst="roundRect">
            <a:avLst>
              <a:gd name="adj" fmla="val 14475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Multiplication Sign 165">
            <a:extLst>
              <a:ext uri="{FF2B5EF4-FFF2-40B4-BE49-F238E27FC236}">
                <a16:creationId xmlns:a16="http://schemas.microsoft.com/office/drawing/2014/main" id="{F3BFFA2B-A26D-5FA1-0BE8-A746E6E193EF}"/>
              </a:ext>
            </a:extLst>
          </p:cNvPr>
          <p:cNvSpPr/>
          <p:nvPr/>
        </p:nvSpPr>
        <p:spPr>
          <a:xfrm rot="5400000">
            <a:off x="9712784" y="5839718"/>
            <a:ext cx="125941" cy="108570"/>
          </a:xfrm>
          <a:prstGeom prst="mathMultiply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55B42205-CB0F-F2C8-79A3-D7A5337801C8}"/>
              </a:ext>
            </a:extLst>
          </p:cNvPr>
          <p:cNvSpPr/>
          <p:nvPr/>
        </p:nvSpPr>
        <p:spPr>
          <a:xfrm>
            <a:off x="8856049" y="5964409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29DDAD4F-42B0-61DF-9E2A-04D059B1E68F}"/>
              </a:ext>
            </a:extLst>
          </p:cNvPr>
          <p:cNvSpPr/>
          <p:nvPr/>
        </p:nvSpPr>
        <p:spPr>
          <a:xfrm>
            <a:off x="9356187" y="5964409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2" name="Graphic 171" descr="Back outline">
            <a:extLst>
              <a:ext uri="{FF2B5EF4-FFF2-40B4-BE49-F238E27FC236}">
                <a16:creationId xmlns:a16="http://schemas.microsoft.com/office/drawing/2014/main" id="{98DC9456-D17E-F388-4613-CE7B5BF5844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61611" y="5949537"/>
            <a:ext cx="398074" cy="398074"/>
          </a:xfrm>
          <a:prstGeom prst="rect">
            <a:avLst/>
          </a:prstGeom>
        </p:spPr>
      </p:pic>
      <p:pic>
        <p:nvPicPr>
          <p:cNvPr id="174" name="Graphic 173" descr="Back outline">
            <a:extLst>
              <a:ext uri="{FF2B5EF4-FFF2-40B4-BE49-F238E27FC236}">
                <a16:creationId xmlns:a16="http://schemas.microsoft.com/office/drawing/2014/main" id="{092C8F7F-707C-543C-E34C-42207F70EA3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77681" y="5949537"/>
            <a:ext cx="398074" cy="398074"/>
          </a:xfrm>
          <a:prstGeom prst="rect">
            <a:avLst/>
          </a:prstGeom>
        </p:spPr>
      </p:pic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A6AE826-BD1D-C06B-A18D-E44BD3280765}"/>
              </a:ext>
            </a:extLst>
          </p:cNvPr>
          <p:cNvGrpSpPr/>
          <p:nvPr/>
        </p:nvGrpSpPr>
        <p:grpSpPr>
          <a:xfrm>
            <a:off x="910970" y="213973"/>
            <a:ext cx="420624" cy="402336"/>
            <a:chOff x="1435157" y="264773"/>
            <a:chExt cx="420624" cy="402336"/>
          </a:xfrm>
        </p:grpSpPr>
        <p:sp>
          <p:nvSpPr>
            <p:cNvPr id="176" name="Rectangle: Rounded Corners 175">
              <a:extLst>
                <a:ext uri="{FF2B5EF4-FFF2-40B4-BE49-F238E27FC236}">
                  <a16:creationId xmlns:a16="http://schemas.microsoft.com/office/drawing/2014/main" id="{13267037-2EC7-8DDE-C716-B131579964C1}"/>
                </a:ext>
              </a:extLst>
            </p:cNvPr>
            <p:cNvSpPr/>
            <p:nvPr/>
          </p:nvSpPr>
          <p:spPr>
            <a:xfrm>
              <a:off x="1435157" y="264773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7" name="Graphic 176" descr="Blueprint outline">
              <a:extLst>
                <a:ext uri="{FF2B5EF4-FFF2-40B4-BE49-F238E27FC236}">
                  <a16:creationId xmlns:a16="http://schemas.microsoft.com/office/drawing/2014/main" id="{33E648D5-C40A-0E51-930D-803842C8D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60814" y="277324"/>
              <a:ext cx="381000" cy="381000"/>
            </a:xfrm>
            <a:prstGeom prst="rect">
              <a:avLst/>
            </a:prstGeom>
          </p:spPr>
        </p:pic>
      </p:grp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79317918-F6BC-7CF2-4F9D-DABFAB2BE513}"/>
              </a:ext>
            </a:extLst>
          </p:cNvPr>
          <p:cNvSpPr/>
          <p:nvPr/>
        </p:nvSpPr>
        <p:spPr>
          <a:xfrm>
            <a:off x="1498709" y="293060"/>
            <a:ext cx="316600" cy="244162"/>
          </a:xfrm>
          <a:custGeom>
            <a:avLst/>
            <a:gdLst>
              <a:gd name="connsiteX0" fmla="*/ 737225 w 737225"/>
              <a:gd name="connsiteY0" fmla="*/ 444722 h 568547"/>
              <a:gd name="connsiteX1" fmla="*/ 737225 w 737225"/>
              <a:gd name="connsiteY1" fmla="*/ 356587 h 568547"/>
              <a:gd name="connsiteX2" fmla="*/ 576758 w 737225"/>
              <a:gd name="connsiteY2" fmla="*/ 0 h 568547"/>
              <a:gd name="connsiteX3" fmla="*/ 160515 w 737225"/>
              <a:gd name="connsiteY3" fmla="*/ 0 h 568547"/>
              <a:gd name="connsiteX4" fmla="*/ 0 w 737225"/>
              <a:gd name="connsiteY4" fmla="*/ 356587 h 568547"/>
              <a:gd name="connsiteX5" fmla="*/ 0 w 737225"/>
              <a:gd name="connsiteY5" fmla="*/ 444722 h 568547"/>
              <a:gd name="connsiteX6" fmla="*/ 359093 w 737225"/>
              <a:gd name="connsiteY6" fmla="*/ 444722 h 568547"/>
              <a:gd name="connsiteX7" fmla="*/ 359093 w 737225"/>
              <a:gd name="connsiteY7" fmla="*/ 549497 h 568547"/>
              <a:gd name="connsiteX8" fmla="*/ 238944 w 737225"/>
              <a:gd name="connsiteY8" fmla="*/ 549497 h 568547"/>
              <a:gd name="connsiteX9" fmla="*/ 238944 w 737225"/>
              <a:gd name="connsiteY9" fmla="*/ 568547 h 568547"/>
              <a:gd name="connsiteX10" fmla="*/ 498281 w 737225"/>
              <a:gd name="connsiteY10" fmla="*/ 568547 h 568547"/>
              <a:gd name="connsiteX11" fmla="*/ 498281 w 737225"/>
              <a:gd name="connsiteY11" fmla="*/ 549497 h 568547"/>
              <a:gd name="connsiteX12" fmla="*/ 378143 w 737225"/>
              <a:gd name="connsiteY12" fmla="*/ 549497 h 568547"/>
              <a:gd name="connsiteX13" fmla="*/ 378143 w 737225"/>
              <a:gd name="connsiteY13" fmla="*/ 444722 h 568547"/>
              <a:gd name="connsiteX14" fmla="*/ 446713 w 737225"/>
              <a:gd name="connsiteY14" fmla="*/ 118786 h 568547"/>
              <a:gd name="connsiteX15" fmla="*/ 460867 w 737225"/>
              <a:gd name="connsiteY15" fmla="*/ 229457 h 568547"/>
              <a:gd name="connsiteX16" fmla="*/ 276368 w 737225"/>
              <a:gd name="connsiteY16" fmla="*/ 229457 h 568547"/>
              <a:gd name="connsiteX17" fmla="*/ 290551 w 737225"/>
              <a:gd name="connsiteY17" fmla="*/ 118786 h 568547"/>
              <a:gd name="connsiteX18" fmla="*/ 293018 w 737225"/>
              <a:gd name="connsiteY18" fmla="*/ 99736 h 568547"/>
              <a:gd name="connsiteX19" fmla="*/ 303362 w 737225"/>
              <a:gd name="connsiteY19" fmla="*/ 19050 h 568547"/>
              <a:gd name="connsiteX20" fmla="*/ 433892 w 737225"/>
              <a:gd name="connsiteY20" fmla="*/ 19050 h 568547"/>
              <a:gd name="connsiteX21" fmla="*/ 444236 w 737225"/>
              <a:gd name="connsiteY21" fmla="*/ 99736 h 568547"/>
              <a:gd name="connsiteX22" fmla="*/ 659111 w 737225"/>
              <a:gd name="connsiteY22" fmla="*/ 229457 h 568547"/>
              <a:gd name="connsiteX23" fmla="*/ 480041 w 737225"/>
              <a:gd name="connsiteY23" fmla="*/ 229457 h 568547"/>
              <a:gd name="connsiteX24" fmla="*/ 465887 w 737225"/>
              <a:gd name="connsiteY24" fmla="*/ 118786 h 568547"/>
              <a:gd name="connsiteX25" fmla="*/ 609324 w 737225"/>
              <a:gd name="connsiteY25" fmla="*/ 118786 h 568547"/>
              <a:gd name="connsiteX26" fmla="*/ 257156 w 737225"/>
              <a:gd name="connsiteY26" fmla="*/ 229457 h 568547"/>
              <a:gd name="connsiteX27" fmla="*/ 78086 w 737225"/>
              <a:gd name="connsiteY27" fmla="*/ 229457 h 568547"/>
              <a:gd name="connsiteX28" fmla="*/ 127873 w 737225"/>
              <a:gd name="connsiteY28" fmla="*/ 118824 h 568547"/>
              <a:gd name="connsiteX29" fmla="*/ 271348 w 737225"/>
              <a:gd name="connsiteY29" fmla="*/ 118824 h 568547"/>
              <a:gd name="connsiteX30" fmla="*/ 254708 w 737225"/>
              <a:gd name="connsiteY30" fmla="*/ 248507 h 568547"/>
              <a:gd name="connsiteX31" fmla="*/ 241811 w 737225"/>
              <a:gd name="connsiteY31" fmla="*/ 349110 h 568547"/>
              <a:gd name="connsiteX32" fmla="*/ 24260 w 737225"/>
              <a:gd name="connsiteY32" fmla="*/ 349110 h 568547"/>
              <a:gd name="connsiteX33" fmla="*/ 69552 w 737225"/>
              <a:gd name="connsiteY33" fmla="*/ 248507 h 568547"/>
              <a:gd name="connsiteX34" fmla="*/ 273910 w 737225"/>
              <a:gd name="connsiteY34" fmla="*/ 248507 h 568547"/>
              <a:gd name="connsiteX35" fmla="*/ 463306 w 737225"/>
              <a:gd name="connsiteY35" fmla="*/ 248507 h 568547"/>
              <a:gd name="connsiteX36" fmla="*/ 476212 w 737225"/>
              <a:gd name="connsiteY36" fmla="*/ 349148 h 568547"/>
              <a:gd name="connsiteX37" fmla="*/ 261014 w 737225"/>
              <a:gd name="connsiteY37" fmla="*/ 349148 h 568547"/>
              <a:gd name="connsiteX38" fmla="*/ 495414 w 737225"/>
              <a:gd name="connsiteY38" fmla="*/ 349110 h 568547"/>
              <a:gd name="connsiteX39" fmla="*/ 482508 w 737225"/>
              <a:gd name="connsiteY39" fmla="*/ 248507 h 568547"/>
              <a:gd name="connsiteX40" fmla="*/ 667684 w 737225"/>
              <a:gd name="connsiteY40" fmla="*/ 248507 h 568547"/>
              <a:gd name="connsiteX41" fmla="*/ 712975 w 737225"/>
              <a:gd name="connsiteY41" fmla="*/ 349148 h 568547"/>
              <a:gd name="connsiteX42" fmla="*/ 600751 w 737225"/>
              <a:gd name="connsiteY42" fmla="*/ 99736 h 568547"/>
              <a:gd name="connsiteX43" fmla="*/ 463439 w 737225"/>
              <a:gd name="connsiteY43" fmla="*/ 99736 h 568547"/>
              <a:gd name="connsiteX44" fmla="*/ 453095 w 737225"/>
              <a:gd name="connsiteY44" fmla="*/ 19050 h 568547"/>
              <a:gd name="connsiteX45" fmla="*/ 564442 w 737225"/>
              <a:gd name="connsiteY45" fmla="*/ 19050 h 568547"/>
              <a:gd name="connsiteX46" fmla="*/ 172793 w 737225"/>
              <a:gd name="connsiteY46" fmla="*/ 19050 h 568547"/>
              <a:gd name="connsiteX47" fmla="*/ 284131 w 737225"/>
              <a:gd name="connsiteY47" fmla="*/ 19050 h 568547"/>
              <a:gd name="connsiteX48" fmla="*/ 273787 w 737225"/>
              <a:gd name="connsiteY48" fmla="*/ 99736 h 568547"/>
              <a:gd name="connsiteX49" fmla="*/ 136484 w 737225"/>
              <a:gd name="connsiteY49" fmla="*/ 99736 h 568547"/>
              <a:gd name="connsiteX50" fmla="*/ 19050 w 737225"/>
              <a:gd name="connsiteY50" fmla="*/ 368160 h 568547"/>
              <a:gd name="connsiteX51" fmla="*/ 718185 w 737225"/>
              <a:gd name="connsiteY51" fmla="*/ 368160 h 568547"/>
              <a:gd name="connsiteX52" fmla="*/ 718185 w 737225"/>
              <a:gd name="connsiteY52" fmla="*/ 425672 h 568547"/>
              <a:gd name="connsiteX53" fmla="*/ 19050 w 737225"/>
              <a:gd name="connsiteY53" fmla="*/ 425672 h 568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37225" h="568547">
                <a:moveTo>
                  <a:pt x="737225" y="444722"/>
                </a:moveTo>
                <a:lnTo>
                  <a:pt x="737225" y="356587"/>
                </a:lnTo>
                <a:lnTo>
                  <a:pt x="576758" y="0"/>
                </a:lnTo>
                <a:lnTo>
                  <a:pt x="160515" y="0"/>
                </a:lnTo>
                <a:lnTo>
                  <a:pt x="0" y="356587"/>
                </a:lnTo>
                <a:lnTo>
                  <a:pt x="0" y="444722"/>
                </a:lnTo>
                <a:lnTo>
                  <a:pt x="359093" y="444722"/>
                </a:lnTo>
                <a:lnTo>
                  <a:pt x="359093" y="549497"/>
                </a:lnTo>
                <a:lnTo>
                  <a:pt x="238944" y="549497"/>
                </a:lnTo>
                <a:lnTo>
                  <a:pt x="238944" y="568547"/>
                </a:lnTo>
                <a:lnTo>
                  <a:pt x="498281" y="568547"/>
                </a:lnTo>
                <a:lnTo>
                  <a:pt x="498281" y="549497"/>
                </a:lnTo>
                <a:lnTo>
                  <a:pt x="378143" y="549497"/>
                </a:lnTo>
                <a:lnTo>
                  <a:pt x="378143" y="444722"/>
                </a:lnTo>
                <a:close/>
                <a:moveTo>
                  <a:pt x="446713" y="118786"/>
                </a:moveTo>
                <a:lnTo>
                  <a:pt x="460867" y="229457"/>
                </a:lnTo>
                <a:lnTo>
                  <a:pt x="276368" y="229457"/>
                </a:lnTo>
                <a:lnTo>
                  <a:pt x="290551" y="118786"/>
                </a:lnTo>
                <a:close/>
                <a:moveTo>
                  <a:pt x="293018" y="99736"/>
                </a:moveTo>
                <a:lnTo>
                  <a:pt x="303362" y="19050"/>
                </a:lnTo>
                <a:lnTo>
                  <a:pt x="433892" y="19050"/>
                </a:lnTo>
                <a:lnTo>
                  <a:pt x="444236" y="99736"/>
                </a:lnTo>
                <a:close/>
                <a:moveTo>
                  <a:pt x="659111" y="229457"/>
                </a:moveTo>
                <a:lnTo>
                  <a:pt x="480041" y="229457"/>
                </a:lnTo>
                <a:lnTo>
                  <a:pt x="465887" y="118786"/>
                </a:lnTo>
                <a:lnTo>
                  <a:pt x="609324" y="118786"/>
                </a:lnTo>
                <a:close/>
                <a:moveTo>
                  <a:pt x="257156" y="229457"/>
                </a:moveTo>
                <a:lnTo>
                  <a:pt x="78086" y="229457"/>
                </a:lnTo>
                <a:lnTo>
                  <a:pt x="127873" y="118824"/>
                </a:lnTo>
                <a:lnTo>
                  <a:pt x="271348" y="118824"/>
                </a:lnTo>
                <a:close/>
                <a:moveTo>
                  <a:pt x="254708" y="248507"/>
                </a:moveTo>
                <a:lnTo>
                  <a:pt x="241811" y="349110"/>
                </a:lnTo>
                <a:lnTo>
                  <a:pt x="24260" y="349110"/>
                </a:lnTo>
                <a:lnTo>
                  <a:pt x="69552" y="248507"/>
                </a:lnTo>
                <a:close/>
                <a:moveTo>
                  <a:pt x="273910" y="248507"/>
                </a:moveTo>
                <a:lnTo>
                  <a:pt x="463306" y="248507"/>
                </a:lnTo>
                <a:lnTo>
                  <a:pt x="476212" y="349148"/>
                </a:lnTo>
                <a:lnTo>
                  <a:pt x="261014" y="349148"/>
                </a:lnTo>
                <a:close/>
                <a:moveTo>
                  <a:pt x="495414" y="349110"/>
                </a:moveTo>
                <a:lnTo>
                  <a:pt x="482508" y="248507"/>
                </a:lnTo>
                <a:lnTo>
                  <a:pt x="667684" y="248507"/>
                </a:lnTo>
                <a:lnTo>
                  <a:pt x="712975" y="349148"/>
                </a:lnTo>
                <a:close/>
                <a:moveTo>
                  <a:pt x="600751" y="99736"/>
                </a:moveTo>
                <a:lnTo>
                  <a:pt x="463439" y="99736"/>
                </a:lnTo>
                <a:lnTo>
                  <a:pt x="453095" y="19050"/>
                </a:lnTo>
                <a:lnTo>
                  <a:pt x="564442" y="19050"/>
                </a:lnTo>
                <a:close/>
                <a:moveTo>
                  <a:pt x="172793" y="19050"/>
                </a:moveTo>
                <a:lnTo>
                  <a:pt x="284131" y="19050"/>
                </a:lnTo>
                <a:lnTo>
                  <a:pt x="273787" y="99736"/>
                </a:lnTo>
                <a:lnTo>
                  <a:pt x="136484" y="99736"/>
                </a:lnTo>
                <a:close/>
                <a:moveTo>
                  <a:pt x="19050" y="368160"/>
                </a:moveTo>
                <a:lnTo>
                  <a:pt x="718185" y="368160"/>
                </a:lnTo>
                <a:lnTo>
                  <a:pt x="718185" y="425672"/>
                </a:lnTo>
                <a:lnTo>
                  <a:pt x="19050" y="42567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 descr="Solar Panel Icon 24x24">
            <a:extLst>
              <a:ext uri="{FF2B5EF4-FFF2-40B4-BE49-F238E27FC236}">
                <a16:creationId xmlns:a16="http://schemas.microsoft.com/office/drawing/2014/main" id="{EEADB0A3-0373-29A9-482A-C936A17C6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12" y="248876"/>
            <a:ext cx="326755" cy="32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BE0BA104-FA7D-4116-CB05-408F0A063FAE}"/>
              </a:ext>
            </a:extLst>
          </p:cNvPr>
          <p:cNvGrpSpPr/>
          <p:nvPr/>
        </p:nvGrpSpPr>
        <p:grpSpPr>
          <a:xfrm>
            <a:off x="289584" y="917575"/>
            <a:ext cx="2582939" cy="365760"/>
            <a:chOff x="3586480" y="5652169"/>
            <a:chExt cx="2514600" cy="365760"/>
          </a:xfrm>
        </p:grpSpPr>
        <p:sp>
          <p:nvSpPr>
            <p:cNvPr id="1047" name="Rectangle: Rounded Corners 1046">
              <a:extLst>
                <a:ext uri="{FF2B5EF4-FFF2-40B4-BE49-F238E27FC236}">
                  <a16:creationId xmlns:a16="http://schemas.microsoft.com/office/drawing/2014/main" id="{6752AE32-BECF-B322-2497-41C2D1717909}"/>
                </a:ext>
              </a:extLst>
            </p:cNvPr>
            <p:cNvSpPr/>
            <p:nvPr/>
          </p:nvSpPr>
          <p:spPr>
            <a:xfrm>
              <a:off x="3586480" y="5652169"/>
              <a:ext cx="2514600" cy="36576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bg2">
                      <a:lumMod val="75000"/>
                    </a:schemeClr>
                  </a:solidFill>
                </a:rPr>
                <a:t>            Search Location…</a:t>
              </a:r>
              <a:r>
                <a:rPr lang="en-US" sz="1400" dirty="0"/>
                <a:t> </a:t>
              </a:r>
            </a:p>
          </p:txBody>
        </p:sp>
        <p:pic>
          <p:nvPicPr>
            <p:cNvPr id="1048" name="Graphic 1047" descr="Magnifying glass outline">
              <a:extLst>
                <a:ext uri="{FF2B5EF4-FFF2-40B4-BE49-F238E27FC236}">
                  <a16:creationId xmlns:a16="http://schemas.microsoft.com/office/drawing/2014/main" id="{1511BEDF-3C6B-1777-3FB7-E95348307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48382" y="5702413"/>
              <a:ext cx="253905" cy="2539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9011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E6AA-31FA-1307-5E11-1C233189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510E5ED-2BFE-0FDD-9723-E0FB55BA7881}"/>
              </a:ext>
            </a:extLst>
          </p:cNvPr>
          <p:cNvSpPr/>
          <p:nvPr/>
        </p:nvSpPr>
        <p:spPr>
          <a:xfrm>
            <a:off x="910970" y="1539875"/>
            <a:ext cx="1223190" cy="150330"/>
          </a:xfrm>
          <a:prstGeom prst="roundRect">
            <a:avLst/>
          </a:prstGeom>
          <a:ln w="31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7AF8B22B-A128-7DA7-B0E0-C73E0E0666F2}"/>
              </a:ext>
            </a:extLst>
          </p:cNvPr>
          <p:cNvSpPr/>
          <p:nvPr/>
        </p:nvSpPr>
        <p:spPr>
          <a:xfrm>
            <a:off x="936627" y="1552575"/>
            <a:ext cx="394967" cy="12906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53D159A-C9B1-915B-1C8F-D6E3BDB62DDB}"/>
              </a:ext>
            </a:extLst>
          </p:cNvPr>
          <p:cNvSpPr txBox="1"/>
          <p:nvPr/>
        </p:nvSpPr>
        <p:spPr>
          <a:xfrm>
            <a:off x="858817" y="1501524"/>
            <a:ext cx="6820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PV Area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46AB6D-188C-BA00-3AAE-DC171D547F73}"/>
              </a:ext>
            </a:extLst>
          </p:cNvPr>
          <p:cNvSpPr txBox="1"/>
          <p:nvPr/>
        </p:nvSpPr>
        <p:spPr>
          <a:xfrm>
            <a:off x="1233208" y="1508459"/>
            <a:ext cx="805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 Obstacle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A263151-8DCA-6B0A-E6F6-164ED0720D2E}"/>
              </a:ext>
            </a:extLst>
          </p:cNvPr>
          <p:cNvSpPr txBox="1"/>
          <p:nvPr/>
        </p:nvSpPr>
        <p:spPr>
          <a:xfrm>
            <a:off x="1692691" y="1509681"/>
            <a:ext cx="805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 Object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FDF4C46-F0B1-2F9D-5C3D-E44A418CE413}"/>
              </a:ext>
            </a:extLst>
          </p:cNvPr>
          <p:cNvGrpSpPr/>
          <p:nvPr/>
        </p:nvGrpSpPr>
        <p:grpSpPr>
          <a:xfrm>
            <a:off x="3099482" y="207072"/>
            <a:ext cx="420624" cy="402336"/>
            <a:chOff x="524955" y="969178"/>
            <a:chExt cx="420624" cy="40233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3198844F-09CE-99ED-D50D-31F5CBDD1113}"/>
                </a:ext>
              </a:extLst>
            </p:cNvPr>
            <p:cNvSpPr/>
            <p:nvPr/>
          </p:nvSpPr>
          <p:spPr>
            <a:xfrm>
              <a:off x="524955" y="969178"/>
              <a:ext cx="420624" cy="40233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Graphic 58" descr="Pencil outline">
              <a:extLst>
                <a:ext uri="{FF2B5EF4-FFF2-40B4-BE49-F238E27FC236}">
                  <a16:creationId xmlns:a16="http://schemas.microsoft.com/office/drawing/2014/main" id="{881FD8BC-72F8-496D-9CAC-97B000E93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222" y="997097"/>
              <a:ext cx="364067" cy="364067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F6A6E5-552C-DCD0-577C-841841F0EE2D}"/>
              </a:ext>
            </a:extLst>
          </p:cNvPr>
          <p:cNvSpPr/>
          <p:nvPr/>
        </p:nvSpPr>
        <p:spPr>
          <a:xfrm rot="5400000">
            <a:off x="2446552" y="-2010369"/>
            <a:ext cx="539203" cy="485314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9451F97-47B2-1FAC-49AE-E2687A99E014}"/>
              </a:ext>
            </a:extLst>
          </p:cNvPr>
          <p:cNvGrpSpPr/>
          <p:nvPr/>
        </p:nvGrpSpPr>
        <p:grpSpPr>
          <a:xfrm>
            <a:off x="391026" y="213973"/>
            <a:ext cx="420624" cy="402336"/>
            <a:chOff x="525780" y="493776"/>
            <a:chExt cx="420624" cy="40233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E140561-BDC5-CF1F-290B-16528CE35CB6}"/>
                </a:ext>
              </a:extLst>
            </p:cNvPr>
            <p:cNvSpPr/>
            <p:nvPr/>
          </p:nvSpPr>
          <p:spPr>
            <a:xfrm>
              <a:off x="525780" y="493776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 descr="Magnifying glass outline">
              <a:extLst>
                <a:ext uri="{FF2B5EF4-FFF2-40B4-BE49-F238E27FC236}">
                  <a16:creationId xmlns:a16="http://schemas.microsoft.com/office/drawing/2014/main" id="{02E2E92E-A0C7-7CEC-08AB-1852B0E62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8895" y="517747"/>
              <a:ext cx="354394" cy="354394"/>
            </a:xfrm>
            <a:prstGeom prst="rect">
              <a:avLst/>
            </a:prstGeom>
          </p:spPr>
        </p:pic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FDC1A0E-2FC6-E669-8A42-596876E600A4}"/>
              </a:ext>
            </a:extLst>
          </p:cNvPr>
          <p:cNvSpPr/>
          <p:nvPr/>
        </p:nvSpPr>
        <p:spPr>
          <a:xfrm>
            <a:off x="2451899" y="213973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B398A4F-89AB-3441-A3B2-EB41F27DC574}"/>
              </a:ext>
            </a:extLst>
          </p:cNvPr>
          <p:cNvGrpSpPr/>
          <p:nvPr/>
        </p:nvGrpSpPr>
        <p:grpSpPr>
          <a:xfrm>
            <a:off x="1951761" y="213973"/>
            <a:ext cx="420624" cy="402336"/>
            <a:chOff x="525780" y="1946337"/>
            <a:chExt cx="420624" cy="40233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556F6EA-E210-F32E-BD62-2FAE00B15F21}"/>
                </a:ext>
              </a:extLst>
            </p:cNvPr>
            <p:cNvSpPr/>
            <p:nvPr/>
          </p:nvSpPr>
          <p:spPr>
            <a:xfrm>
              <a:off x="525780" y="1946337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 descr="Electric Tower outline">
              <a:extLst>
                <a:ext uri="{FF2B5EF4-FFF2-40B4-BE49-F238E27FC236}">
                  <a16:creationId xmlns:a16="http://schemas.microsoft.com/office/drawing/2014/main" id="{3ACA0131-1FDB-7F0A-51BD-3D52D4C78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4039" y="1972880"/>
              <a:ext cx="349250" cy="349250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77B58C-EDA1-8F49-7F14-3BB966802F4C}"/>
              </a:ext>
            </a:extLst>
          </p:cNvPr>
          <p:cNvCxnSpPr>
            <a:cxnSpLocks/>
          </p:cNvCxnSpPr>
          <p:nvPr/>
        </p:nvCxnSpPr>
        <p:spPr>
          <a:xfrm>
            <a:off x="2993080" y="272978"/>
            <a:ext cx="0" cy="30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6A561D3-1C51-06EB-7A41-09CB7DBFD306}"/>
              </a:ext>
            </a:extLst>
          </p:cNvPr>
          <p:cNvGrpSpPr/>
          <p:nvPr/>
        </p:nvGrpSpPr>
        <p:grpSpPr>
          <a:xfrm>
            <a:off x="4627102" y="205188"/>
            <a:ext cx="420624" cy="402336"/>
            <a:chOff x="531114" y="4073969"/>
            <a:chExt cx="420624" cy="40233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1D98B8C-3572-916B-5716-FDBC7E09E2AA}"/>
                </a:ext>
              </a:extLst>
            </p:cNvPr>
            <p:cNvSpPr/>
            <p:nvPr/>
          </p:nvSpPr>
          <p:spPr>
            <a:xfrm>
              <a:off x="531114" y="4073969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isk outline">
              <a:extLst>
                <a:ext uri="{FF2B5EF4-FFF2-40B4-BE49-F238E27FC236}">
                  <a16:creationId xmlns:a16="http://schemas.microsoft.com/office/drawing/2014/main" id="{94FFB606-B751-5692-CB20-E58DA5682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4039" y="4100512"/>
              <a:ext cx="349250" cy="34925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254F96E-6983-3F6C-B78F-9B8FC8749A8C}"/>
              </a:ext>
            </a:extLst>
          </p:cNvPr>
          <p:cNvGrpSpPr/>
          <p:nvPr/>
        </p:nvGrpSpPr>
        <p:grpSpPr>
          <a:xfrm>
            <a:off x="4126964" y="205188"/>
            <a:ext cx="420624" cy="402336"/>
            <a:chOff x="531114" y="3589782"/>
            <a:chExt cx="420624" cy="40233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9D111FB-A318-2B00-867E-E993E3BF0D6B}"/>
                </a:ext>
              </a:extLst>
            </p:cNvPr>
            <p:cNvSpPr/>
            <p:nvPr/>
          </p:nvSpPr>
          <p:spPr>
            <a:xfrm>
              <a:off x="531114" y="3589782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Graphic 38" descr="Share outline">
              <a:extLst>
                <a:ext uri="{FF2B5EF4-FFF2-40B4-BE49-F238E27FC236}">
                  <a16:creationId xmlns:a16="http://schemas.microsoft.com/office/drawing/2014/main" id="{49DC3049-AB23-7F84-C886-2F1229BB3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8329" y="3633470"/>
              <a:ext cx="314960" cy="31496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9A71F08-C1AF-72D5-B0FE-DF18DC56FB09}"/>
              </a:ext>
            </a:extLst>
          </p:cNvPr>
          <p:cNvGrpSpPr/>
          <p:nvPr/>
        </p:nvGrpSpPr>
        <p:grpSpPr>
          <a:xfrm>
            <a:off x="3610894" y="205188"/>
            <a:ext cx="420624" cy="402336"/>
            <a:chOff x="531114" y="3105595"/>
            <a:chExt cx="420624" cy="4023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32F9CEB-8D91-E533-5264-4E2B694D00C2}"/>
                </a:ext>
              </a:extLst>
            </p:cNvPr>
            <p:cNvSpPr/>
            <p:nvPr/>
          </p:nvSpPr>
          <p:spPr>
            <a:xfrm>
              <a:off x="531114" y="3105595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Layers Design outline">
              <a:extLst>
                <a:ext uri="{FF2B5EF4-FFF2-40B4-BE49-F238E27FC236}">
                  <a16:creationId xmlns:a16="http://schemas.microsoft.com/office/drawing/2014/main" id="{559D05EE-53E8-0526-B04D-C39B01841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8895" y="3126296"/>
              <a:ext cx="347133" cy="347133"/>
            </a:xfrm>
            <a:prstGeom prst="rect">
              <a:avLst/>
            </a:prstGeom>
          </p:spPr>
        </p:pic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31090B-6A98-B0D2-0A07-3A4C1A1689E2}"/>
              </a:ext>
            </a:extLst>
          </p:cNvPr>
          <p:cNvSpPr/>
          <p:nvPr/>
        </p:nvSpPr>
        <p:spPr>
          <a:xfrm>
            <a:off x="1435156" y="213973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F65AA0-ABE5-2B4F-8079-8033857B17E1}"/>
              </a:ext>
            </a:extLst>
          </p:cNvPr>
          <p:cNvSpPr/>
          <p:nvPr/>
        </p:nvSpPr>
        <p:spPr>
          <a:xfrm>
            <a:off x="296038" y="960532"/>
            <a:ext cx="2090790" cy="4379817"/>
          </a:xfrm>
          <a:prstGeom prst="roundRect">
            <a:avLst>
              <a:gd name="adj" fmla="val 3119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F7320-B6FA-85FA-F816-1BC7C251A711}"/>
              </a:ext>
            </a:extLst>
          </p:cNvPr>
          <p:cNvSpPr txBox="1"/>
          <p:nvPr/>
        </p:nvSpPr>
        <p:spPr>
          <a:xfrm>
            <a:off x="300307" y="960532"/>
            <a:ext cx="1297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PV Area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A1B676-BDD2-5121-1220-F8F82CD3CDC1}"/>
              </a:ext>
            </a:extLst>
          </p:cNvPr>
          <p:cNvSpPr txBox="1"/>
          <p:nvPr/>
        </p:nvSpPr>
        <p:spPr>
          <a:xfrm>
            <a:off x="447544" y="2194147"/>
            <a:ext cx="1763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PV Area By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 </a:t>
            </a:r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Coordinates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A33965F-7C0D-C54A-94D0-F381CCC53FFF}"/>
              </a:ext>
            </a:extLst>
          </p:cNvPr>
          <p:cNvSpPr/>
          <p:nvPr/>
        </p:nvSpPr>
        <p:spPr>
          <a:xfrm rot="3600000">
            <a:off x="399797" y="2279716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C3E8093-CCF4-DE7A-093D-AC331265FC6A}"/>
              </a:ext>
            </a:extLst>
          </p:cNvPr>
          <p:cNvGrpSpPr/>
          <p:nvPr/>
        </p:nvGrpSpPr>
        <p:grpSpPr>
          <a:xfrm>
            <a:off x="496311" y="1790914"/>
            <a:ext cx="1147293" cy="322663"/>
            <a:chOff x="493547" y="1749680"/>
            <a:chExt cx="1430587" cy="40233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7AFFE68-223D-7868-854A-D8C5581B30AB}"/>
                </a:ext>
              </a:extLst>
            </p:cNvPr>
            <p:cNvSpPr/>
            <p:nvPr/>
          </p:nvSpPr>
          <p:spPr>
            <a:xfrm>
              <a:off x="493547" y="1749680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7D272E7-FF80-6FFA-BC63-857E16F469AC}"/>
                </a:ext>
              </a:extLst>
            </p:cNvPr>
            <p:cNvSpPr/>
            <p:nvPr/>
          </p:nvSpPr>
          <p:spPr>
            <a:xfrm>
              <a:off x="555886" y="1836274"/>
              <a:ext cx="285750" cy="228600"/>
            </a:xfrm>
            <a:custGeom>
              <a:avLst/>
              <a:gdLst>
                <a:gd name="connsiteX0" fmla="*/ 50800 w 285750"/>
                <a:gd name="connsiteY0" fmla="*/ 228600 h 228600"/>
                <a:gd name="connsiteX1" fmla="*/ 0 w 285750"/>
                <a:gd name="connsiteY1" fmla="*/ 63500 h 228600"/>
                <a:gd name="connsiteX2" fmla="*/ 114300 w 285750"/>
                <a:gd name="connsiteY2" fmla="*/ 0 h 228600"/>
                <a:gd name="connsiteX3" fmla="*/ 285750 w 285750"/>
                <a:gd name="connsiteY3" fmla="*/ 25400 h 228600"/>
                <a:gd name="connsiteX4" fmla="*/ 228600 w 285750"/>
                <a:gd name="connsiteY4" fmla="*/ 209550 h 228600"/>
                <a:gd name="connsiteX5" fmla="*/ 50800 w 285750"/>
                <a:gd name="connsiteY5" fmla="*/ 2286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50" h="228600">
                  <a:moveTo>
                    <a:pt x="50800" y="228600"/>
                  </a:moveTo>
                  <a:lnTo>
                    <a:pt x="0" y="63500"/>
                  </a:lnTo>
                  <a:lnTo>
                    <a:pt x="114300" y="0"/>
                  </a:lnTo>
                  <a:lnTo>
                    <a:pt x="285750" y="25400"/>
                  </a:lnTo>
                  <a:lnTo>
                    <a:pt x="228600" y="209550"/>
                  </a:lnTo>
                  <a:lnTo>
                    <a:pt x="50800" y="228600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FEEF7226-7958-238F-6128-17DDDA8542FE}"/>
                </a:ext>
              </a:extLst>
            </p:cNvPr>
            <p:cNvSpPr/>
            <p:nvPr/>
          </p:nvSpPr>
          <p:spPr>
            <a:xfrm>
              <a:off x="992998" y="1749680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D0200D-6565-FF18-B2CB-CA30461CFAEE}"/>
                </a:ext>
              </a:extLst>
            </p:cNvPr>
            <p:cNvSpPr/>
            <p:nvPr/>
          </p:nvSpPr>
          <p:spPr>
            <a:xfrm>
              <a:off x="1087087" y="1868024"/>
              <a:ext cx="243499" cy="1524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A3E9D41-F924-B699-6B17-02A35964B43E}"/>
                </a:ext>
              </a:extLst>
            </p:cNvPr>
            <p:cNvSpPr/>
            <p:nvPr/>
          </p:nvSpPr>
          <p:spPr>
            <a:xfrm>
              <a:off x="1503510" y="1749680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D480D3-A2A6-1242-5E30-19CF19794B74}"/>
                </a:ext>
              </a:extLst>
            </p:cNvPr>
            <p:cNvSpPr/>
            <p:nvPr/>
          </p:nvSpPr>
          <p:spPr>
            <a:xfrm>
              <a:off x="1584899" y="1827463"/>
              <a:ext cx="246221" cy="24622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945D461-9101-8F5B-3A60-8B7233E8B817}"/>
              </a:ext>
            </a:extLst>
          </p:cNvPr>
          <p:cNvSpPr txBox="1"/>
          <p:nvPr/>
        </p:nvSpPr>
        <p:spPr>
          <a:xfrm>
            <a:off x="407787" y="1483814"/>
            <a:ext cx="539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Draw </a:t>
            </a:r>
          </a:p>
        </p:txBody>
      </p:sp>
      <p:sp>
        <p:nvSpPr>
          <p:cNvPr id="142" name="Isosceles Triangle 141">
            <a:extLst>
              <a:ext uri="{FF2B5EF4-FFF2-40B4-BE49-F238E27FC236}">
                <a16:creationId xmlns:a16="http://schemas.microsoft.com/office/drawing/2014/main" id="{E2F14935-E18E-4D3A-1AC0-FA5C5B898A20}"/>
              </a:ext>
            </a:extLst>
          </p:cNvPr>
          <p:cNvSpPr/>
          <p:nvPr/>
        </p:nvSpPr>
        <p:spPr>
          <a:xfrm rot="14400000">
            <a:off x="2221676" y="1186793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0CD8C965-0613-71D3-DE1D-CAD41664EB06}"/>
              </a:ext>
            </a:extLst>
          </p:cNvPr>
          <p:cNvSpPr/>
          <p:nvPr/>
        </p:nvSpPr>
        <p:spPr>
          <a:xfrm>
            <a:off x="2236849" y="1306586"/>
            <a:ext cx="81768" cy="88106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Isosceles Triangle 143">
            <a:extLst>
              <a:ext uri="{FF2B5EF4-FFF2-40B4-BE49-F238E27FC236}">
                <a16:creationId xmlns:a16="http://schemas.microsoft.com/office/drawing/2014/main" id="{CA7CA9A8-10BC-9024-BD46-63327F896C33}"/>
              </a:ext>
            </a:extLst>
          </p:cNvPr>
          <p:cNvSpPr/>
          <p:nvPr/>
        </p:nvSpPr>
        <p:spPr>
          <a:xfrm rot="3600000">
            <a:off x="2247587" y="5015863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4E3DB65D-FFC4-B0EB-CF52-4191A62D3888}"/>
              </a:ext>
            </a:extLst>
          </p:cNvPr>
          <p:cNvCxnSpPr/>
          <p:nvPr/>
        </p:nvCxnSpPr>
        <p:spPr>
          <a:xfrm flipH="1">
            <a:off x="2285210" y="5200376"/>
            <a:ext cx="48536" cy="7302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C582693F-62B9-B9EE-D564-20AF69B28237}"/>
              </a:ext>
            </a:extLst>
          </p:cNvPr>
          <p:cNvCxnSpPr>
            <a:cxnSpLocks/>
          </p:cNvCxnSpPr>
          <p:nvPr/>
        </p:nvCxnSpPr>
        <p:spPr>
          <a:xfrm flipH="1">
            <a:off x="2308874" y="5221592"/>
            <a:ext cx="36546" cy="5498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Multiplication Sign 167">
            <a:extLst>
              <a:ext uri="{FF2B5EF4-FFF2-40B4-BE49-F238E27FC236}">
                <a16:creationId xmlns:a16="http://schemas.microsoft.com/office/drawing/2014/main" id="{D574A3E4-E36F-A8E2-9A56-0345A9F16D8F}"/>
              </a:ext>
            </a:extLst>
          </p:cNvPr>
          <p:cNvSpPr/>
          <p:nvPr/>
        </p:nvSpPr>
        <p:spPr>
          <a:xfrm rot="5400000">
            <a:off x="2209343" y="1037217"/>
            <a:ext cx="125941" cy="108570"/>
          </a:xfrm>
          <a:prstGeom prst="mathMultiply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F5FF753-5A54-DF47-AED1-4210AB470B6F}"/>
              </a:ext>
            </a:extLst>
          </p:cNvPr>
          <p:cNvGrpSpPr/>
          <p:nvPr/>
        </p:nvGrpSpPr>
        <p:grpSpPr>
          <a:xfrm>
            <a:off x="4126964" y="6146056"/>
            <a:ext cx="4413963" cy="480213"/>
            <a:chOff x="4162770" y="5831032"/>
            <a:chExt cx="5708218" cy="62102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0ADAEE93-4CF5-35C0-39DE-00E9C617681F}"/>
                </a:ext>
              </a:extLst>
            </p:cNvPr>
            <p:cNvSpPr/>
            <p:nvPr/>
          </p:nvSpPr>
          <p:spPr>
            <a:xfrm>
              <a:off x="4261197" y="5976331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AAA3A7E8-85C5-84F1-22C7-405CB2927022}"/>
                </a:ext>
              </a:extLst>
            </p:cNvPr>
            <p:cNvSpPr/>
            <p:nvPr/>
          </p:nvSpPr>
          <p:spPr>
            <a:xfrm>
              <a:off x="4760648" y="5976331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350FFF6E-EC2C-BBD9-B187-3800B081CCDA}"/>
                </a:ext>
              </a:extLst>
            </p:cNvPr>
            <p:cNvSpPr/>
            <p:nvPr/>
          </p:nvSpPr>
          <p:spPr>
            <a:xfrm>
              <a:off x="5271160" y="5976331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5" name="Graphic 74" descr="Clipboard outline">
              <a:extLst>
                <a:ext uri="{FF2B5EF4-FFF2-40B4-BE49-F238E27FC236}">
                  <a16:creationId xmlns:a16="http://schemas.microsoft.com/office/drawing/2014/main" id="{4357D62D-4371-A673-BB0E-16809CE4F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99195" y="5993863"/>
              <a:ext cx="343529" cy="343529"/>
            </a:xfrm>
            <a:prstGeom prst="rect">
              <a:avLst/>
            </a:prstGeom>
          </p:spPr>
        </p:pic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F339357-06B6-5B0F-4A0E-FA5B1CF0CE0B}"/>
                </a:ext>
              </a:extLst>
            </p:cNvPr>
            <p:cNvGrpSpPr/>
            <p:nvPr/>
          </p:nvGrpSpPr>
          <p:grpSpPr>
            <a:xfrm>
              <a:off x="4371223" y="6056575"/>
              <a:ext cx="218302" cy="234950"/>
              <a:chOff x="3270250" y="2033063"/>
              <a:chExt cx="218302" cy="234950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6BBCE89C-2F88-E2F4-BDB2-BD2DF53BECD6}"/>
                  </a:ext>
                </a:extLst>
              </p:cNvPr>
              <p:cNvSpPr/>
              <p:nvPr/>
            </p:nvSpPr>
            <p:spPr>
              <a:xfrm>
                <a:off x="3270250" y="2033063"/>
                <a:ext cx="165100" cy="1651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514CEAD0-4D1E-FD1C-1751-816C42A64F04}"/>
                  </a:ext>
                </a:extLst>
              </p:cNvPr>
              <p:cNvSpPr/>
              <p:nvPr/>
            </p:nvSpPr>
            <p:spPr>
              <a:xfrm>
                <a:off x="3323452" y="2102913"/>
                <a:ext cx="165100" cy="1651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9" name="Arrow: Quad 78">
              <a:extLst>
                <a:ext uri="{FF2B5EF4-FFF2-40B4-BE49-F238E27FC236}">
                  <a16:creationId xmlns:a16="http://schemas.microsoft.com/office/drawing/2014/main" id="{C9B3EC3B-AE46-A115-0932-11F8AADD19F6}"/>
                </a:ext>
              </a:extLst>
            </p:cNvPr>
            <p:cNvSpPr/>
            <p:nvPr/>
          </p:nvSpPr>
          <p:spPr>
            <a:xfrm>
              <a:off x="5339849" y="6035793"/>
              <a:ext cx="280817" cy="280817"/>
            </a:xfrm>
            <a:prstGeom prst="quadArrow">
              <a:avLst>
                <a:gd name="adj1" fmla="val 22500"/>
                <a:gd name="adj2" fmla="val 18882"/>
                <a:gd name="adj3" fmla="val 25691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C944988-9C98-5DB1-6C65-747FAD36F51E}"/>
                </a:ext>
              </a:extLst>
            </p:cNvPr>
            <p:cNvGrpSpPr/>
            <p:nvPr/>
          </p:nvGrpSpPr>
          <p:grpSpPr>
            <a:xfrm>
              <a:off x="5817011" y="5953746"/>
              <a:ext cx="420624" cy="402336"/>
              <a:chOff x="1885448" y="2507413"/>
              <a:chExt cx="420624" cy="402336"/>
            </a:xfrm>
          </p:grpSpPr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6800A797-1857-ED7B-B7CB-0810D03DB787}"/>
                  </a:ext>
                </a:extLst>
              </p:cNvPr>
              <p:cNvSpPr/>
              <p:nvPr/>
            </p:nvSpPr>
            <p:spPr>
              <a:xfrm>
                <a:off x="1885448" y="2507413"/>
                <a:ext cx="420624" cy="402336"/>
              </a:xfrm>
              <a:prstGeom prst="roundRect">
                <a:avLst/>
              </a:prstGeom>
              <a:no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DE98F97A-EE35-B22E-3573-243C799003AF}"/>
                  </a:ext>
                </a:extLst>
              </p:cNvPr>
              <p:cNvGrpSpPr/>
              <p:nvPr/>
            </p:nvGrpSpPr>
            <p:grpSpPr>
              <a:xfrm>
                <a:off x="1951691" y="2543758"/>
                <a:ext cx="288137" cy="312195"/>
                <a:chOff x="3571240" y="2316480"/>
                <a:chExt cx="328301" cy="355712"/>
              </a:xfrm>
            </p:grpSpPr>
            <p:sp>
              <p:nvSpPr>
                <p:cNvPr id="82" name="Arrow: Circular 81">
                  <a:extLst>
                    <a:ext uri="{FF2B5EF4-FFF2-40B4-BE49-F238E27FC236}">
                      <a16:creationId xmlns:a16="http://schemas.microsoft.com/office/drawing/2014/main" id="{E615F505-9EEB-249E-2662-BED42B1FF9E2}"/>
                    </a:ext>
                  </a:extLst>
                </p:cNvPr>
                <p:cNvSpPr/>
                <p:nvPr/>
              </p:nvSpPr>
              <p:spPr>
                <a:xfrm>
                  <a:off x="3571240" y="2316480"/>
                  <a:ext cx="328301" cy="328301"/>
                </a:xfrm>
                <a:prstGeom prst="circularArrow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Arrow: Circular 82">
                  <a:extLst>
                    <a:ext uri="{FF2B5EF4-FFF2-40B4-BE49-F238E27FC236}">
                      <a16:creationId xmlns:a16="http://schemas.microsoft.com/office/drawing/2014/main" id="{00512A52-6171-1B7E-36F1-8206473C5E8A}"/>
                    </a:ext>
                  </a:extLst>
                </p:cNvPr>
                <p:cNvSpPr/>
                <p:nvPr/>
              </p:nvSpPr>
              <p:spPr>
                <a:xfrm rot="10800000">
                  <a:off x="3571240" y="2343891"/>
                  <a:ext cx="328301" cy="328301"/>
                </a:xfrm>
                <a:prstGeom prst="circularArrow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BE858F1E-4218-6520-C9C3-8D34AA84F63A}"/>
                </a:ext>
              </a:extLst>
            </p:cNvPr>
            <p:cNvSpPr/>
            <p:nvPr/>
          </p:nvSpPr>
          <p:spPr>
            <a:xfrm>
              <a:off x="6313636" y="5953295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0897CDDB-1396-E4C5-2A27-E00B578A4D26}"/>
                </a:ext>
              </a:extLst>
            </p:cNvPr>
            <p:cNvSpPr/>
            <p:nvPr/>
          </p:nvSpPr>
          <p:spPr>
            <a:xfrm>
              <a:off x="6824148" y="5953295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1D8F6189-B572-9B34-2D6C-114A314241C7}"/>
                </a:ext>
              </a:extLst>
            </p:cNvPr>
            <p:cNvGrpSpPr/>
            <p:nvPr/>
          </p:nvGrpSpPr>
          <p:grpSpPr>
            <a:xfrm>
              <a:off x="8355826" y="5948290"/>
              <a:ext cx="420624" cy="402336"/>
              <a:chOff x="382161" y="3008846"/>
              <a:chExt cx="420624" cy="402336"/>
            </a:xfrm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3DDD1A5C-572D-A800-1B00-0A52BB4523AA}"/>
                  </a:ext>
                </a:extLst>
              </p:cNvPr>
              <p:cNvSpPr/>
              <p:nvPr/>
            </p:nvSpPr>
            <p:spPr>
              <a:xfrm>
                <a:off x="382161" y="3008846"/>
                <a:ext cx="420624" cy="402336"/>
              </a:xfrm>
              <a:prstGeom prst="roundRect">
                <a:avLst/>
              </a:prstGeom>
              <a:no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5" name="Graphic 104" descr="Garbage outline">
                <a:extLst>
                  <a:ext uri="{FF2B5EF4-FFF2-40B4-BE49-F238E27FC236}">
                    <a16:creationId xmlns:a16="http://schemas.microsoft.com/office/drawing/2014/main" id="{F22EB08E-325D-335B-3F43-2727378627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4141" y="3059843"/>
                <a:ext cx="326365" cy="326365"/>
              </a:xfrm>
              <a:prstGeom prst="rect">
                <a:avLst/>
              </a:prstGeom>
            </p:spPr>
          </p:pic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41E4E28-F819-2639-2A2C-D760B1DD4DB6}"/>
                </a:ext>
              </a:extLst>
            </p:cNvPr>
            <p:cNvSpPr/>
            <p:nvPr/>
          </p:nvSpPr>
          <p:spPr>
            <a:xfrm>
              <a:off x="6407725" y="6073619"/>
              <a:ext cx="243499" cy="1524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8997D901-C5D2-4427-5EEA-497A51CAFD70}"/>
                </a:ext>
              </a:extLst>
            </p:cNvPr>
            <p:cNvGrpSpPr/>
            <p:nvPr/>
          </p:nvGrpSpPr>
          <p:grpSpPr>
            <a:xfrm>
              <a:off x="6921601" y="6035793"/>
              <a:ext cx="218302" cy="234950"/>
              <a:chOff x="3270250" y="2033063"/>
              <a:chExt cx="218302" cy="234950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E111DFD8-6474-A139-B145-B7970BAB6D61}"/>
                  </a:ext>
                </a:extLst>
              </p:cNvPr>
              <p:cNvSpPr/>
              <p:nvPr/>
            </p:nvSpPr>
            <p:spPr>
              <a:xfrm>
                <a:off x="3270250" y="2033063"/>
                <a:ext cx="165100" cy="1651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587CECC0-43AC-9EF0-9781-EF9F14A63BBB}"/>
                  </a:ext>
                </a:extLst>
              </p:cNvPr>
              <p:cNvSpPr/>
              <p:nvPr/>
            </p:nvSpPr>
            <p:spPr>
              <a:xfrm>
                <a:off x="3323452" y="2102913"/>
                <a:ext cx="165100" cy="1651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FA8AA235-A981-7626-211E-04B79A8B16AF}"/>
                </a:ext>
              </a:extLst>
            </p:cNvPr>
            <p:cNvGrpSpPr/>
            <p:nvPr/>
          </p:nvGrpSpPr>
          <p:grpSpPr>
            <a:xfrm>
              <a:off x="7852257" y="5953295"/>
              <a:ext cx="420624" cy="402336"/>
              <a:chOff x="1885448" y="3008846"/>
              <a:chExt cx="420624" cy="402336"/>
            </a:xfrm>
          </p:grpSpPr>
          <p:sp>
            <p:nvSpPr>
              <p:cNvPr id="98" name="Rectangle: Rounded Corners 97">
                <a:extLst>
                  <a:ext uri="{FF2B5EF4-FFF2-40B4-BE49-F238E27FC236}">
                    <a16:creationId xmlns:a16="http://schemas.microsoft.com/office/drawing/2014/main" id="{1871F29D-E8E2-DA2C-AE16-8599F729A887}"/>
                  </a:ext>
                </a:extLst>
              </p:cNvPr>
              <p:cNvSpPr/>
              <p:nvPr/>
            </p:nvSpPr>
            <p:spPr>
              <a:xfrm>
                <a:off x="1885448" y="3008846"/>
                <a:ext cx="420624" cy="402336"/>
              </a:xfrm>
              <a:prstGeom prst="roundRect">
                <a:avLst/>
              </a:prstGeom>
              <a:no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422CE88C-A99F-4130-73E6-56F0E46728DD}"/>
                  </a:ext>
                </a:extLst>
              </p:cNvPr>
              <p:cNvGrpSpPr/>
              <p:nvPr/>
            </p:nvGrpSpPr>
            <p:grpSpPr>
              <a:xfrm>
                <a:off x="1959460" y="3071261"/>
                <a:ext cx="280368" cy="277507"/>
                <a:chOff x="4050332" y="2713759"/>
                <a:chExt cx="1504284" cy="1488936"/>
              </a:xfrm>
            </p:grpSpPr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DDFE91E-0303-94CC-E7A1-D835504FE25E}"/>
                    </a:ext>
                  </a:extLst>
                </p:cNvPr>
                <p:cNvSpPr/>
                <p:nvPr/>
              </p:nvSpPr>
              <p:spPr>
                <a:xfrm>
                  <a:off x="4050332" y="2713759"/>
                  <a:ext cx="500138" cy="50013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1CCE5542-F8C3-3E6B-D6CA-9B4D5903606A}"/>
                    </a:ext>
                  </a:extLst>
                </p:cNvPr>
                <p:cNvSpPr/>
                <p:nvPr/>
              </p:nvSpPr>
              <p:spPr>
                <a:xfrm>
                  <a:off x="4554340" y="2713759"/>
                  <a:ext cx="500138" cy="50013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D9DBCB7C-1A0C-1A5D-BDFE-3319BA549536}"/>
                    </a:ext>
                  </a:extLst>
                </p:cNvPr>
                <p:cNvSpPr/>
                <p:nvPr/>
              </p:nvSpPr>
              <p:spPr>
                <a:xfrm>
                  <a:off x="5054478" y="2713759"/>
                  <a:ext cx="500138" cy="50013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4A702964-2586-8593-A7BB-5DFE8CEEDD6B}"/>
                    </a:ext>
                  </a:extLst>
                </p:cNvPr>
                <p:cNvSpPr/>
                <p:nvPr/>
              </p:nvSpPr>
              <p:spPr>
                <a:xfrm>
                  <a:off x="4050332" y="3208158"/>
                  <a:ext cx="500138" cy="50013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EEAB2778-8F4D-1053-4BFD-8131E8F8BFD2}"/>
                    </a:ext>
                  </a:extLst>
                </p:cNvPr>
                <p:cNvSpPr/>
                <p:nvPr/>
              </p:nvSpPr>
              <p:spPr>
                <a:xfrm>
                  <a:off x="4554340" y="3208158"/>
                  <a:ext cx="500138" cy="50013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5F472A60-B075-388F-624C-C8FB6CCEE8A8}"/>
                    </a:ext>
                  </a:extLst>
                </p:cNvPr>
                <p:cNvSpPr/>
                <p:nvPr/>
              </p:nvSpPr>
              <p:spPr>
                <a:xfrm>
                  <a:off x="5054478" y="3208158"/>
                  <a:ext cx="500138" cy="50013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15B5F627-B36F-89B2-4B8F-DCD466F975B0}"/>
                    </a:ext>
                  </a:extLst>
                </p:cNvPr>
                <p:cNvSpPr/>
                <p:nvPr/>
              </p:nvSpPr>
              <p:spPr>
                <a:xfrm>
                  <a:off x="4050332" y="3702557"/>
                  <a:ext cx="500138" cy="50013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A81010CB-F0AF-E055-A9E0-B66652E25531}"/>
                    </a:ext>
                  </a:extLst>
                </p:cNvPr>
                <p:cNvSpPr/>
                <p:nvPr/>
              </p:nvSpPr>
              <p:spPr>
                <a:xfrm>
                  <a:off x="4554340" y="3702557"/>
                  <a:ext cx="500138" cy="50013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F10E7808-4ED0-3E66-5E97-042B55BB7102}"/>
                    </a:ext>
                  </a:extLst>
                </p:cNvPr>
                <p:cNvSpPr/>
                <p:nvPr/>
              </p:nvSpPr>
              <p:spPr>
                <a:xfrm>
                  <a:off x="5054478" y="3702557"/>
                  <a:ext cx="500138" cy="50013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D01F28B8-A82A-1A0B-4929-E24E42A4E28B}"/>
                </a:ext>
              </a:extLst>
            </p:cNvPr>
            <p:cNvSpPr/>
            <p:nvPr/>
          </p:nvSpPr>
          <p:spPr>
            <a:xfrm>
              <a:off x="7348689" y="5945275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3F434A5C-B465-449A-6DAD-8BCFA2131715}"/>
                </a:ext>
              </a:extLst>
            </p:cNvPr>
            <p:cNvGrpSpPr/>
            <p:nvPr/>
          </p:nvGrpSpPr>
          <p:grpSpPr>
            <a:xfrm>
              <a:off x="7455889" y="6047952"/>
              <a:ext cx="211082" cy="167540"/>
              <a:chOff x="4011883" y="1614693"/>
              <a:chExt cx="335093" cy="265970"/>
            </a:xfrm>
          </p:grpSpPr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733B60A6-A3D5-D383-89B3-F03F64BCA0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1883" y="1614693"/>
                <a:ext cx="325513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D852A4E6-A4AE-D301-C581-7A847A443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1883" y="1880663"/>
                <a:ext cx="335093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F332B1F0-DE45-D34E-4622-48D913978CD6}"/>
                  </a:ext>
                </a:extLst>
              </p:cNvPr>
              <p:cNvSpPr/>
              <p:nvPr/>
            </p:nvSpPr>
            <p:spPr>
              <a:xfrm>
                <a:off x="4104253" y="1677295"/>
                <a:ext cx="140769" cy="14076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79DF4213-3720-5A5F-D6D5-E36BE9ABF25C}"/>
                </a:ext>
              </a:extLst>
            </p:cNvPr>
            <p:cNvSpPr/>
            <p:nvPr/>
          </p:nvSpPr>
          <p:spPr>
            <a:xfrm>
              <a:off x="4162770" y="5845898"/>
              <a:ext cx="5708218" cy="606154"/>
            </a:xfrm>
            <a:prstGeom prst="roundRect">
              <a:avLst>
                <a:gd name="adj" fmla="val 14475"/>
              </a:avLst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Multiplication Sign 165">
              <a:extLst>
                <a:ext uri="{FF2B5EF4-FFF2-40B4-BE49-F238E27FC236}">
                  <a16:creationId xmlns:a16="http://schemas.microsoft.com/office/drawing/2014/main" id="{FED3E769-DBBA-9872-3324-5961642E1893}"/>
                </a:ext>
              </a:extLst>
            </p:cNvPr>
            <p:cNvSpPr/>
            <p:nvPr/>
          </p:nvSpPr>
          <p:spPr>
            <a:xfrm rot="5400000">
              <a:off x="9712784" y="5839718"/>
              <a:ext cx="125941" cy="108570"/>
            </a:xfrm>
            <a:prstGeom prst="mathMultiply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05B87D7B-5EC4-D2C2-C3AC-17A45207EC8A}"/>
                </a:ext>
              </a:extLst>
            </p:cNvPr>
            <p:cNvSpPr/>
            <p:nvPr/>
          </p:nvSpPr>
          <p:spPr>
            <a:xfrm>
              <a:off x="8856049" y="5964409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A9493837-9173-F91C-1BC7-FB8B59603611}"/>
                </a:ext>
              </a:extLst>
            </p:cNvPr>
            <p:cNvSpPr/>
            <p:nvPr/>
          </p:nvSpPr>
          <p:spPr>
            <a:xfrm>
              <a:off x="9356187" y="5964409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2" name="Graphic 171" descr="Back outline">
              <a:extLst>
                <a:ext uri="{FF2B5EF4-FFF2-40B4-BE49-F238E27FC236}">
                  <a16:creationId xmlns:a16="http://schemas.microsoft.com/office/drawing/2014/main" id="{278F0BB4-815D-8B3A-BE5B-CC71F7BC6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861611" y="5949537"/>
              <a:ext cx="398074" cy="398074"/>
            </a:xfrm>
            <a:prstGeom prst="rect">
              <a:avLst/>
            </a:prstGeom>
          </p:spPr>
        </p:pic>
        <p:pic>
          <p:nvPicPr>
            <p:cNvPr id="174" name="Graphic 173" descr="Back outline">
              <a:extLst>
                <a:ext uri="{FF2B5EF4-FFF2-40B4-BE49-F238E27FC236}">
                  <a16:creationId xmlns:a16="http://schemas.microsoft.com/office/drawing/2014/main" id="{02F62546-1D13-1E2A-54D3-A651785B8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377681" y="5949537"/>
              <a:ext cx="398074" cy="398074"/>
            </a:xfrm>
            <a:prstGeom prst="rect">
              <a:avLst/>
            </a:prstGeom>
          </p:spPr>
        </p:pic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C1449D55-081A-5CE9-AF96-E9F48657A10C}"/>
              </a:ext>
            </a:extLst>
          </p:cNvPr>
          <p:cNvGrpSpPr/>
          <p:nvPr/>
        </p:nvGrpSpPr>
        <p:grpSpPr>
          <a:xfrm>
            <a:off x="910970" y="213973"/>
            <a:ext cx="420624" cy="402336"/>
            <a:chOff x="1435157" y="264773"/>
            <a:chExt cx="420624" cy="402336"/>
          </a:xfrm>
        </p:grpSpPr>
        <p:sp>
          <p:nvSpPr>
            <p:cNvPr id="176" name="Rectangle: Rounded Corners 175">
              <a:extLst>
                <a:ext uri="{FF2B5EF4-FFF2-40B4-BE49-F238E27FC236}">
                  <a16:creationId xmlns:a16="http://schemas.microsoft.com/office/drawing/2014/main" id="{204DCEB5-9905-D857-5783-6B92FFFDE4DD}"/>
                </a:ext>
              </a:extLst>
            </p:cNvPr>
            <p:cNvSpPr/>
            <p:nvPr/>
          </p:nvSpPr>
          <p:spPr>
            <a:xfrm>
              <a:off x="1435157" y="264773"/>
              <a:ext cx="420624" cy="40233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7" name="Graphic 176" descr="Blueprint outline">
              <a:extLst>
                <a:ext uri="{FF2B5EF4-FFF2-40B4-BE49-F238E27FC236}">
                  <a16:creationId xmlns:a16="http://schemas.microsoft.com/office/drawing/2014/main" id="{3B4A4482-BE43-7F6E-F2BA-8EF8D48F6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60814" y="277324"/>
              <a:ext cx="381000" cy="381000"/>
            </a:xfrm>
            <a:prstGeom prst="rect">
              <a:avLst/>
            </a:prstGeom>
          </p:spPr>
        </p:pic>
      </p:grp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1278363C-428D-A342-4415-FD0138E7166E}"/>
              </a:ext>
            </a:extLst>
          </p:cNvPr>
          <p:cNvSpPr/>
          <p:nvPr/>
        </p:nvSpPr>
        <p:spPr>
          <a:xfrm>
            <a:off x="1498709" y="293060"/>
            <a:ext cx="316600" cy="244162"/>
          </a:xfrm>
          <a:custGeom>
            <a:avLst/>
            <a:gdLst>
              <a:gd name="connsiteX0" fmla="*/ 737225 w 737225"/>
              <a:gd name="connsiteY0" fmla="*/ 444722 h 568547"/>
              <a:gd name="connsiteX1" fmla="*/ 737225 w 737225"/>
              <a:gd name="connsiteY1" fmla="*/ 356587 h 568547"/>
              <a:gd name="connsiteX2" fmla="*/ 576758 w 737225"/>
              <a:gd name="connsiteY2" fmla="*/ 0 h 568547"/>
              <a:gd name="connsiteX3" fmla="*/ 160515 w 737225"/>
              <a:gd name="connsiteY3" fmla="*/ 0 h 568547"/>
              <a:gd name="connsiteX4" fmla="*/ 0 w 737225"/>
              <a:gd name="connsiteY4" fmla="*/ 356587 h 568547"/>
              <a:gd name="connsiteX5" fmla="*/ 0 w 737225"/>
              <a:gd name="connsiteY5" fmla="*/ 444722 h 568547"/>
              <a:gd name="connsiteX6" fmla="*/ 359093 w 737225"/>
              <a:gd name="connsiteY6" fmla="*/ 444722 h 568547"/>
              <a:gd name="connsiteX7" fmla="*/ 359093 w 737225"/>
              <a:gd name="connsiteY7" fmla="*/ 549497 h 568547"/>
              <a:gd name="connsiteX8" fmla="*/ 238944 w 737225"/>
              <a:gd name="connsiteY8" fmla="*/ 549497 h 568547"/>
              <a:gd name="connsiteX9" fmla="*/ 238944 w 737225"/>
              <a:gd name="connsiteY9" fmla="*/ 568547 h 568547"/>
              <a:gd name="connsiteX10" fmla="*/ 498281 w 737225"/>
              <a:gd name="connsiteY10" fmla="*/ 568547 h 568547"/>
              <a:gd name="connsiteX11" fmla="*/ 498281 w 737225"/>
              <a:gd name="connsiteY11" fmla="*/ 549497 h 568547"/>
              <a:gd name="connsiteX12" fmla="*/ 378143 w 737225"/>
              <a:gd name="connsiteY12" fmla="*/ 549497 h 568547"/>
              <a:gd name="connsiteX13" fmla="*/ 378143 w 737225"/>
              <a:gd name="connsiteY13" fmla="*/ 444722 h 568547"/>
              <a:gd name="connsiteX14" fmla="*/ 446713 w 737225"/>
              <a:gd name="connsiteY14" fmla="*/ 118786 h 568547"/>
              <a:gd name="connsiteX15" fmla="*/ 460867 w 737225"/>
              <a:gd name="connsiteY15" fmla="*/ 229457 h 568547"/>
              <a:gd name="connsiteX16" fmla="*/ 276368 w 737225"/>
              <a:gd name="connsiteY16" fmla="*/ 229457 h 568547"/>
              <a:gd name="connsiteX17" fmla="*/ 290551 w 737225"/>
              <a:gd name="connsiteY17" fmla="*/ 118786 h 568547"/>
              <a:gd name="connsiteX18" fmla="*/ 293018 w 737225"/>
              <a:gd name="connsiteY18" fmla="*/ 99736 h 568547"/>
              <a:gd name="connsiteX19" fmla="*/ 303362 w 737225"/>
              <a:gd name="connsiteY19" fmla="*/ 19050 h 568547"/>
              <a:gd name="connsiteX20" fmla="*/ 433892 w 737225"/>
              <a:gd name="connsiteY20" fmla="*/ 19050 h 568547"/>
              <a:gd name="connsiteX21" fmla="*/ 444236 w 737225"/>
              <a:gd name="connsiteY21" fmla="*/ 99736 h 568547"/>
              <a:gd name="connsiteX22" fmla="*/ 659111 w 737225"/>
              <a:gd name="connsiteY22" fmla="*/ 229457 h 568547"/>
              <a:gd name="connsiteX23" fmla="*/ 480041 w 737225"/>
              <a:gd name="connsiteY23" fmla="*/ 229457 h 568547"/>
              <a:gd name="connsiteX24" fmla="*/ 465887 w 737225"/>
              <a:gd name="connsiteY24" fmla="*/ 118786 h 568547"/>
              <a:gd name="connsiteX25" fmla="*/ 609324 w 737225"/>
              <a:gd name="connsiteY25" fmla="*/ 118786 h 568547"/>
              <a:gd name="connsiteX26" fmla="*/ 257156 w 737225"/>
              <a:gd name="connsiteY26" fmla="*/ 229457 h 568547"/>
              <a:gd name="connsiteX27" fmla="*/ 78086 w 737225"/>
              <a:gd name="connsiteY27" fmla="*/ 229457 h 568547"/>
              <a:gd name="connsiteX28" fmla="*/ 127873 w 737225"/>
              <a:gd name="connsiteY28" fmla="*/ 118824 h 568547"/>
              <a:gd name="connsiteX29" fmla="*/ 271348 w 737225"/>
              <a:gd name="connsiteY29" fmla="*/ 118824 h 568547"/>
              <a:gd name="connsiteX30" fmla="*/ 254708 w 737225"/>
              <a:gd name="connsiteY30" fmla="*/ 248507 h 568547"/>
              <a:gd name="connsiteX31" fmla="*/ 241811 w 737225"/>
              <a:gd name="connsiteY31" fmla="*/ 349110 h 568547"/>
              <a:gd name="connsiteX32" fmla="*/ 24260 w 737225"/>
              <a:gd name="connsiteY32" fmla="*/ 349110 h 568547"/>
              <a:gd name="connsiteX33" fmla="*/ 69552 w 737225"/>
              <a:gd name="connsiteY33" fmla="*/ 248507 h 568547"/>
              <a:gd name="connsiteX34" fmla="*/ 273910 w 737225"/>
              <a:gd name="connsiteY34" fmla="*/ 248507 h 568547"/>
              <a:gd name="connsiteX35" fmla="*/ 463306 w 737225"/>
              <a:gd name="connsiteY35" fmla="*/ 248507 h 568547"/>
              <a:gd name="connsiteX36" fmla="*/ 476212 w 737225"/>
              <a:gd name="connsiteY36" fmla="*/ 349148 h 568547"/>
              <a:gd name="connsiteX37" fmla="*/ 261014 w 737225"/>
              <a:gd name="connsiteY37" fmla="*/ 349148 h 568547"/>
              <a:gd name="connsiteX38" fmla="*/ 495414 w 737225"/>
              <a:gd name="connsiteY38" fmla="*/ 349110 h 568547"/>
              <a:gd name="connsiteX39" fmla="*/ 482508 w 737225"/>
              <a:gd name="connsiteY39" fmla="*/ 248507 h 568547"/>
              <a:gd name="connsiteX40" fmla="*/ 667684 w 737225"/>
              <a:gd name="connsiteY40" fmla="*/ 248507 h 568547"/>
              <a:gd name="connsiteX41" fmla="*/ 712975 w 737225"/>
              <a:gd name="connsiteY41" fmla="*/ 349148 h 568547"/>
              <a:gd name="connsiteX42" fmla="*/ 600751 w 737225"/>
              <a:gd name="connsiteY42" fmla="*/ 99736 h 568547"/>
              <a:gd name="connsiteX43" fmla="*/ 463439 w 737225"/>
              <a:gd name="connsiteY43" fmla="*/ 99736 h 568547"/>
              <a:gd name="connsiteX44" fmla="*/ 453095 w 737225"/>
              <a:gd name="connsiteY44" fmla="*/ 19050 h 568547"/>
              <a:gd name="connsiteX45" fmla="*/ 564442 w 737225"/>
              <a:gd name="connsiteY45" fmla="*/ 19050 h 568547"/>
              <a:gd name="connsiteX46" fmla="*/ 172793 w 737225"/>
              <a:gd name="connsiteY46" fmla="*/ 19050 h 568547"/>
              <a:gd name="connsiteX47" fmla="*/ 284131 w 737225"/>
              <a:gd name="connsiteY47" fmla="*/ 19050 h 568547"/>
              <a:gd name="connsiteX48" fmla="*/ 273787 w 737225"/>
              <a:gd name="connsiteY48" fmla="*/ 99736 h 568547"/>
              <a:gd name="connsiteX49" fmla="*/ 136484 w 737225"/>
              <a:gd name="connsiteY49" fmla="*/ 99736 h 568547"/>
              <a:gd name="connsiteX50" fmla="*/ 19050 w 737225"/>
              <a:gd name="connsiteY50" fmla="*/ 368160 h 568547"/>
              <a:gd name="connsiteX51" fmla="*/ 718185 w 737225"/>
              <a:gd name="connsiteY51" fmla="*/ 368160 h 568547"/>
              <a:gd name="connsiteX52" fmla="*/ 718185 w 737225"/>
              <a:gd name="connsiteY52" fmla="*/ 425672 h 568547"/>
              <a:gd name="connsiteX53" fmla="*/ 19050 w 737225"/>
              <a:gd name="connsiteY53" fmla="*/ 425672 h 568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37225" h="568547">
                <a:moveTo>
                  <a:pt x="737225" y="444722"/>
                </a:moveTo>
                <a:lnTo>
                  <a:pt x="737225" y="356587"/>
                </a:lnTo>
                <a:lnTo>
                  <a:pt x="576758" y="0"/>
                </a:lnTo>
                <a:lnTo>
                  <a:pt x="160515" y="0"/>
                </a:lnTo>
                <a:lnTo>
                  <a:pt x="0" y="356587"/>
                </a:lnTo>
                <a:lnTo>
                  <a:pt x="0" y="444722"/>
                </a:lnTo>
                <a:lnTo>
                  <a:pt x="359093" y="444722"/>
                </a:lnTo>
                <a:lnTo>
                  <a:pt x="359093" y="549497"/>
                </a:lnTo>
                <a:lnTo>
                  <a:pt x="238944" y="549497"/>
                </a:lnTo>
                <a:lnTo>
                  <a:pt x="238944" y="568547"/>
                </a:lnTo>
                <a:lnTo>
                  <a:pt x="498281" y="568547"/>
                </a:lnTo>
                <a:lnTo>
                  <a:pt x="498281" y="549497"/>
                </a:lnTo>
                <a:lnTo>
                  <a:pt x="378143" y="549497"/>
                </a:lnTo>
                <a:lnTo>
                  <a:pt x="378143" y="444722"/>
                </a:lnTo>
                <a:close/>
                <a:moveTo>
                  <a:pt x="446713" y="118786"/>
                </a:moveTo>
                <a:lnTo>
                  <a:pt x="460867" y="229457"/>
                </a:lnTo>
                <a:lnTo>
                  <a:pt x="276368" y="229457"/>
                </a:lnTo>
                <a:lnTo>
                  <a:pt x="290551" y="118786"/>
                </a:lnTo>
                <a:close/>
                <a:moveTo>
                  <a:pt x="293018" y="99736"/>
                </a:moveTo>
                <a:lnTo>
                  <a:pt x="303362" y="19050"/>
                </a:lnTo>
                <a:lnTo>
                  <a:pt x="433892" y="19050"/>
                </a:lnTo>
                <a:lnTo>
                  <a:pt x="444236" y="99736"/>
                </a:lnTo>
                <a:close/>
                <a:moveTo>
                  <a:pt x="659111" y="229457"/>
                </a:moveTo>
                <a:lnTo>
                  <a:pt x="480041" y="229457"/>
                </a:lnTo>
                <a:lnTo>
                  <a:pt x="465887" y="118786"/>
                </a:lnTo>
                <a:lnTo>
                  <a:pt x="609324" y="118786"/>
                </a:lnTo>
                <a:close/>
                <a:moveTo>
                  <a:pt x="257156" y="229457"/>
                </a:moveTo>
                <a:lnTo>
                  <a:pt x="78086" y="229457"/>
                </a:lnTo>
                <a:lnTo>
                  <a:pt x="127873" y="118824"/>
                </a:lnTo>
                <a:lnTo>
                  <a:pt x="271348" y="118824"/>
                </a:lnTo>
                <a:close/>
                <a:moveTo>
                  <a:pt x="254708" y="248507"/>
                </a:moveTo>
                <a:lnTo>
                  <a:pt x="241811" y="349110"/>
                </a:lnTo>
                <a:lnTo>
                  <a:pt x="24260" y="349110"/>
                </a:lnTo>
                <a:lnTo>
                  <a:pt x="69552" y="248507"/>
                </a:lnTo>
                <a:close/>
                <a:moveTo>
                  <a:pt x="273910" y="248507"/>
                </a:moveTo>
                <a:lnTo>
                  <a:pt x="463306" y="248507"/>
                </a:lnTo>
                <a:lnTo>
                  <a:pt x="476212" y="349148"/>
                </a:lnTo>
                <a:lnTo>
                  <a:pt x="261014" y="349148"/>
                </a:lnTo>
                <a:close/>
                <a:moveTo>
                  <a:pt x="495414" y="349110"/>
                </a:moveTo>
                <a:lnTo>
                  <a:pt x="482508" y="248507"/>
                </a:lnTo>
                <a:lnTo>
                  <a:pt x="667684" y="248507"/>
                </a:lnTo>
                <a:lnTo>
                  <a:pt x="712975" y="349148"/>
                </a:lnTo>
                <a:close/>
                <a:moveTo>
                  <a:pt x="600751" y="99736"/>
                </a:moveTo>
                <a:lnTo>
                  <a:pt x="463439" y="99736"/>
                </a:lnTo>
                <a:lnTo>
                  <a:pt x="453095" y="19050"/>
                </a:lnTo>
                <a:lnTo>
                  <a:pt x="564442" y="19050"/>
                </a:lnTo>
                <a:close/>
                <a:moveTo>
                  <a:pt x="172793" y="19050"/>
                </a:moveTo>
                <a:lnTo>
                  <a:pt x="284131" y="19050"/>
                </a:lnTo>
                <a:lnTo>
                  <a:pt x="273787" y="99736"/>
                </a:lnTo>
                <a:lnTo>
                  <a:pt x="136484" y="99736"/>
                </a:lnTo>
                <a:close/>
                <a:moveTo>
                  <a:pt x="19050" y="368160"/>
                </a:moveTo>
                <a:lnTo>
                  <a:pt x="718185" y="368160"/>
                </a:lnTo>
                <a:lnTo>
                  <a:pt x="718185" y="425672"/>
                </a:lnTo>
                <a:lnTo>
                  <a:pt x="19050" y="42567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 descr="Solar Panel Icon 24x24">
            <a:extLst>
              <a:ext uri="{FF2B5EF4-FFF2-40B4-BE49-F238E27FC236}">
                <a16:creationId xmlns:a16="http://schemas.microsoft.com/office/drawing/2014/main" id="{23213EEC-90DE-7DA0-9617-81B424C6A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12" y="248876"/>
            <a:ext cx="326755" cy="32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E1187FBD-08A6-5F4A-B785-6A568E5E5BC2}"/>
              </a:ext>
            </a:extLst>
          </p:cNvPr>
          <p:cNvCxnSpPr>
            <a:cxnSpLocks/>
          </p:cNvCxnSpPr>
          <p:nvPr/>
        </p:nvCxnSpPr>
        <p:spPr>
          <a:xfrm>
            <a:off x="352630" y="1217528"/>
            <a:ext cx="17611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27" name="Table 1026">
            <a:extLst>
              <a:ext uri="{FF2B5EF4-FFF2-40B4-BE49-F238E27FC236}">
                <a16:creationId xmlns:a16="http://schemas.microsoft.com/office/drawing/2014/main" id="{79A21185-AC33-200C-46F5-8D38E63B8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168003"/>
              </p:ext>
            </p:extLst>
          </p:nvPr>
        </p:nvGraphicFramePr>
        <p:xfrm>
          <a:off x="473694" y="2481314"/>
          <a:ext cx="1230548" cy="79248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1230548">
                  <a:extLst>
                    <a:ext uri="{9D8B030D-6E8A-4147-A177-3AD203B41FA5}">
                      <a16:colId xmlns:a16="http://schemas.microsoft.com/office/drawing/2014/main" val="8132373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Latitude; longitude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906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888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168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888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554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2929759"/>
                  </a:ext>
                </a:extLst>
              </a:tr>
            </a:tbl>
          </a:graphicData>
        </a:graphic>
      </p:graphicFrame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69799F44-F6D8-62D4-CDDB-4B1CE320956B}"/>
              </a:ext>
            </a:extLst>
          </p:cNvPr>
          <p:cNvSpPr/>
          <p:nvPr/>
        </p:nvSpPr>
        <p:spPr>
          <a:xfrm>
            <a:off x="473473" y="3389694"/>
            <a:ext cx="804038" cy="1640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Draw PV Area</a:t>
            </a:r>
          </a:p>
        </p:txBody>
      </p:sp>
      <p:sp>
        <p:nvSpPr>
          <p:cNvPr id="1038" name="Isosceles Triangle 1037">
            <a:extLst>
              <a:ext uri="{FF2B5EF4-FFF2-40B4-BE49-F238E27FC236}">
                <a16:creationId xmlns:a16="http://schemas.microsoft.com/office/drawing/2014/main" id="{521505B3-4C8D-CDB1-88DF-D0EB8D5440F0}"/>
              </a:ext>
            </a:extLst>
          </p:cNvPr>
          <p:cNvSpPr/>
          <p:nvPr/>
        </p:nvSpPr>
        <p:spPr>
          <a:xfrm rot="14400000">
            <a:off x="1746593" y="2489237"/>
            <a:ext cx="61921" cy="5338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8D0993B7-7A4A-BF26-7094-116AC5913F93}"/>
              </a:ext>
            </a:extLst>
          </p:cNvPr>
          <p:cNvSpPr/>
          <p:nvPr/>
        </p:nvSpPr>
        <p:spPr>
          <a:xfrm>
            <a:off x="1761182" y="2581621"/>
            <a:ext cx="54967" cy="26022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Isosceles Triangle 1039">
            <a:extLst>
              <a:ext uri="{FF2B5EF4-FFF2-40B4-BE49-F238E27FC236}">
                <a16:creationId xmlns:a16="http://schemas.microsoft.com/office/drawing/2014/main" id="{3E9D4B63-55AD-CD8C-2014-5F994812D037}"/>
              </a:ext>
            </a:extLst>
          </p:cNvPr>
          <p:cNvSpPr/>
          <p:nvPr/>
        </p:nvSpPr>
        <p:spPr>
          <a:xfrm rot="3600000">
            <a:off x="1749697" y="3210250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1C69784-FD9A-E007-0E95-12B7C71C9E1D}"/>
              </a:ext>
            </a:extLst>
          </p:cNvPr>
          <p:cNvGrpSpPr/>
          <p:nvPr/>
        </p:nvGrpSpPr>
        <p:grpSpPr>
          <a:xfrm>
            <a:off x="404485" y="1222142"/>
            <a:ext cx="1733567" cy="261610"/>
            <a:chOff x="353485" y="1251428"/>
            <a:chExt cx="1733567" cy="2616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4BE6D1-DCF1-C525-B922-30ED31011EB8}"/>
                </a:ext>
              </a:extLst>
            </p:cNvPr>
            <p:cNvSpPr txBox="1"/>
            <p:nvPr/>
          </p:nvSpPr>
          <p:spPr>
            <a:xfrm>
              <a:off x="359380" y="1251428"/>
              <a:ext cx="17276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Manual Draw</a:t>
              </a:r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8679B2ED-61F9-3E5C-FB29-E26073B8D20B}"/>
                </a:ext>
              </a:extLst>
            </p:cNvPr>
            <p:cNvSpPr/>
            <p:nvPr/>
          </p:nvSpPr>
          <p:spPr>
            <a:xfrm rot="3600000">
              <a:off x="347478" y="1330159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A49A06-AA9D-C7E4-D246-3533B449DB08}"/>
              </a:ext>
            </a:extLst>
          </p:cNvPr>
          <p:cNvGrpSpPr/>
          <p:nvPr/>
        </p:nvGrpSpPr>
        <p:grpSpPr>
          <a:xfrm>
            <a:off x="387740" y="3639147"/>
            <a:ext cx="1733567" cy="261610"/>
            <a:chOff x="353485" y="1251428"/>
            <a:chExt cx="1733567" cy="26161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BCC33BA-11CA-409A-E212-2AB247FB23E9}"/>
                </a:ext>
              </a:extLst>
            </p:cNvPr>
            <p:cNvSpPr txBox="1"/>
            <p:nvPr/>
          </p:nvSpPr>
          <p:spPr>
            <a:xfrm>
              <a:off x="359380" y="1251428"/>
              <a:ext cx="17276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Setbacks</a:t>
              </a: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2A1D5F81-9490-069C-5EF5-8B45E9DADA51}"/>
                </a:ext>
              </a:extLst>
            </p:cNvPr>
            <p:cNvSpPr/>
            <p:nvPr/>
          </p:nvSpPr>
          <p:spPr>
            <a:xfrm rot="3600000">
              <a:off x="347478" y="1330159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6ADFBD6-C769-6EAC-8D04-0CD8DE9C691A}"/>
              </a:ext>
            </a:extLst>
          </p:cNvPr>
          <p:cNvSpPr txBox="1"/>
          <p:nvPr/>
        </p:nvSpPr>
        <p:spPr>
          <a:xfrm>
            <a:off x="298286" y="3892020"/>
            <a:ext cx="12976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Area Setbacks (m)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81B2E2B-54C3-7C85-E2C4-A28381481E0C}"/>
              </a:ext>
            </a:extLst>
          </p:cNvPr>
          <p:cNvSpPr/>
          <p:nvPr/>
        </p:nvSpPr>
        <p:spPr>
          <a:xfrm>
            <a:off x="1495718" y="3916609"/>
            <a:ext cx="741131" cy="1970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C91B35-4635-D279-CB2E-CE5B264CD660}"/>
              </a:ext>
            </a:extLst>
          </p:cNvPr>
          <p:cNvSpPr txBox="1"/>
          <p:nvPr/>
        </p:nvSpPr>
        <p:spPr>
          <a:xfrm>
            <a:off x="298286" y="4128859"/>
            <a:ext cx="12976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Object </a:t>
            </a:r>
            <a:r>
              <a:rPr lang="en-US" sz="1000" dirty="0">
                <a:solidFill>
                  <a:schemeClr val="tx2">
                    <a:lumMod val="50000"/>
                    <a:lumOff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N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 (m)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697E0F0-B5F5-6846-A448-26046E817942}"/>
              </a:ext>
            </a:extLst>
          </p:cNvPr>
          <p:cNvGrpSpPr/>
          <p:nvPr/>
        </p:nvGrpSpPr>
        <p:grpSpPr>
          <a:xfrm>
            <a:off x="1704242" y="1788143"/>
            <a:ext cx="337329" cy="322663"/>
            <a:chOff x="1724681" y="1796311"/>
            <a:chExt cx="337329" cy="322663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D8D8E3F6-218B-A441-BE0A-45C524D5ACA7}"/>
                </a:ext>
              </a:extLst>
            </p:cNvPr>
            <p:cNvSpPr/>
            <p:nvPr/>
          </p:nvSpPr>
          <p:spPr>
            <a:xfrm>
              <a:off x="1724681" y="1796311"/>
              <a:ext cx="337329" cy="322663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A06CE88-6C1F-8A85-C545-FC87B7909222}"/>
                </a:ext>
              </a:extLst>
            </p:cNvPr>
            <p:cNvSpPr/>
            <p:nvPr/>
          </p:nvSpPr>
          <p:spPr>
            <a:xfrm>
              <a:off x="1796980" y="1869195"/>
              <a:ext cx="193040" cy="167640"/>
            </a:xfrm>
            <a:custGeom>
              <a:avLst/>
              <a:gdLst>
                <a:gd name="connsiteX0" fmla="*/ 0 w 193040"/>
                <a:gd name="connsiteY0" fmla="*/ 167640 h 167640"/>
                <a:gd name="connsiteX1" fmla="*/ 76200 w 193040"/>
                <a:gd name="connsiteY1" fmla="*/ 60960 h 167640"/>
                <a:gd name="connsiteX2" fmla="*/ 193040 w 193040"/>
                <a:gd name="connsiteY2" fmla="*/ 5080 h 167640"/>
                <a:gd name="connsiteX3" fmla="*/ 193040 w 193040"/>
                <a:gd name="connsiteY3" fmla="*/ 5080 h 167640"/>
                <a:gd name="connsiteX4" fmla="*/ 193040 w 193040"/>
                <a:gd name="connsiteY4" fmla="*/ 0 h 167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040" h="167640">
                  <a:moveTo>
                    <a:pt x="0" y="167640"/>
                  </a:moveTo>
                  <a:cubicBezTo>
                    <a:pt x="22013" y="127846"/>
                    <a:pt x="44027" y="88053"/>
                    <a:pt x="76200" y="60960"/>
                  </a:cubicBezTo>
                  <a:cubicBezTo>
                    <a:pt x="108373" y="33867"/>
                    <a:pt x="193040" y="5080"/>
                    <a:pt x="193040" y="5080"/>
                  </a:cubicBezTo>
                  <a:lnTo>
                    <a:pt x="193040" y="5080"/>
                  </a:lnTo>
                  <a:lnTo>
                    <a:pt x="193040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9F73A4B-52FE-A6A7-5A4D-89063EC8BACC}"/>
                </a:ext>
              </a:extLst>
            </p:cNvPr>
            <p:cNvSpPr/>
            <p:nvPr/>
          </p:nvSpPr>
          <p:spPr>
            <a:xfrm flipH="1" flipV="1">
              <a:off x="1970393" y="1853987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E9BBFBC-358F-648B-7E38-C4918286DF55}"/>
                </a:ext>
              </a:extLst>
            </p:cNvPr>
            <p:cNvSpPr/>
            <p:nvPr/>
          </p:nvSpPr>
          <p:spPr>
            <a:xfrm flipH="1" flipV="1">
              <a:off x="1852416" y="1905001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9D394F1-CC1C-C619-C33B-79321C7BB7DA}"/>
                </a:ext>
              </a:extLst>
            </p:cNvPr>
            <p:cNvSpPr/>
            <p:nvPr/>
          </p:nvSpPr>
          <p:spPr>
            <a:xfrm flipH="1" flipV="1">
              <a:off x="1777553" y="2008082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79A32352-1113-A23B-C666-0D8D5DB8596E}"/>
              </a:ext>
            </a:extLst>
          </p:cNvPr>
          <p:cNvSpPr/>
          <p:nvPr/>
        </p:nvSpPr>
        <p:spPr>
          <a:xfrm>
            <a:off x="1495718" y="4154803"/>
            <a:ext cx="741131" cy="1970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14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AF654-C7F3-5AFF-9A8A-2317ADB11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2327FC11-69F3-C058-7F5F-0C3850CE5BB1}"/>
              </a:ext>
            </a:extLst>
          </p:cNvPr>
          <p:cNvGrpSpPr/>
          <p:nvPr/>
        </p:nvGrpSpPr>
        <p:grpSpPr>
          <a:xfrm>
            <a:off x="3099482" y="207072"/>
            <a:ext cx="420624" cy="402336"/>
            <a:chOff x="524955" y="969178"/>
            <a:chExt cx="420624" cy="40233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08976E57-9A06-0248-323E-657570DF88B8}"/>
                </a:ext>
              </a:extLst>
            </p:cNvPr>
            <p:cNvSpPr/>
            <p:nvPr/>
          </p:nvSpPr>
          <p:spPr>
            <a:xfrm>
              <a:off x="524955" y="969178"/>
              <a:ext cx="420624" cy="40233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Graphic 58" descr="Pencil outline">
              <a:extLst>
                <a:ext uri="{FF2B5EF4-FFF2-40B4-BE49-F238E27FC236}">
                  <a16:creationId xmlns:a16="http://schemas.microsoft.com/office/drawing/2014/main" id="{33A1B232-8704-4EA6-BC5A-B1783568F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222" y="997097"/>
              <a:ext cx="364067" cy="364067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EEBC9E-BD6B-4307-303E-42A922229440}"/>
              </a:ext>
            </a:extLst>
          </p:cNvPr>
          <p:cNvSpPr/>
          <p:nvPr/>
        </p:nvSpPr>
        <p:spPr>
          <a:xfrm rot="5400000">
            <a:off x="2446552" y="-2010369"/>
            <a:ext cx="539203" cy="485314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D3F8CCF-E7B9-4FE1-6D1B-9EB724AF0985}"/>
              </a:ext>
            </a:extLst>
          </p:cNvPr>
          <p:cNvGrpSpPr/>
          <p:nvPr/>
        </p:nvGrpSpPr>
        <p:grpSpPr>
          <a:xfrm>
            <a:off x="391026" y="213973"/>
            <a:ext cx="420624" cy="402336"/>
            <a:chOff x="525780" y="493776"/>
            <a:chExt cx="420624" cy="40233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16CBC51-92C3-560C-12AB-0EF11F06421A}"/>
                </a:ext>
              </a:extLst>
            </p:cNvPr>
            <p:cNvSpPr/>
            <p:nvPr/>
          </p:nvSpPr>
          <p:spPr>
            <a:xfrm>
              <a:off x="525780" y="493776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 descr="Magnifying glass outline">
              <a:extLst>
                <a:ext uri="{FF2B5EF4-FFF2-40B4-BE49-F238E27FC236}">
                  <a16:creationId xmlns:a16="http://schemas.microsoft.com/office/drawing/2014/main" id="{9D43D025-387E-5B66-F23C-799AE8F01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8895" y="517747"/>
              <a:ext cx="354394" cy="354394"/>
            </a:xfrm>
            <a:prstGeom prst="rect">
              <a:avLst/>
            </a:prstGeom>
          </p:spPr>
        </p:pic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6C0D5C-048F-C7E6-B8C7-8D8AFBCC9D41}"/>
              </a:ext>
            </a:extLst>
          </p:cNvPr>
          <p:cNvSpPr/>
          <p:nvPr/>
        </p:nvSpPr>
        <p:spPr>
          <a:xfrm>
            <a:off x="2451899" y="213973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5176266-5DC2-F3F1-D964-5C9E303514BF}"/>
              </a:ext>
            </a:extLst>
          </p:cNvPr>
          <p:cNvGrpSpPr/>
          <p:nvPr/>
        </p:nvGrpSpPr>
        <p:grpSpPr>
          <a:xfrm>
            <a:off x="1951761" y="213973"/>
            <a:ext cx="420624" cy="402336"/>
            <a:chOff x="525780" y="1946337"/>
            <a:chExt cx="420624" cy="40233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6BBCB1E-C83A-9C7D-152D-B5C79F25879D}"/>
                </a:ext>
              </a:extLst>
            </p:cNvPr>
            <p:cNvSpPr/>
            <p:nvPr/>
          </p:nvSpPr>
          <p:spPr>
            <a:xfrm>
              <a:off x="525780" y="1946337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 descr="Electric Tower outline">
              <a:extLst>
                <a:ext uri="{FF2B5EF4-FFF2-40B4-BE49-F238E27FC236}">
                  <a16:creationId xmlns:a16="http://schemas.microsoft.com/office/drawing/2014/main" id="{A0C33815-816D-A53D-130C-21D48A8B3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4039" y="1972880"/>
              <a:ext cx="349250" cy="349250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D92241-9CEC-5D0B-D4D6-3BFBEB94039D}"/>
              </a:ext>
            </a:extLst>
          </p:cNvPr>
          <p:cNvCxnSpPr>
            <a:cxnSpLocks/>
          </p:cNvCxnSpPr>
          <p:nvPr/>
        </p:nvCxnSpPr>
        <p:spPr>
          <a:xfrm>
            <a:off x="2993080" y="272978"/>
            <a:ext cx="0" cy="30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1BF976E-02A5-07B3-8155-89AE5EFE57E8}"/>
              </a:ext>
            </a:extLst>
          </p:cNvPr>
          <p:cNvGrpSpPr/>
          <p:nvPr/>
        </p:nvGrpSpPr>
        <p:grpSpPr>
          <a:xfrm>
            <a:off x="4627102" y="205188"/>
            <a:ext cx="420624" cy="402336"/>
            <a:chOff x="531114" y="4073969"/>
            <a:chExt cx="420624" cy="40233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4534AAA-7928-01B4-6200-03C79E5C56B6}"/>
                </a:ext>
              </a:extLst>
            </p:cNvPr>
            <p:cNvSpPr/>
            <p:nvPr/>
          </p:nvSpPr>
          <p:spPr>
            <a:xfrm>
              <a:off x="531114" y="4073969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isk outline">
              <a:extLst>
                <a:ext uri="{FF2B5EF4-FFF2-40B4-BE49-F238E27FC236}">
                  <a16:creationId xmlns:a16="http://schemas.microsoft.com/office/drawing/2014/main" id="{DEBF8874-E5A9-4A68-A37D-D53B4C9C9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4039" y="4100512"/>
              <a:ext cx="349250" cy="34925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9CCC3C9-EBD1-005A-5A17-A2DDA46EA685}"/>
              </a:ext>
            </a:extLst>
          </p:cNvPr>
          <p:cNvGrpSpPr/>
          <p:nvPr/>
        </p:nvGrpSpPr>
        <p:grpSpPr>
          <a:xfrm>
            <a:off x="4126964" y="205188"/>
            <a:ext cx="420624" cy="402336"/>
            <a:chOff x="531114" y="3589782"/>
            <a:chExt cx="420624" cy="40233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C3B6D402-A05E-F1BA-9E5F-80DFC7715161}"/>
                </a:ext>
              </a:extLst>
            </p:cNvPr>
            <p:cNvSpPr/>
            <p:nvPr/>
          </p:nvSpPr>
          <p:spPr>
            <a:xfrm>
              <a:off x="531114" y="3589782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Graphic 38" descr="Share outline">
              <a:extLst>
                <a:ext uri="{FF2B5EF4-FFF2-40B4-BE49-F238E27FC236}">
                  <a16:creationId xmlns:a16="http://schemas.microsoft.com/office/drawing/2014/main" id="{FA5E1A65-0BA3-1D4A-4E87-B13EA0D92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8329" y="3633470"/>
              <a:ext cx="314960" cy="31496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DC19CD9-476D-B0EB-FC86-A8DBAFEC5CBF}"/>
              </a:ext>
            </a:extLst>
          </p:cNvPr>
          <p:cNvGrpSpPr/>
          <p:nvPr/>
        </p:nvGrpSpPr>
        <p:grpSpPr>
          <a:xfrm>
            <a:off x="3610894" y="205188"/>
            <a:ext cx="420624" cy="402336"/>
            <a:chOff x="531114" y="3105595"/>
            <a:chExt cx="420624" cy="4023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7D899CF-C402-491F-20E1-1FB278B834BA}"/>
                </a:ext>
              </a:extLst>
            </p:cNvPr>
            <p:cNvSpPr/>
            <p:nvPr/>
          </p:nvSpPr>
          <p:spPr>
            <a:xfrm>
              <a:off x="531114" y="3105595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Layers Design outline">
              <a:extLst>
                <a:ext uri="{FF2B5EF4-FFF2-40B4-BE49-F238E27FC236}">
                  <a16:creationId xmlns:a16="http://schemas.microsoft.com/office/drawing/2014/main" id="{484D86B6-4E63-77DD-C559-3901C1032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8895" y="3126296"/>
              <a:ext cx="347133" cy="347133"/>
            </a:xfrm>
            <a:prstGeom prst="rect">
              <a:avLst/>
            </a:prstGeom>
          </p:spPr>
        </p:pic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065F0C-C8FC-78B0-59DC-BB3AEB7792F8}"/>
              </a:ext>
            </a:extLst>
          </p:cNvPr>
          <p:cNvSpPr/>
          <p:nvPr/>
        </p:nvSpPr>
        <p:spPr>
          <a:xfrm>
            <a:off x="1435156" y="213973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C3B705-616C-6067-C09B-83D55775E74E}"/>
              </a:ext>
            </a:extLst>
          </p:cNvPr>
          <p:cNvSpPr/>
          <p:nvPr/>
        </p:nvSpPr>
        <p:spPr>
          <a:xfrm>
            <a:off x="296038" y="960532"/>
            <a:ext cx="2090790" cy="4379817"/>
          </a:xfrm>
          <a:prstGeom prst="roundRect">
            <a:avLst>
              <a:gd name="adj" fmla="val 3119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050834-2E22-538E-90BA-0D34127D5ACE}"/>
              </a:ext>
            </a:extLst>
          </p:cNvPr>
          <p:cNvSpPr txBox="1"/>
          <p:nvPr/>
        </p:nvSpPr>
        <p:spPr>
          <a:xfrm>
            <a:off x="300307" y="960532"/>
            <a:ext cx="1297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PV Design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6C4C9C23-4764-8119-6FB4-5EE0BEF6F696}"/>
              </a:ext>
            </a:extLst>
          </p:cNvPr>
          <p:cNvSpPr/>
          <p:nvPr/>
        </p:nvSpPr>
        <p:spPr>
          <a:xfrm>
            <a:off x="4261197" y="5976331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0DA29F2-8495-2D2F-0005-757F0B170339}"/>
              </a:ext>
            </a:extLst>
          </p:cNvPr>
          <p:cNvSpPr/>
          <p:nvPr/>
        </p:nvSpPr>
        <p:spPr>
          <a:xfrm>
            <a:off x="4760648" y="5976331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08F5334-C60F-11F8-6022-A709465236D0}"/>
              </a:ext>
            </a:extLst>
          </p:cNvPr>
          <p:cNvSpPr/>
          <p:nvPr/>
        </p:nvSpPr>
        <p:spPr>
          <a:xfrm>
            <a:off x="5271160" y="5976331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Graphic 74" descr="Clipboard outline">
            <a:extLst>
              <a:ext uri="{FF2B5EF4-FFF2-40B4-BE49-F238E27FC236}">
                <a16:creationId xmlns:a16="http://schemas.microsoft.com/office/drawing/2014/main" id="{E0291319-67A2-FF08-5AA7-B5EBC395DBB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99195" y="5993863"/>
            <a:ext cx="343529" cy="343529"/>
          </a:xfrm>
          <a:prstGeom prst="rect">
            <a:avLst/>
          </a:prstGeom>
        </p:spPr>
      </p:pic>
      <p:grpSp>
        <p:nvGrpSpPr>
          <p:cNvPr id="78" name="Group 77">
            <a:extLst>
              <a:ext uri="{FF2B5EF4-FFF2-40B4-BE49-F238E27FC236}">
                <a16:creationId xmlns:a16="http://schemas.microsoft.com/office/drawing/2014/main" id="{0C95105A-582C-C03E-EF7A-DAEF3BB65B6F}"/>
              </a:ext>
            </a:extLst>
          </p:cNvPr>
          <p:cNvGrpSpPr/>
          <p:nvPr/>
        </p:nvGrpSpPr>
        <p:grpSpPr>
          <a:xfrm>
            <a:off x="4371223" y="6056575"/>
            <a:ext cx="218302" cy="234950"/>
            <a:chOff x="3270250" y="2033063"/>
            <a:chExt cx="218302" cy="23495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CE0AD7C-2545-8BD9-C105-D1C608B7524A}"/>
                </a:ext>
              </a:extLst>
            </p:cNvPr>
            <p:cNvSpPr/>
            <p:nvPr/>
          </p:nvSpPr>
          <p:spPr>
            <a:xfrm>
              <a:off x="3270250" y="2033063"/>
              <a:ext cx="165100" cy="165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474DEF7-A2F1-304C-C158-4545E51DC8B9}"/>
                </a:ext>
              </a:extLst>
            </p:cNvPr>
            <p:cNvSpPr/>
            <p:nvPr/>
          </p:nvSpPr>
          <p:spPr>
            <a:xfrm>
              <a:off x="3323452" y="2102913"/>
              <a:ext cx="165100" cy="165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Arrow: Quad 78">
            <a:extLst>
              <a:ext uri="{FF2B5EF4-FFF2-40B4-BE49-F238E27FC236}">
                <a16:creationId xmlns:a16="http://schemas.microsoft.com/office/drawing/2014/main" id="{E8C7375B-EE18-23B7-E900-D99266B14EB2}"/>
              </a:ext>
            </a:extLst>
          </p:cNvPr>
          <p:cNvSpPr/>
          <p:nvPr/>
        </p:nvSpPr>
        <p:spPr>
          <a:xfrm>
            <a:off x="5339849" y="6035793"/>
            <a:ext cx="280817" cy="280817"/>
          </a:xfrm>
          <a:prstGeom prst="quadArrow">
            <a:avLst>
              <a:gd name="adj1" fmla="val 22500"/>
              <a:gd name="adj2" fmla="val 18882"/>
              <a:gd name="adj3" fmla="val 256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74CB70C-7C23-6A37-F3CD-8DDF9D940FFE}"/>
              </a:ext>
            </a:extLst>
          </p:cNvPr>
          <p:cNvGrpSpPr/>
          <p:nvPr/>
        </p:nvGrpSpPr>
        <p:grpSpPr>
          <a:xfrm>
            <a:off x="5817011" y="5953746"/>
            <a:ext cx="420624" cy="402336"/>
            <a:chOff x="1885448" y="2507413"/>
            <a:chExt cx="420624" cy="402336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56C2100B-F1E4-A258-EE3A-A9110992546D}"/>
                </a:ext>
              </a:extLst>
            </p:cNvPr>
            <p:cNvSpPr/>
            <p:nvPr/>
          </p:nvSpPr>
          <p:spPr>
            <a:xfrm>
              <a:off x="1885448" y="2507413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F4180115-D3B7-E85D-E114-46D64890E719}"/>
                </a:ext>
              </a:extLst>
            </p:cNvPr>
            <p:cNvGrpSpPr/>
            <p:nvPr/>
          </p:nvGrpSpPr>
          <p:grpSpPr>
            <a:xfrm>
              <a:off x="1951691" y="2543758"/>
              <a:ext cx="288137" cy="312195"/>
              <a:chOff x="3571240" y="2316480"/>
              <a:chExt cx="328301" cy="355712"/>
            </a:xfrm>
          </p:grpSpPr>
          <p:sp>
            <p:nvSpPr>
              <p:cNvPr id="82" name="Arrow: Circular 81">
                <a:extLst>
                  <a:ext uri="{FF2B5EF4-FFF2-40B4-BE49-F238E27FC236}">
                    <a16:creationId xmlns:a16="http://schemas.microsoft.com/office/drawing/2014/main" id="{06D3A8E2-BC46-066C-7380-035257CC1D74}"/>
                  </a:ext>
                </a:extLst>
              </p:cNvPr>
              <p:cNvSpPr/>
              <p:nvPr/>
            </p:nvSpPr>
            <p:spPr>
              <a:xfrm>
                <a:off x="3571240" y="2316480"/>
                <a:ext cx="328301" cy="328301"/>
              </a:xfrm>
              <a:prstGeom prst="circularArrow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Arrow: Circular 82">
                <a:extLst>
                  <a:ext uri="{FF2B5EF4-FFF2-40B4-BE49-F238E27FC236}">
                    <a16:creationId xmlns:a16="http://schemas.microsoft.com/office/drawing/2014/main" id="{2C06EF8B-88EC-9F22-02E0-96E62C47C5DC}"/>
                  </a:ext>
                </a:extLst>
              </p:cNvPr>
              <p:cNvSpPr/>
              <p:nvPr/>
            </p:nvSpPr>
            <p:spPr>
              <a:xfrm rot="10800000">
                <a:off x="3571240" y="2343891"/>
                <a:ext cx="328301" cy="328301"/>
              </a:xfrm>
              <a:prstGeom prst="circularArrow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53B14AB0-07E4-9354-0639-D12C64A8D656}"/>
              </a:ext>
            </a:extLst>
          </p:cNvPr>
          <p:cNvSpPr/>
          <p:nvPr/>
        </p:nvSpPr>
        <p:spPr>
          <a:xfrm>
            <a:off x="6313636" y="5953295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014976D-1ACF-6EAD-E075-744D0342797B}"/>
              </a:ext>
            </a:extLst>
          </p:cNvPr>
          <p:cNvSpPr/>
          <p:nvPr/>
        </p:nvSpPr>
        <p:spPr>
          <a:xfrm>
            <a:off x="6824148" y="5953295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C4AC5EE-1F43-F7D7-CE1D-D27C5455D627}"/>
              </a:ext>
            </a:extLst>
          </p:cNvPr>
          <p:cNvGrpSpPr/>
          <p:nvPr/>
        </p:nvGrpSpPr>
        <p:grpSpPr>
          <a:xfrm>
            <a:off x="8355826" y="5948290"/>
            <a:ext cx="420624" cy="402336"/>
            <a:chOff x="382161" y="3008846"/>
            <a:chExt cx="420624" cy="402336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D1ED8CB0-A1D9-8B22-3821-522FA14C0993}"/>
                </a:ext>
              </a:extLst>
            </p:cNvPr>
            <p:cNvSpPr/>
            <p:nvPr/>
          </p:nvSpPr>
          <p:spPr>
            <a:xfrm>
              <a:off x="382161" y="3008846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5" name="Graphic 104" descr="Garbage outline">
              <a:extLst>
                <a:ext uri="{FF2B5EF4-FFF2-40B4-BE49-F238E27FC236}">
                  <a16:creationId xmlns:a16="http://schemas.microsoft.com/office/drawing/2014/main" id="{DE84F17B-506D-6B84-A349-D14ECB065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24141" y="3059843"/>
              <a:ext cx="326365" cy="326365"/>
            </a:xfrm>
            <a:prstGeom prst="rect">
              <a:avLst/>
            </a:prstGeom>
          </p:spPr>
        </p:pic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4E88039-F2C5-6E37-2D1A-497CD06C348D}"/>
              </a:ext>
            </a:extLst>
          </p:cNvPr>
          <p:cNvSpPr/>
          <p:nvPr/>
        </p:nvSpPr>
        <p:spPr>
          <a:xfrm>
            <a:off x="6407725" y="6073619"/>
            <a:ext cx="243499" cy="152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C034F11-C2AE-7922-1C1C-AE90396C548C}"/>
              </a:ext>
            </a:extLst>
          </p:cNvPr>
          <p:cNvGrpSpPr/>
          <p:nvPr/>
        </p:nvGrpSpPr>
        <p:grpSpPr>
          <a:xfrm>
            <a:off x="6921601" y="6035793"/>
            <a:ext cx="218302" cy="234950"/>
            <a:chOff x="3270250" y="2033063"/>
            <a:chExt cx="218302" cy="234950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CFDE5608-5F2F-6BC2-849D-A26DFA1996E3}"/>
                </a:ext>
              </a:extLst>
            </p:cNvPr>
            <p:cNvSpPr/>
            <p:nvPr/>
          </p:nvSpPr>
          <p:spPr>
            <a:xfrm>
              <a:off x="3270250" y="2033063"/>
              <a:ext cx="165100" cy="165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9911C7A-56D6-B063-95A7-05923A4620D3}"/>
                </a:ext>
              </a:extLst>
            </p:cNvPr>
            <p:cNvSpPr/>
            <p:nvPr/>
          </p:nvSpPr>
          <p:spPr>
            <a:xfrm>
              <a:off x="3323452" y="2102913"/>
              <a:ext cx="165100" cy="165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D184C68-4EE4-7651-621E-89E789C67BF3}"/>
              </a:ext>
            </a:extLst>
          </p:cNvPr>
          <p:cNvGrpSpPr/>
          <p:nvPr/>
        </p:nvGrpSpPr>
        <p:grpSpPr>
          <a:xfrm>
            <a:off x="7852257" y="5953295"/>
            <a:ext cx="420624" cy="402336"/>
            <a:chOff x="1885448" y="3008846"/>
            <a:chExt cx="420624" cy="402336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698807F5-4629-8704-D9D1-4722A791AF2E}"/>
                </a:ext>
              </a:extLst>
            </p:cNvPr>
            <p:cNvSpPr/>
            <p:nvPr/>
          </p:nvSpPr>
          <p:spPr>
            <a:xfrm>
              <a:off x="1885448" y="3008846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EDDE299-1086-649B-DB07-696BA6141281}"/>
                </a:ext>
              </a:extLst>
            </p:cNvPr>
            <p:cNvGrpSpPr/>
            <p:nvPr/>
          </p:nvGrpSpPr>
          <p:grpSpPr>
            <a:xfrm>
              <a:off x="1959460" y="3071261"/>
              <a:ext cx="280368" cy="277507"/>
              <a:chOff x="4050332" y="2713759"/>
              <a:chExt cx="1504284" cy="1488936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32435E63-4938-E6D8-49DD-040500B71DD5}"/>
                  </a:ext>
                </a:extLst>
              </p:cNvPr>
              <p:cNvSpPr/>
              <p:nvPr/>
            </p:nvSpPr>
            <p:spPr>
              <a:xfrm>
                <a:off x="4050332" y="2713759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F032052E-0BEC-9F5D-18D3-17AAB97ADC85}"/>
                  </a:ext>
                </a:extLst>
              </p:cNvPr>
              <p:cNvSpPr/>
              <p:nvPr/>
            </p:nvSpPr>
            <p:spPr>
              <a:xfrm>
                <a:off x="4554340" y="2713759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2D28375E-5A42-B0DC-B451-EFF6D88FD52D}"/>
                  </a:ext>
                </a:extLst>
              </p:cNvPr>
              <p:cNvSpPr/>
              <p:nvPr/>
            </p:nvSpPr>
            <p:spPr>
              <a:xfrm>
                <a:off x="5054478" y="2713759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37773294-F052-DB70-C4EF-32EE178F91F9}"/>
                  </a:ext>
                </a:extLst>
              </p:cNvPr>
              <p:cNvSpPr/>
              <p:nvPr/>
            </p:nvSpPr>
            <p:spPr>
              <a:xfrm>
                <a:off x="4050332" y="3208158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6838DEB-9795-1100-A825-0DBF1E16D846}"/>
                  </a:ext>
                </a:extLst>
              </p:cNvPr>
              <p:cNvSpPr/>
              <p:nvPr/>
            </p:nvSpPr>
            <p:spPr>
              <a:xfrm>
                <a:off x="4554340" y="3208158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C31F7926-92A2-038B-B64B-F3555249DDE7}"/>
                  </a:ext>
                </a:extLst>
              </p:cNvPr>
              <p:cNvSpPr/>
              <p:nvPr/>
            </p:nvSpPr>
            <p:spPr>
              <a:xfrm>
                <a:off x="5054478" y="3208158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AB2DCD90-9AB4-592D-EBAE-EA6EF374F593}"/>
                  </a:ext>
                </a:extLst>
              </p:cNvPr>
              <p:cNvSpPr/>
              <p:nvPr/>
            </p:nvSpPr>
            <p:spPr>
              <a:xfrm>
                <a:off x="4050332" y="3702557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BCC3FA1-869D-7885-1A3D-109FF5CB5180}"/>
                  </a:ext>
                </a:extLst>
              </p:cNvPr>
              <p:cNvSpPr/>
              <p:nvPr/>
            </p:nvSpPr>
            <p:spPr>
              <a:xfrm>
                <a:off x="4554340" y="3702557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14CBB459-EE69-9F96-C11C-3E86C0161C1F}"/>
                  </a:ext>
                </a:extLst>
              </p:cNvPr>
              <p:cNvSpPr/>
              <p:nvPr/>
            </p:nvSpPr>
            <p:spPr>
              <a:xfrm>
                <a:off x="5054478" y="3702557"/>
                <a:ext cx="500138" cy="50013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6A5C4035-1B4D-A950-4D3E-79DD03ADA0A3}"/>
              </a:ext>
            </a:extLst>
          </p:cNvPr>
          <p:cNvSpPr/>
          <p:nvPr/>
        </p:nvSpPr>
        <p:spPr>
          <a:xfrm>
            <a:off x="7348689" y="5945275"/>
            <a:ext cx="420624" cy="40233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Isosceles Triangle 141">
            <a:extLst>
              <a:ext uri="{FF2B5EF4-FFF2-40B4-BE49-F238E27FC236}">
                <a16:creationId xmlns:a16="http://schemas.microsoft.com/office/drawing/2014/main" id="{1DA93192-2CDD-342A-A9E1-FCCFBA66F8A5}"/>
              </a:ext>
            </a:extLst>
          </p:cNvPr>
          <p:cNvSpPr/>
          <p:nvPr/>
        </p:nvSpPr>
        <p:spPr>
          <a:xfrm rot="14400000">
            <a:off x="2221676" y="1186793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A64BB9AB-6802-009F-3BD4-1884F6AA09DB}"/>
              </a:ext>
            </a:extLst>
          </p:cNvPr>
          <p:cNvSpPr/>
          <p:nvPr/>
        </p:nvSpPr>
        <p:spPr>
          <a:xfrm>
            <a:off x="2236849" y="1306586"/>
            <a:ext cx="81768" cy="88106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Isosceles Triangle 143">
            <a:extLst>
              <a:ext uri="{FF2B5EF4-FFF2-40B4-BE49-F238E27FC236}">
                <a16:creationId xmlns:a16="http://schemas.microsoft.com/office/drawing/2014/main" id="{8C03132A-F313-64B1-C574-C4F6390DC7B8}"/>
              </a:ext>
            </a:extLst>
          </p:cNvPr>
          <p:cNvSpPr/>
          <p:nvPr/>
        </p:nvSpPr>
        <p:spPr>
          <a:xfrm rot="3600000">
            <a:off x="2247587" y="5015863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B0740B4-8805-CF90-D8B3-0ADA96A3E529}"/>
              </a:ext>
            </a:extLst>
          </p:cNvPr>
          <p:cNvGrpSpPr/>
          <p:nvPr/>
        </p:nvGrpSpPr>
        <p:grpSpPr>
          <a:xfrm>
            <a:off x="7455889" y="6047952"/>
            <a:ext cx="211082" cy="167540"/>
            <a:chOff x="4011883" y="1614693"/>
            <a:chExt cx="335093" cy="265970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CA183BED-FE01-181D-B78A-616D69537963}"/>
                </a:ext>
              </a:extLst>
            </p:cNvPr>
            <p:cNvCxnSpPr>
              <a:cxnSpLocks/>
            </p:cNvCxnSpPr>
            <p:nvPr/>
          </p:nvCxnSpPr>
          <p:spPr>
            <a:xfrm>
              <a:off x="4011883" y="1614693"/>
              <a:ext cx="32551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2C14E51-8EAC-3610-4BD3-1CFACD26C4BA}"/>
                </a:ext>
              </a:extLst>
            </p:cNvPr>
            <p:cNvCxnSpPr>
              <a:cxnSpLocks/>
            </p:cNvCxnSpPr>
            <p:nvPr/>
          </p:nvCxnSpPr>
          <p:spPr>
            <a:xfrm>
              <a:off x="4011883" y="1880663"/>
              <a:ext cx="33509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A4AB08F-6E6E-49A3-5653-CA3FDCDAB716}"/>
                </a:ext>
              </a:extLst>
            </p:cNvPr>
            <p:cNvSpPr/>
            <p:nvPr/>
          </p:nvSpPr>
          <p:spPr>
            <a:xfrm>
              <a:off x="4104253" y="1677295"/>
              <a:ext cx="140769" cy="14076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82EB1091-EDE2-1C1C-2124-D507CAB64B62}"/>
              </a:ext>
            </a:extLst>
          </p:cNvPr>
          <p:cNvSpPr/>
          <p:nvPr/>
        </p:nvSpPr>
        <p:spPr>
          <a:xfrm>
            <a:off x="4162770" y="5845898"/>
            <a:ext cx="5708218" cy="606154"/>
          </a:xfrm>
          <a:prstGeom prst="roundRect">
            <a:avLst>
              <a:gd name="adj" fmla="val 14475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4D27321D-BE40-AE28-6EDD-20176B147785}"/>
              </a:ext>
            </a:extLst>
          </p:cNvPr>
          <p:cNvCxnSpPr/>
          <p:nvPr/>
        </p:nvCxnSpPr>
        <p:spPr>
          <a:xfrm flipH="1">
            <a:off x="2285210" y="5200376"/>
            <a:ext cx="48536" cy="7302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5C6D38A-FFDA-E38B-0BF9-B3FB603B9CEB}"/>
              </a:ext>
            </a:extLst>
          </p:cNvPr>
          <p:cNvCxnSpPr>
            <a:cxnSpLocks/>
          </p:cNvCxnSpPr>
          <p:nvPr/>
        </p:nvCxnSpPr>
        <p:spPr>
          <a:xfrm flipH="1">
            <a:off x="2308874" y="5221592"/>
            <a:ext cx="36546" cy="5498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Multiplication Sign 165">
            <a:extLst>
              <a:ext uri="{FF2B5EF4-FFF2-40B4-BE49-F238E27FC236}">
                <a16:creationId xmlns:a16="http://schemas.microsoft.com/office/drawing/2014/main" id="{0FA1BCA3-FF18-354D-39B2-0783891A2C2B}"/>
              </a:ext>
            </a:extLst>
          </p:cNvPr>
          <p:cNvSpPr/>
          <p:nvPr/>
        </p:nvSpPr>
        <p:spPr>
          <a:xfrm rot="5400000">
            <a:off x="9712784" y="5839718"/>
            <a:ext cx="125941" cy="108570"/>
          </a:xfrm>
          <a:prstGeom prst="mathMultiply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Multiplication Sign 167">
            <a:extLst>
              <a:ext uri="{FF2B5EF4-FFF2-40B4-BE49-F238E27FC236}">
                <a16:creationId xmlns:a16="http://schemas.microsoft.com/office/drawing/2014/main" id="{DAEDD25F-C574-A194-3261-00849C00061B}"/>
              </a:ext>
            </a:extLst>
          </p:cNvPr>
          <p:cNvSpPr/>
          <p:nvPr/>
        </p:nvSpPr>
        <p:spPr>
          <a:xfrm rot="5400000">
            <a:off x="2209343" y="1037217"/>
            <a:ext cx="125941" cy="108570"/>
          </a:xfrm>
          <a:prstGeom prst="mathMultiply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CF87AFFE-EE1D-ACC8-638E-A67A71BF419E}"/>
              </a:ext>
            </a:extLst>
          </p:cNvPr>
          <p:cNvSpPr/>
          <p:nvPr/>
        </p:nvSpPr>
        <p:spPr>
          <a:xfrm>
            <a:off x="8856049" y="5964409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D23272F5-4222-1FA4-2602-434B2022A3A9}"/>
              </a:ext>
            </a:extLst>
          </p:cNvPr>
          <p:cNvSpPr/>
          <p:nvPr/>
        </p:nvSpPr>
        <p:spPr>
          <a:xfrm>
            <a:off x="9356187" y="5964409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2" name="Graphic 171" descr="Back outline">
            <a:extLst>
              <a:ext uri="{FF2B5EF4-FFF2-40B4-BE49-F238E27FC236}">
                <a16:creationId xmlns:a16="http://schemas.microsoft.com/office/drawing/2014/main" id="{AEE5426A-D480-80C2-0FE7-82B43332F25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61611" y="5949537"/>
            <a:ext cx="398074" cy="398074"/>
          </a:xfrm>
          <a:prstGeom prst="rect">
            <a:avLst/>
          </a:prstGeom>
        </p:spPr>
      </p:pic>
      <p:pic>
        <p:nvPicPr>
          <p:cNvPr id="174" name="Graphic 173" descr="Back outline">
            <a:extLst>
              <a:ext uri="{FF2B5EF4-FFF2-40B4-BE49-F238E27FC236}">
                <a16:creationId xmlns:a16="http://schemas.microsoft.com/office/drawing/2014/main" id="{5D8FEFD2-50CD-0A84-3925-0B69526642F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77681" y="5949537"/>
            <a:ext cx="398074" cy="398074"/>
          </a:xfrm>
          <a:prstGeom prst="rect">
            <a:avLst/>
          </a:prstGeom>
        </p:spPr>
      </p:pic>
      <p:grpSp>
        <p:nvGrpSpPr>
          <p:cNvPr id="175" name="Group 174">
            <a:extLst>
              <a:ext uri="{FF2B5EF4-FFF2-40B4-BE49-F238E27FC236}">
                <a16:creationId xmlns:a16="http://schemas.microsoft.com/office/drawing/2014/main" id="{AD3D150C-28AE-F299-58C3-19D69660199A}"/>
              </a:ext>
            </a:extLst>
          </p:cNvPr>
          <p:cNvGrpSpPr/>
          <p:nvPr/>
        </p:nvGrpSpPr>
        <p:grpSpPr>
          <a:xfrm>
            <a:off x="910970" y="213973"/>
            <a:ext cx="420624" cy="402336"/>
            <a:chOff x="1435157" y="264773"/>
            <a:chExt cx="420624" cy="402336"/>
          </a:xfrm>
        </p:grpSpPr>
        <p:sp>
          <p:nvSpPr>
            <p:cNvPr id="176" name="Rectangle: Rounded Corners 175">
              <a:extLst>
                <a:ext uri="{FF2B5EF4-FFF2-40B4-BE49-F238E27FC236}">
                  <a16:creationId xmlns:a16="http://schemas.microsoft.com/office/drawing/2014/main" id="{107B1537-BC59-3233-C0EA-39F0BA6ECB28}"/>
                </a:ext>
              </a:extLst>
            </p:cNvPr>
            <p:cNvSpPr/>
            <p:nvPr/>
          </p:nvSpPr>
          <p:spPr>
            <a:xfrm>
              <a:off x="1435157" y="264773"/>
              <a:ext cx="420624" cy="40233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7" name="Graphic 176" descr="Blueprint outline">
              <a:extLst>
                <a:ext uri="{FF2B5EF4-FFF2-40B4-BE49-F238E27FC236}">
                  <a16:creationId xmlns:a16="http://schemas.microsoft.com/office/drawing/2014/main" id="{512C7735-8A07-EFE8-D12C-93C209951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60814" y="277324"/>
              <a:ext cx="381000" cy="381000"/>
            </a:xfrm>
            <a:prstGeom prst="rect">
              <a:avLst/>
            </a:prstGeom>
          </p:spPr>
        </p:pic>
      </p:grp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7B6638CE-9D88-84B0-9A68-323D0046DB83}"/>
              </a:ext>
            </a:extLst>
          </p:cNvPr>
          <p:cNvSpPr/>
          <p:nvPr/>
        </p:nvSpPr>
        <p:spPr>
          <a:xfrm>
            <a:off x="1498709" y="293060"/>
            <a:ext cx="316600" cy="244162"/>
          </a:xfrm>
          <a:custGeom>
            <a:avLst/>
            <a:gdLst>
              <a:gd name="connsiteX0" fmla="*/ 737225 w 737225"/>
              <a:gd name="connsiteY0" fmla="*/ 444722 h 568547"/>
              <a:gd name="connsiteX1" fmla="*/ 737225 w 737225"/>
              <a:gd name="connsiteY1" fmla="*/ 356587 h 568547"/>
              <a:gd name="connsiteX2" fmla="*/ 576758 w 737225"/>
              <a:gd name="connsiteY2" fmla="*/ 0 h 568547"/>
              <a:gd name="connsiteX3" fmla="*/ 160515 w 737225"/>
              <a:gd name="connsiteY3" fmla="*/ 0 h 568547"/>
              <a:gd name="connsiteX4" fmla="*/ 0 w 737225"/>
              <a:gd name="connsiteY4" fmla="*/ 356587 h 568547"/>
              <a:gd name="connsiteX5" fmla="*/ 0 w 737225"/>
              <a:gd name="connsiteY5" fmla="*/ 444722 h 568547"/>
              <a:gd name="connsiteX6" fmla="*/ 359093 w 737225"/>
              <a:gd name="connsiteY6" fmla="*/ 444722 h 568547"/>
              <a:gd name="connsiteX7" fmla="*/ 359093 w 737225"/>
              <a:gd name="connsiteY7" fmla="*/ 549497 h 568547"/>
              <a:gd name="connsiteX8" fmla="*/ 238944 w 737225"/>
              <a:gd name="connsiteY8" fmla="*/ 549497 h 568547"/>
              <a:gd name="connsiteX9" fmla="*/ 238944 w 737225"/>
              <a:gd name="connsiteY9" fmla="*/ 568547 h 568547"/>
              <a:gd name="connsiteX10" fmla="*/ 498281 w 737225"/>
              <a:gd name="connsiteY10" fmla="*/ 568547 h 568547"/>
              <a:gd name="connsiteX11" fmla="*/ 498281 w 737225"/>
              <a:gd name="connsiteY11" fmla="*/ 549497 h 568547"/>
              <a:gd name="connsiteX12" fmla="*/ 378143 w 737225"/>
              <a:gd name="connsiteY12" fmla="*/ 549497 h 568547"/>
              <a:gd name="connsiteX13" fmla="*/ 378143 w 737225"/>
              <a:gd name="connsiteY13" fmla="*/ 444722 h 568547"/>
              <a:gd name="connsiteX14" fmla="*/ 446713 w 737225"/>
              <a:gd name="connsiteY14" fmla="*/ 118786 h 568547"/>
              <a:gd name="connsiteX15" fmla="*/ 460867 w 737225"/>
              <a:gd name="connsiteY15" fmla="*/ 229457 h 568547"/>
              <a:gd name="connsiteX16" fmla="*/ 276368 w 737225"/>
              <a:gd name="connsiteY16" fmla="*/ 229457 h 568547"/>
              <a:gd name="connsiteX17" fmla="*/ 290551 w 737225"/>
              <a:gd name="connsiteY17" fmla="*/ 118786 h 568547"/>
              <a:gd name="connsiteX18" fmla="*/ 293018 w 737225"/>
              <a:gd name="connsiteY18" fmla="*/ 99736 h 568547"/>
              <a:gd name="connsiteX19" fmla="*/ 303362 w 737225"/>
              <a:gd name="connsiteY19" fmla="*/ 19050 h 568547"/>
              <a:gd name="connsiteX20" fmla="*/ 433892 w 737225"/>
              <a:gd name="connsiteY20" fmla="*/ 19050 h 568547"/>
              <a:gd name="connsiteX21" fmla="*/ 444236 w 737225"/>
              <a:gd name="connsiteY21" fmla="*/ 99736 h 568547"/>
              <a:gd name="connsiteX22" fmla="*/ 659111 w 737225"/>
              <a:gd name="connsiteY22" fmla="*/ 229457 h 568547"/>
              <a:gd name="connsiteX23" fmla="*/ 480041 w 737225"/>
              <a:gd name="connsiteY23" fmla="*/ 229457 h 568547"/>
              <a:gd name="connsiteX24" fmla="*/ 465887 w 737225"/>
              <a:gd name="connsiteY24" fmla="*/ 118786 h 568547"/>
              <a:gd name="connsiteX25" fmla="*/ 609324 w 737225"/>
              <a:gd name="connsiteY25" fmla="*/ 118786 h 568547"/>
              <a:gd name="connsiteX26" fmla="*/ 257156 w 737225"/>
              <a:gd name="connsiteY26" fmla="*/ 229457 h 568547"/>
              <a:gd name="connsiteX27" fmla="*/ 78086 w 737225"/>
              <a:gd name="connsiteY27" fmla="*/ 229457 h 568547"/>
              <a:gd name="connsiteX28" fmla="*/ 127873 w 737225"/>
              <a:gd name="connsiteY28" fmla="*/ 118824 h 568547"/>
              <a:gd name="connsiteX29" fmla="*/ 271348 w 737225"/>
              <a:gd name="connsiteY29" fmla="*/ 118824 h 568547"/>
              <a:gd name="connsiteX30" fmla="*/ 254708 w 737225"/>
              <a:gd name="connsiteY30" fmla="*/ 248507 h 568547"/>
              <a:gd name="connsiteX31" fmla="*/ 241811 w 737225"/>
              <a:gd name="connsiteY31" fmla="*/ 349110 h 568547"/>
              <a:gd name="connsiteX32" fmla="*/ 24260 w 737225"/>
              <a:gd name="connsiteY32" fmla="*/ 349110 h 568547"/>
              <a:gd name="connsiteX33" fmla="*/ 69552 w 737225"/>
              <a:gd name="connsiteY33" fmla="*/ 248507 h 568547"/>
              <a:gd name="connsiteX34" fmla="*/ 273910 w 737225"/>
              <a:gd name="connsiteY34" fmla="*/ 248507 h 568547"/>
              <a:gd name="connsiteX35" fmla="*/ 463306 w 737225"/>
              <a:gd name="connsiteY35" fmla="*/ 248507 h 568547"/>
              <a:gd name="connsiteX36" fmla="*/ 476212 w 737225"/>
              <a:gd name="connsiteY36" fmla="*/ 349148 h 568547"/>
              <a:gd name="connsiteX37" fmla="*/ 261014 w 737225"/>
              <a:gd name="connsiteY37" fmla="*/ 349148 h 568547"/>
              <a:gd name="connsiteX38" fmla="*/ 495414 w 737225"/>
              <a:gd name="connsiteY38" fmla="*/ 349110 h 568547"/>
              <a:gd name="connsiteX39" fmla="*/ 482508 w 737225"/>
              <a:gd name="connsiteY39" fmla="*/ 248507 h 568547"/>
              <a:gd name="connsiteX40" fmla="*/ 667684 w 737225"/>
              <a:gd name="connsiteY40" fmla="*/ 248507 h 568547"/>
              <a:gd name="connsiteX41" fmla="*/ 712975 w 737225"/>
              <a:gd name="connsiteY41" fmla="*/ 349148 h 568547"/>
              <a:gd name="connsiteX42" fmla="*/ 600751 w 737225"/>
              <a:gd name="connsiteY42" fmla="*/ 99736 h 568547"/>
              <a:gd name="connsiteX43" fmla="*/ 463439 w 737225"/>
              <a:gd name="connsiteY43" fmla="*/ 99736 h 568547"/>
              <a:gd name="connsiteX44" fmla="*/ 453095 w 737225"/>
              <a:gd name="connsiteY44" fmla="*/ 19050 h 568547"/>
              <a:gd name="connsiteX45" fmla="*/ 564442 w 737225"/>
              <a:gd name="connsiteY45" fmla="*/ 19050 h 568547"/>
              <a:gd name="connsiteX46" fmla="*/ 172793 w 737225"/>
              <a:gd name="connsiteY46" fmla="*/ 19050 h 568547"/>
              <a:gd name="connsiteX47" fmla="*/ 284131 w 737225"/>
              <a:gd name="connsiteY47" fmla="*/ 19050 h 568547"/>
              <a:gd name="connsiteX48" fmla="*/ 273787 w 737225"/>
              <a:gd name="connsiteY48" fmla="*/ 99736 h 568547"/>
              <a:gd name="connsiteX49" fmla="*/ 136484 w 737225"/>
              <a:gd name="connsiteY49" fmla="*/ 99736 h 568547"/>
              <a:gd name="connsiteX50" fmla="*/ 19050 w 737225"/>
              <a:gd name="connsiteY50" fmla="*/ 368160 h 568547"/>
              <a:gd name="connsiteX51" fmla="*/ 718185 w 737225"/>
              <a:gd name="connsiteY51" fmla="*/ 368160 h 568547"/>
              <a:gd name="connsiteX52" fmla="*/ 718185 w 737225"/>
              <a:gd name="connsiteY52" fmla="*/ 425672 h 568547"/>
              <a:gd name="connsiteX53" fmla="*/ 19050 w 737225"/>
              <a:gd name="connsiteY53" fmla="*/ 425672 h 568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37225" h="568547">
                <a:moveTo>
                  <a:pt x="737225" y="444722"/>
                </a:moveTo>
                <a:lnTo>
                  <a:pt x="737225" y="356587"/>
                </a:lnTo>
                <a:lnTo>
                  <a:pt x="576758" y="0"/>
                </a:lnTo>
                <a:lnTo>
                  <a:pt x="160515" y="0"/>
                </a:lnTo>
                <a:lnTo>
                  <a:pt x="0" y="356587"/>
                </a:lnTo>
                <a:lnTo>
                  <a:pt x="0" y="444722"/>
                </a:lnTo>
                <a:lnTo>
                  <a:pt x="359093" y="444722"/>
                </a:lnTo>
                <a:lnTo>
                  <a:pt x="359093" y="549497"/>
                </a:lnTo>
                <a:lnTo>
                  <a:pt x="238944" y="549497"/>
                </a:lnTo>
                <a:lnTo>
                  <a:pt x="238944" y="568547"/>
                </a:lnTo>
                <a:lnTo>
                  <a:pt x="498281" y="568547"/>
                </a:lnTo>
                <a:lnTo>
                  <a:pt x="498281" y="549497"/>
                </a:lnTo>
                <a:lnTo>
                  <a:pt x="378143" y="549497"/>
                </a:lnTo>
                <a:lnTo>
                  <a:pt x="378143" y="444722"/>
                </a:lnTo>
                <a:close/>
                <a:moveTo>
                  <a:pt x="446713" y="118786"/>
                </a:moveTo>
                <a:lnTo>
                  <a:pt x="460867" y="229457"/>
                </a:lnTo>
                <a:lnTo>
                  <a:pt x="276368" y="229457"/>
                </a:lnTo>
                <a:lnTo>
                  <a:pt x="290551" y="118786"/>
                </a:lnTo>
                <a:close/>
                <a:moveTo>
                  <a:pt x="293018" y="99736"/>
                </a:moveTo>
                <a:lnTo>
                  <a:pt x="303362" y="19050"/>
                </a:lnTo>
                <a:lnTo>
                  <a:pt x="433892" y="19050"/>
                </a:lnTo>
                <a:lnTo>
                  <a:pt x="444236" y="99736"/>
                </a:lnTo>
                <a:close/>
                <a:moveTo>
                  <a:pt x="659111" y="229457"/>
                </a:moveTo>
                <a:lnTo>
                  <a:pt x="480041" y="229457"/>
                </a:lnTo>
                <a:lnTo>
                  <a:pt x="465887" y="118786"/>
                </a:lnTo>
                <a:lnTo>
                  <a:pt x="609324" y="118786"/>
                </a:lnTo>
                <a:close/>
                <a:moveTo>
                  <a:pt x="257156" y="229457"/>
                </a:moveTo>
                <a:lnTo>
                  <a:pt x="78086" y="229457"/>
                </a:lnTo>
                <a:lnTo>
                  <a:pt x="127873" y="118824"/>
                </a:lnTo>
                <a:lnTo>
                  <a:pt x="271348" y="118824"/>
                </a:lnTo>
                <a:close/>
                <a:moveTo>
                  <a:pt x="254708" y="248507"/>
                </a:moveTo>
                <a:lnTo>
                  <a:pt x="241811" y="349110"/>
                </a:lnTo>
                <a:lnTo>
                  <a:pt x="24260" y="349110"/>
                </a:lnTo>
                <a:lnTo>
                  <a:pt x="69552" y="248507"/>
                </a:lnTo>
                <a:close/>
                <a:moveTo>
                  <a:pt x="273910" y="248507"/>
                </a:moveTo>
                <a:lnTo>
                  <a:pt x="463306" y="248507"/>
                </a:lnTo>
                <a:lnTo>
                  <a:pt x="476212" y="349148"/>
                </a:lnTo>
                <a:lnTo>
                  <a:pt x="261014" y="349148"/>
                </a:lnTo>
                <a:close/>
                <a:moveTo>
                  <a:pt x="495414" y="349110"/>
                </a:moveTo>
                <a:lnTo>
                  <a:pt x="482508" y="248507"/>
                </a:lnTo>
                <a:lnTo>
                  <a:pt x="667684" y="248507"/>
                </a:lnTo>
                <a:lnTo>
                  <a:pt x="712975" y="349148"/>
                </a:lnTo>
                <a:close/>
                <a:moveTo>
                  <a:pt x="600751" y="99736"/>
                </a:moveTo>
                <a:lnTo>
                  <a:pt x="463439" y="99736"/>
                </a:lnTo>
                <a:lnTo>
                  <a:pt x="453095" y="19050"/>
                </a:lnTo>
                <a:lnTo>
                  <a:pt x="564442" y="19050"/>
                </a:lnTo>
                <a:close/>
                <a:moveTo>
                  <a:pt x="172793" y="19050"/>
                </a:moveTo>
                <a:lnTo>
                  <a:pt x="284131" y="19050"/>
                </a:lnTo>
                <a:lnTo>
                  <a:pt x="273787" y="99736"/>
                </a:lnTo>
                <a:lnTo>
                  <a:pt x="136484" y="99736"/>
                </a:lnTo>
                <a:close/>
                <a:moveTo>
                  <a:pt x="19050" y="368160"/>
                </a:moveTo>
                <a:lnTo>
                  <a:pt x="718185" y="368160"/>
                </a:lnTo>
                <a:lnTo>
                  <a:pt x="718185" y="425672"/>
                </a:lnTo>
                <a:lnTo>
                  <a:pt x="19050" y="42567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 descr="Solar Panel Icon 24x24">
            <a:extLst>
              <a:ext uri="{FF2B5EF4-FFF2-40B4-BE49-F238E27FC236}">
                <a16:creationId xmlns:a16="http://schemas.microsoft.com/office/drawing/2014/main" id="{612D907F-4450-9CE9-8FC1-CFD6005F6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12" y="248876"/>
            <a:ext cx="326755" cy="32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D488D7E5-7EA2-095C-85CD-396C4CDD061E}"/>
              </a:ext>
            </a:extLst>
          </p:cNvPr>
          <p:cNvCxnSpPr>
            <a:cxnSpLocks/>
          </p:cNvCxnSpPr>
          <p:nvPr/>
        </p:nvCxnSpPr>
        <p:spPr>
          <a:xfrm>
            <a:off x="352630" y="1217528"/>
            <a:ext cx="17611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B084C84-0AEC-DA38-D898-8A7909FDBF27}"/>
              </a:ext>
            </a:extLst>
          </p:cNvPr>
          <p:cNvSpPr txBox="1"/>
          <p:nvPr/>
        </p:nvSpPr>
        <p:spPr>
          <a:xfrm>
            <a:off x="289128" y="1517652"/>
            <a:ext cx="10693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Tilt Angle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 (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Aptos Serif" panose="020B0502040204020203" pitchFamily="18" charset="0"/>
                <a:cs typeface="Aptos Serif" panose="020B0502040204020203" pitchFamily="18" charset="0"/>
              </a:rPr>
              <a:t>°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)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Aptos SemiBold" panose="020F0502020204030204" pitchFamily="34" charset="0"/>
              <a:cs typeface="Aldhabi" panose="020F0502020204030204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088D19-E2C5-793F-B196-F79CD64C16B5}"/>
              </a:ext>
            </a:extLst>
          </p:cNvPr>
          <p:cNvSpPr/>
          <p:nvPr/>
        </p:nvSpPr>
        <p:spPr>
          <a:xfrm>
            <a:off x="1351999" y="1539420"/>
            <a:ext cx="738430" cy="19982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9BF2C-4DCA-949F-A79F-08B144175A11}"/>
              </a:ext>
            </a:extLst>
          </p:cNvPr>
          <p:cNvSpPr txBox="1"/>
          <p:nvPr/>
        </p:nvSpPr>
        <p:spPr>
          <a:xfrm>
            <a:off x="295586" y="1787764"/>
            <a:ext cx="15799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Azimuth Angle (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rif" panose="020B0502040204020203" pitchFamily="18" charset="0"/>
                <a:cs typeface="Aptos Serif" panose="020B0502040204020203" pitchFamily="18" charset="0"/>
              </a:rPr>
              <a:t>°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8608A3-2CD7-7DF8-2906-3E2D6D54D151}"/>
              </a:ext>
            </a:extLst>
          </p:cNvPr>
          <p:cNvSpPr/>
          <p:nvPr/>
        </p:nvSpPr>
        <p:spPr>
          <a:xfrm>
            <a:off x="1358456" y="1809533"/>
            <a:ext cx="738430" cy="19982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A284960-1382-BD38-51CD-F0698C152D47}"/>
              </a:ext>
            </a:extLst>
          </p:cNvPr>
          <p:cNvGrpSpPr/>
          <p:nvPr/>
        </p:nvGrpSpPr>
        <p:grpSpPr>
          <a:xfrm>
            <a:off x="353485" y="1251428"/>
            <a:ext cx="1303524" cy="261610"/>
            <a:chOff x="353485" y="1251428"/>
            <a:chExt cx="1303524" cy="26161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6CEA5A-FE9D-074A-B96D-074295EC70FA}"/>
                </a:ext>
              </a:extLst>
            </p:cNvPr>
            <p:cNvSpPr txBox="1"/>
            <p:nvPr/>
          </p:nvSpPr>
          <p:spPr>
            <a:xfrm>
              <a:off x="359380" y="1251428"/>
              <a:ext cx="12976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Orientation</a:t>
              </a: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5B2D415-C4A3-B8DB-70D6-EEBDA3E0A855}"/>
                </a:ext>
              </a:extLst>
            </p:cNvPr>
            <p:cNvSpPr/>
            <p:nvPr/>
          </p:nvSpPr>
          <p:spPr>
            <a:xfrm rot="3600000">
              <a:off x="347478" y="1330159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161025-45CC-354B-6243-A189B955DD93}"/>
              </a:ext>
            </a:extLst>
          </p:cNvPr>
          <p:cNvGrpSpPr/>
          <p:nvPr/>
        </p:nvGrpSpPr>
        <p:grpSpPr>
          <a:xfrm>
            <a:off x="352630" y="2370380"/>
            <a:ext cx="1303524" cy="261610"/>
            <a:chOff x="353485" y="1251428"/>
            <a:chExt cx="1303524" cy="2616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32F0920-A2E8-02DD-3EE3-E16F7A478132}"/>
                </a:ext>
              </a:extLst>
            </p:cNvPr>
            <p:cNvSpPr txBox="1"/>
            <p:nvPr/>
          </p:nvSpPr>
          <p:spPr>
            <a:xfrm>
              <a:off x="359380" y="1251428"/>
              <a:ext cx="12976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PV Module</a:t>
              </a: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81EEF1C3-E1A0-844A-6DE8-06335116B473}"/>
                </a:ext>
              </a:extLst>
            </p:cNvPr>
            <p:cNvSpPr/>
            <p:nvPr/>
          </p:nvSpPr>
          <p:spPr>
            <a:xfrm rot="3600000">
              <a:off x="347478" y="1330159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2DB4758-3E1C-B56A-ED48-BA7CED0C3A14}"/>
              </a:ext>
            </a:extLst>
          </p:cNvPr>
          <p:cNvSpPr txBox="1"/>
          <p:nvPr/>
        </p:nvSpPr>
        <p:spPr>
          <a:xfrm>
            <a:off x="295585" y="2849214"/>
            <a:ext cx="9022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Power (Wp)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B91A75A-D18B-E6C7-4216-26A248F844FE}"/>
              </a:ext>
            </a:extLst>
          </p:cNvPr>
          <p:cNvSpPr/>
          <p:nvPr/>
        </p:nvSpPr>
        <p:spPr>
          <a:xfrm>
            <a:off x="1351999" y="2870982"/>
            <a:ext cx="744887" cy="1808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95D76F-70A1-6CDE-4689-B368CB7D47F2}"/>
              </a:ext>
            </a:extLst>
          </p:cNvPr>
          <p:cNvSpPr txBox="1"/>
          <p:nvPr/>
        </p:nvSpPr>
        <p:spPr>
          <a:xfrm>
            <a:off x="295585" y="3123669"/>
            <a:ext cx="1203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Long  Edge (mm)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6844A13-4DB4-744E-9A61-09DBFE81385F}"/>
              </a:ext>
            </a:extLst>
          </p:cNvPr>
          <p:cNvSpPr/>
          <p:nvPr/>
        </p:nvSpPr>
        <p:spPr>
          <a:xfrm>
            <a:off x="1351999" y="3145436"/>
            <a:ext cx="744887" cy="20465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8C1793-0EE8-22F7-AC38-C49DFCD75812}"/>
              </a:ext>
            </a:extLst>
          </p:cNvPr>
          <p:cNvSpPr txBox="1"/>
          <p:nvPr/>
        </p:nvSpPr>
        <p:spPr>
          <a:xfrm>
            <a:off x="298286" y="3416195"/>
            <a:ext cx="1200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Short Edge (mm)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D61FEE9-C58B-83FF-3C02-EC530A37FE52}"/>
              </a:ext>
            </a:extLst>
          </p:cNvPr>
          <p:cNvSpPr/>
          <p:nvPr/>
        </p:nvSpPr>
        <p:spPr>
          <a:xfrm>
            <a:off x="1358456" y="3437963"/>
            <a:ext cx="741131" cy="1970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97C3EAA-7B5E-89BF-E1DF-E4FCC021D9F8}"/>
              </a:ext>
            </a:extLst>
          </p:cNvPr>
          <p:cNvGrpSpPr/>
          <p:nvPr/>
        </p:nvGrpSpPr>
        <p:grpSpPr>
          <a:xfrm>
            <a:off x="344906" y="3684169"/>
            <a:ext cx="1542094" cy="261610"/>
            <a:chOff x="339011" y="1251428"/>
            <a:chExt cx="1542094" cy="26161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0E228B8-B17E-2FC3-5510-3D0EA1B61C42}"/>
                </a:ext>
              </a:extLst>
            </p:cNvPr>
            <p:cNvSpPr txBox="1"/>
            <p:nvPr/>
          </p:nvSpPr>
          <p:spPr>
            <a:xfrm>
              <a:off x="359380" y="1251428"/>
              <a:ext cx="15217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Mounting Structure</a:t>
              </a:r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3BB44574-CD54-1C60-26A9-2F056BCA90F9}"/>
                </a:ext>
              </a:extLst>
            </p:cNvPr>
            <p:cNvSpPr/>
            <p:nvPr/>
          </p:nvSpPr>
          <p:spPr>
            <a:xfrm rot="19800000">
              <a:off x="339011" y="1330159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F357169-BF26-8849-5F0A-1CF50AFC1433}"/>
              </a:ext>
            </a:extLst>
          </p:cNvPr>
          <p:cNvGrpSpPr/>
          <p:nvPr/>
        </p:nvGrpSpPr>
        <p:grpSpPr>
          <a:xfrm>
            <a:off x="377509" y="2588009"/>
            <a:ext cx="1713962" cy="246221"/>
            <a:chOff x="377509" y="2270956"/>
            <a:chExt cx="1713962" cy="246221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217F95C-F39D-9422-8150-6A573C3B1371}"/>
                </a:ext>
              </a:extLst>
            </p:cNvPr>
            <p:cNvSpPr/>
            <p:nvPr/>
          </p:nvSpPr>
          <p:spPr>
            <a:xfrm>
              <a:off x="391027" y="2283815"/>
              <a:ext cx="1700444" cy="2046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B2AE20E-E549-0F22-BE2D-54EEB67AD331}"/>
                </a:ext>
              </a:extLst>
            </p:cNvPr>
            <p:cNvSpPr txBox="1"/>
            <p:nvPr/>
          </p:nvSpPr>
          <p:spPr>
            <a:xfrm>
              <a:off x="377509" y="2270956"/>
              <a:ext cx="14377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Select from Library</a:t>
              </a:r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A0BB1E6-EF42-70F7-DD44-1B1802BF9234}"/>
                </a:ext>
              </a:extLst>
            </p:cNvPr>
            <p:cNvSpPr/>
            <p:nvPr/>
          </p:nvSpPr>
          <p:spPr>
            <a:xfrm rot="3600000">
              <a:off x="1962500" y="2338621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5011779-B509-2213-4E9B-6CD71AF464E4}"/>
              </a:ext>
            </a:extLst>
          </p:cNvPr>
          <p:cNvGrpSpPr/>
          <p:nvPr/>
        </p:nvGrpSpPr>
        <p:grpSpPr>
          <a:xfrm>
            <a:off x="344906" y="3955173"/>
            <a:ext cx="1542094" cy="261610"/>
            <a:chOff x="339011" y="1251428"/>
            <a:chExt cx="1542094" cy="261610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BF0A99F-D8DA-C2FB-B655-6EAB4A280D72}"/>
                </a:ext>
              </a:extLst>
            </p:cNvPr>
            <p:cNvSpPr txBox="1"/>
            <p:nvPr/>
          </p:nvSpPr>
          <p:spPr>
            <a:xfrm>
              <a:off x="359380" y="1251428"/>
              <a:ext cx="15217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Layout Options</a:t>
              </a:r>
            </a:p>
          </p:txBody>
        </p: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4007A2EA-3887-86CA-4252-441D3FD8D7FB}"/>
                </a:ext>
              </a:extLst>
            </p:cNvPr>
            <p:cNvSpPr/>
            <p:nvPr/>
          </p:nvSpPr>
          <p:spPr>
            <a:xfrm rot="19800000">
              <a:off x="339011" y="1330159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04BDE46-3D7A-1991-C759-E057D97E3365}"/>
              </a:ext>
            </a:extLst>
          </p:cNvPr>
          <p:cNvSpPr/>
          <p:nvPr/>
        </p:nvSpPr>
        <p:spPr>
          <a:xfrm>
            <a:off x="359380" y="2047733"/>
            <a:ext cx="1013752" cy="26097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Auto fill Azimuth Align To Area Edge</a:t>
            </a:r>
          </a:p>
        </p:txBody>
      </p:sp>
    </p:spTree>
    <p:extLst>
      <p:ext uri="{BB962C8B-B14F-4D97-AF65-F5344CB8AC3E}">
        <p14:creationId xmlns:p14="http://schemas.microsoft.com/office/powerpoint/2010/main" val="339163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B5BD6-B769-8F46-BD8F-AC18D0DD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FEC67E0-93EF-A63C-3201-A4438281F0C8}"/>
              </a:ext>
            </a:extLst>
          </p:cNvPr>
          <p:cNvSpPr/>
          <p:nvPr/>
        </p:nvSpPr>
        <p:spPr>
          <a:xfrm>
            <a:off x="296038" y="960531"/>
            <a:ext cx="2090790" cy="5330143"/>
          </a:xfrm>
          <a:prstGeom prst="roundRect">
            <a:avLst>
              <a:gd name="adj" fmla="val 3119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36EC8-022D-BEE0-26E2-E1EC5782176E}"/>
              </a:ext>
            </a:extLst>
          </p:cNvPr>
          <p:cNvSpPr txBox="1"/>
          <p:nvPr/>
        </p:nvSpPr>
        <p:spPr>
          <a:xfrm>
            <a:off x="300307" y="960532"/>
            <a:ext cx="1297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PV Design</a:t>
            </a:r>
          </a:p>
        </p:txBody>
      </p:sp>
      <p:sp>
        <p:nvSpPr>
          <p:cNvPr id="142" name="Isosceles Triangle 141">
            <a:extLst>
              <a:ext uri="{FF2B5EF4-FFF2-40B4-BE49-F238E27FC236}">
                <a16:creationId xmlns:a16="http://schemas.microsoft.com/office/drawing/2014/main" id="{7ECAE7F8-43D3-F60F-C7CC-F4C026DCA50B}"/>
              </a:ext>
            </a:extLst>
          </p:cNvPr>
          <p:cNvSpPr/>
          <p:nvPr/>
        </p:nvSpPr>
        <p:spPr>
          <a:xfrm rot="14400000">
            <a:off x="2221676" y="1186793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596662C0-82EB-5ECA-35CD-E913EAE395F2}"/>
              </a:ext>
            </a:extLst>
          </p:cNvPr>
          <p:cNvSpPr/>
          <p:nvPr/>
        </p:nvSpPr>
        <p:spPr>
          <a:xfrm>
            <a:off x="2236849" y="1306586"/>
            <a:ext cx="81768" cy="88106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Isosceles Triangle 143">
            <a:extLst>
              <a:ext uri="{FF2B5EF4-FFF2-40B4-BE49-F238E27FC236}">
                <a16:creationId xmlns:a16="http://schemas.microsoft.com/office/drawing/2014/main" id="{5B20F9CE-184E-CD07-0E97-3E09B61FD698}"/>
              </a:ext>
            </a:extLst>
          </p:cNvPr>
          <p:cNvSpPr/>
          <p:nvPr/>
        </p:nvSpPr>
        <p:spPr>
          <a:xfrm rot="3600000">
            <a:off x="2247585" y="5998252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4FBDB7B9-75FF-1174-79EB-5058A3555416}"/>
              </a:ext>
            </a:extLst>
          </p:cNvPr>
          <p:cNvCxnSpPr/>
          <p:nvPr/>
        </p:nvCxnSpPr>
        <p:spPr>
          <a:xfrm flipH="1">
            <a:off x="2285208" y="6182765"/>
            <a:ext cx="48536" cy="7302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FDD9CE62-B452-DA72-2835-5DBA3DC5FF0F}"/>
              </a:ext>
            </a:extLst>
          </p:cNvPr>
          <p:cNvCxnSpPr>
            <a:cxnSpLocks/>
          </p:cNvCxnSpPr>
          <p:nvPr/>
        </p:nvCxnSpPr>
        <p:spPr>
          <a:xfrm flipH="1">
            <a:off x="2308872" y="6203981"/>
            <a:ext cx="36546" cy="5498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Multiplication Sign 167">
            <a:extLst>
              <a:ext uri="{FF2B5EF4-FFF2-40B4-BE49-F238E27FC236}">
                <a16:creationId xmlns:a16="http://schemas.microsoft.com/office/drawing/2014/main" id="{5458CD21-D30B-CB44-0BC0-39D277951449}"/>
              </a:ext>
            </a:extLst>
          </p:cNvPr>
          <p:cNvSpPr/>
          <p:nvPr/>
        </p:nvSpPr>
        <p:spPr>
          <a:xfrm rot="5400000">
            <a:off x="2209343" y="1037217"/>
            <a:ext cx="125941" cy="108570"/>
          </a:xfrm>
          <a:prstGeom prst="mathMultiply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03B02BF-26EE-BC76-76A5-FF30A70FB132}"/>
              </a:ext>
            </a:extLst>
          </p:cNvPr>
          <p:cNvCxnSpPr>
            <a:cxnSpLocks/>
          </p:cNvCxnSpPr>
          <p:nvPr/>
        </p:nvCxnSpPr>
        <p:spPr>
          <a:xfrm>
            <a:off x="352630" y="1217528"/>
            <a:ext cx="17611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A431E2-8D94-90B2-4310-886F9CC22469}"/>
              </a:ext>
            </a:extLst>
          </p:cNvPr>
          <p:cNvSpPr txBox="1"/>
          <p:nvPr/>
        </p:nvSpPr>
        <p:spPr>
          <a:xfrm>
            <a:off x="359380" y="1251428"/>
            <a:ext cx="1297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Orientation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50B118-60B0-3BD6-D7DA-09F3F6D4277E}"/>
              </a:ext>
            </a:extLst>
          </p:cNvPr>
          <p:cNvSpPr txBox="1"/>
          <p:nvPr/>
        </p:nvSpPr>
        <p:spPr>
          <a:xfrm>
            <a:off x="365275" y="1708312"/>
            <a:ext cx="15217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Mounting Structure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28AFFCD-5D33-D489-6A64-2DE1111ABA8A}"/>
              </a:ext>
            </a:extLst>
          </p:cNvPr>
          <p:cNvGrpSpPr/>
          <p:nvPr/>
        </p:nvGrpSpPr>
        <p:grpSpPr>
          <a:xfrm>
            <a:off x="359380" y="5640472"/>
            <a:ext cx="1542094" cy="261610"/>
            <a:chOff x="339011" y="1251428"/>
            <a:chExt cx="1542094" cy="261610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96DD0CC-BEF5-CF3F-3FA1-F38F2C15B822}"/>
                </a:ext>
              </a:extLst>
            </p:cNvPr>
            <p:cNvSpPr txBox="1"/>
            <p:nvPr/>
          </p:nvSpPr>
          <p:spPr>
            <a:xfrm>
              <a:off x="359380" y="1251428"/>
              <a:ext cx="15217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Layout Options</a:t>
              </a:r>
            </a:p>
          </p:txBody>
        </p: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DAEC5187-117C-3D98-FAE3-2FC84A149BBA}"/>
                </a:ext>
              </a:extLst>
            </p:cNvPr>
            <p:cNvSpPr/>
            <p:nvPr/>
          </p:nvSpPr>
          <p:spPr>
            <a:xfrm rot="19800000">
              <a:off x="339011" y="1330159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D579F61-59F3-38E6-7B58-FE58826FE466}"/>
              </a:ext>
            </a:extLst>
          </p:cNvPr>
          <p:cNvSpPr/>
          <p:nvPr/>
        </p:nvSpPr>
        <p:spPr>
          <a:xfrm rot="19800000">
            <a:off x="339824" y="1320631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058275-DFD2-5DFA-6F0E-6BE91FA72723}"/>
              </a:ext>
            </a:extLst>
          </p:cNvPr>
          <p:cNvSpPr txBox="1"/>
          <p:nvPr/>
        </p:nvSpPr>
        <p:spPr>
          <a:xfrm>
            <a:off x="359380" y="1479870"/>
            <a:ext cx="1297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PV Module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0719404-8D43-CFE0-2A06-E93D55DB2F8F}"/>
              </a:ext>
            </a:extLst>
          </p:cNvPr>
          <p:cNvSpPr/>
          <p:nvPr/>
        </p:nvSpPr>
        <p:spPr>
          <a:xfrm rot="19800000">
            <a:off x="339824" y="1549073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1B3BE0A-8946-10F4-FDCF-405C203CD278}"/>
              </a:ext>
            </a:extLst>
          </p:cNvPr>
          <p:cNvSpPr/>
          <p:nvPr/>
        </p:nvSpPr>
        <p:spPr>
          <a:xfrm rot="3600000">
            <a:off x="370118" y="1781984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B5319F-4C56-31D9-7E28-EB85DB78187D}"/>
              </a:ext>
            </a:extLst>
          </p:cNvPr>
          <p:cNvGrpSpPr/>
          <p:nvPr/>
        </p:nvGrpSpPr>
        <p:grpSpPr>
          <a:xfrm>
            <a:off x="347963" y="1959199"/>
            <a:ext cx="1713962" cy="246221"/>
            <a:chOff x="377509" y="2270956"/>
            <a:chExt cx="1713962" cy="24622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05D2BD5-8AD0-3304-C44E-40684D2F3923}"/>
                </a:ext>
              </a:extLst>
            </p:cNvPr>
            <p:cNvSpPr/>
            <p:nvPr/>
          </p:nvSpPr>
          <p:spPr>
            <a:xfrm>
              <a:off x="391027" y="2283815"/>
              <a:ext cx="1700444" cy="2046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AA75623-7AFB-A790-ECA9-823423D1D181}"/>
                </a:ext>
              </a:extLst>
            </p:cNvPr>
            <p:cNvSpPr txBox="1"/>
            <p:nvPr/>
          </p:nvSpPr>
          <p:spPr>
            <a:xfrm>
              <a:off x="377509" y="2270956"/>
              <a:ext cx="14377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Select Type</a:t>
              </a:r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0A95F003-8D87-2DEC-0F7B-7E37C5DF329C}"/>
                </a:ext>
              </a:extLst>
            </p:cNvPr>
            <p:cNvSpPr/>
            <p:nvPr/>
          </p:nvSpPr>
          <p:spPr>
            <a:xfrm rot="3600000">
              <a:off x="1962500" y="2338621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CCDB485-456F-E4EC-9623-790A7256E5F0}"/>
              </a:ext>
            </a:extLst>
          </p:cNvPr>
          <p:cNvGrpSpPr/>
          <p:nvPr/>
        </p:nvGrpSpPr>
        <p:grpSpPr>
          <a:xfrm>
            <a:off x="296038" y="3176923"/>
            <a:ext cx="1865149" cy="246221"/>
            <a:chOff x="303693" y="2918510"/>
            <a:chExt cx="1865149" cy="24622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7646BBB-16EC-0400-5D28-49B576E2D2FA}"/>
                </a:ext>
              </a:extLst>
            </p:cNvPr>
            <p:cNvSpPr txBox="1"/>
            <p:nvPr/>
          </p:nvSpPr>
          <p:spPr>
            <a:xfrm>
              <a:off x="303693" y="2918510"/>
              <a:ext cx="9022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PV/Table (X)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61FB6CA-3F06-9339-485F-0584ED48E33B}"/>
                </a:ext>
              </a:extLst>
            </p:cNvPr>
            <p:cNvSpPr/>
            <p:nvPr/>
          </p:nvSpPr>
          <p:spPr>
            <a:xfrm>
              <a:off x="1423955" y="2940278"/>
              <a:ext cx="744887" cy="18087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FF4E443-FC35-63C6-768F-1F90A0855600}"/>
              </a:ext>
            </a:extLst>
          </p:cNvPr>
          <p:cNvGrpSpPr/>
          <p:nvPr/>
        </p:nvGrpSpPr>
        <p:grpSpPr>
          <a:xfrm>
            <a:off x="296038" y="3441159"/>
            <a:ext cx="1865148" cy="246221"/>
            <a:chOff x="303693" y="2752919"/>
            <a:chExt cx="1865148" cy="24622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D3941DC-09AB-03F6-DAE3-9C5A4A9F569D}"/>
                </a:ext>
              </a:extLst>
            </p:cNvPr>
            <p:cNvSpPr txBox="1"/>
            <p:nvPr/>
          </p:nvSpPr>
          <p:spPr>
            <a:xfrm>
              <a:off x="303693" y="2752919"/>
              <a:ext cx="12031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PV/Table (Y)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EED0261-384C-38C1-B345-92CC440E9DFE}"/>
                </a:ext>
              </a:extLst>
            </p:cNvPr>
            <p:cNvSpPr/>
            <p:nvPr/>
          </p:nvSpPr>
          <p:spPr>
            <a:xfrm>
              <a:off x="1423954" y="2774686"/>
              <a:ext cx="744887" cy="2046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6953153-0B42-A17D-0A89-11A51FC6ECFF}"/>
              </a:ext>
            </a:extLst>
          </p:cNvPr>
          <p:cNvGrpSpPr/>
          <p:nvPr/>
        </p:nvGrpSpPr>
        <p:grpSpPr>
          <a:xfrm>
            <a:off x="312257" y="2299294"/>
            <a:ext cx="1103164" cy="221742"/>
            <a:chOff x="331992" y="2218372"/>
            <a:chExt cx="1103164" cy="221742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ECC032C3-8407-6487-AE4A-FF0BD3AE96FD}"/>
                </a:ext>
              </a:extLst>
            </p:cNvPr>
            <p:cNvSpPr/>
            <p:nvPr/>
          </p:nvSpPr>
          <p:spPr>
            <a:xfrm>
              <a:off x="384145" y="2256722"/>
              <a:ext cx="947449" cy="153443"/>
            </a:xfrm>
            <a:prstGeom prst="roundRect">
              <a:avLst/>
            </a:prstGeom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6E22051F-2AD8-5BDC-BE2F-3F9EB99F9BD2}"/>
                </a:ext>
              </a:extLst>
            </p:cNvPr>
            <p:cNvSpPr/>
            <p:nvPr/>
          </p:nvSpPr>
          <p:spPr>
            <a:xfrm>
              <a:off x="409802" y="2269423"/>
              <a:ext cx="394967" cy="12906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4FB582D-15D0-60B9-5676-844ABDCDC982}"/>
                </a:ext>
              </a:extLst>
            </p:cNvPr>
            <p:cNvSpPr txBox="1"/>
            <p:nvPr/>
          </p:nvSpPr>
          <p:spPr>
            <a:xfrm>
              <a:off x="331992" y="2218372"/>
              <a:ext cx="6820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Portrait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6BCF6D6-7606-7C01-5CAE-B07F232286CB}"/>
                </a:ext>
              </a:extLst>
            </p:cNvPr>
            <p:cNvSpPr txBox="1"/>
            <p:nvPr/>
          </p:nvSpPr>
          <p:spPr>
            <a:xfrm>
              <a:off x="707087" y="2224670"/>
              <a:ext cx="72806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 Landscape</a:t>
              </a:r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E8772059-C675-0730-7A57-B9C23C40DF8E}"/>
              </a:ext>
            </a:extLst>
          </p:cNvPr>
          <p:cNvSpPr/>
          <p:nvPr/>
        </p:nvSpPr>
        <p:spPr>
          <a:xfrm>
            <a:off x="1652868" y="2324972"/>
            <a:ext cx="108753" cy="17474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269AF5A-1C18-8F23-F953-148337B3233D}"/>
              </a:ext>
            </a:extLst>
          </p:cNvPr>
          <p:cNvCxnSpPr>
            <a:cxnSpLocks/>
          </p:cNvCxnSpPr>
          <p:nvPr/>
        </p:nvCxnSpPr>
        <p:spPr>
          <a:xfrm>
            <a:off x="1598492" y="2528942"/>
            <a:ext cx="289064" cy="0"/>
          </a:xfrm>
          <a:prstGeom prst="straightConnector1">
            <a:avLst/>
          </a:prstGeom>
          <a:ln w="3175"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A1BEE1F-1DFA-87F4-5D07-3AAEFE303959}"/>
              </a:ext>
            </a:extLst>
          </p:cNvPr>
          <p:cNvCxnSpPr>
            <a:cxnSpLocks/>
          </p:cNvCxnSpPr>
          <p:nvPr/>
        </p:nvCxnSpPr>
        <p:spPr>
          <a:xfrm flipV="1">
            <a:off x="1598492" y="2294970"/>
            <a:ext cx="0" cy="228396"/>
          </a:xfrm>
          <a:prstGeom prst="straightConnector1">
            <a:avLst/>
          </a:prstGeom>
          <a:ln w="3175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C7C2D558-05EF-1656-9FBD-94A1F98D9D84}"/>
              </a:ext>
            </a:extLst>
          </p:cNvPr>
          <p:cNvSpPr txBox="1"/>
          <p:nvPr/>
        </p:nvSpPr>
        <p:spPr>
          <a:xfrm>
            <a:off x="1806729" y="2427118"/>
            <a:ext cx="2407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X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F0D2DDC-FADB-6950-998C-355F990BA2E6}"/>
              </a:ext>
            </a:extLst>
          </p:cNvPr>
          <p:cNvSpPr txBox="1"/>
          <p:nvPr/>
        </p:nvSpPr>
        <p:spPr>
          <a:xfrm>
            <a:off x="1423017" y="2211353"/>
            <a:ext cx="2407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ABB6E19-5B5C-05DD-7251-44BEAF6632B1}"/>
              </a:ext>
            </a:extLst>
          </p:cNvPr>
          <p:cNvGrpSpPr/>
          <p:nvPr/>
        </p:nvGrpSpPr>
        <p:grpSpPr>
          <a:xfrm>
            <a:off x="296038" y="3709304"/>
            <a:ext cx="1865148" cy="246221"/>
            <a:chOff x="303693" y="2752919"/>
            <a:chExt cx="1865148" cy="246221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B668389-E6D9-03DA-6E40-460A77C48637}"/>
                </a:ext>
              </a:extLst>
            </p:cNvPr>
            <p:cNvSpPr txBox="1"/>
            <p:nvPr/>
          </p:nvSpPr>
          <p:spPr>
            <a:xfrm>
              <a:off x="303693" y="2752919"/>
              <a:ext cx="12031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Table Distance (x)</a:t>
              </a: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329CAD2B-4B74-91B4-7615-96B1573188E1}"/>
                </a:ext>
              </a:extLst>
            </p:cNvPr>
            <p:cNvSpPr/>
            <p:nvPr/>
          </p:nvSpPr>
          <p:spPr>
            <a:xfrm>
              <a:off x="1423954" y="2774686"/>
              <a:ext cx="744887" cy="2046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8E68689-F932-71A9-AAD5-A6CB3043E319}"/>
              </a:ext>
            </a:extLst>
          </p:cNvPr>
          <p:cNvGrpSpPr/>
          <p:nvPr/>
        </p:nvGrpSpPr>
        <p:grpSpPr>
          <a:xfrm>
            <a:off x="296038" y="3973540"/>
            <a:ext cx="1865148" cy="246221"/>
            <a:chOff x="303693" y="2752919"/>
            <a:chExt cx="1865148" cy="246221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D0772AE-2714-9D92-E2FD-B839BC26DAC4}"/>
                </a:ext>
              </a:extLst>
            </p:cNvPr>
            <p:cNvSpPr txBox="1"/>
            <p:nvPr/>
          </p:nvSpPr>
          <p:spPr>
            <a:xfrm>
              <a:off x="303693" y="2752919"/>
              <a:ext cx="12031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Table Distance (y)</a:t>
              </a: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E1F0D330-81D5-3644-D3DB-78F7297558CE}"/>
                </a:ext>
              </a:extLst>
            </p:cNvPr>
            <p:cNvSpPr/>
            <p:nvPr/>
          </p:nvSpPr>
          <p:spPr>
            <a:xfrm>
              <a:off x="1423954" y="2774686"/>
              <a:ext cx="744887" cy="2046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F9EBE47-961D-4F42-C3D5-325AE5B39F00}"/>
              </a:ext>
            </a:extLst>
          </p:cNvPr>
          <p:cNvGrpSpPr/>
          <p:nvPr/>
        </p:nvGrpSpPr>
        <p:grpSpPr>
          <a:xfrm>
            <a:off x="296038" y="2648451"/>
            <a:ext cx="1865148" cy="246221"/>
            <a:chOff x="303693" y="2752919"/>
            <a:chExt cx="1865148" cy="246221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D5B2B895-C323-52FF-B78E-38CF218165B0}"/>
                </a:ext>
              </a:extLst>
            </p:cNvPr>
            <p:cNvSpPr txBox="1"/>
            <p:nvPr/>
          </p:nvSpPr>
          <p:spPr>
            <a:xfrm>
              <a:off x="303693" y="2752919"/>
              <a:ext cx="12031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PV-PV space (X)</a:t>
              </a: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78E65F01-0095-1067-17A2-2D22918D9EE0}"/>
                </a:ext>
              </a:extLst>
            </p:cNvPr>
            <p:cNvSpPr/>
            <p:nvPr/>
          </p:nvSpPr>
          <p:spPr>
            <a:xfrm>
              <a:off x="1423954" y="2774686"/>
              <a:ext cx="744887" cy="2046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5434932-88F3-6A6E-8C83-C87A24465D78}"/>
              </a:ext>
            </a:extLst>
          </p:cNvPr>
          <p:cNvGrpSpPr/>
          <p:nvPr/>
        </p:nvGrpSpPr>
        <p:grpSpPr>
          <a:xfrm>
            <a:off x="296038" y="2912687"/>
            <a:ext cx="1865148" cy="246221"/>
            <a:chOff x="303693" y="2752919"/>
            <a:chExt cx="1865148" cy="246221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14FABD0-CE3B-7549-3F34-CCD1143D3249}"/>
                </a:ext>
              </a:extLst>
            </p:cNvPr>
            <p:cNvSpPr txBox="1"/>
            <p:nvPr/>
          </p:nvSpPr>
          <p:spPr>
            <a:xfrm>
              <a:off x="303693" y="2752919"/>
              <a:ext cx="12031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PV-PV space (Y)</a:t>
              </a:r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D03D36D-55B7-FA54-3223-5C275E78AD3D}"/>
                </a:ext>
              </a:extLst>
            </p:cNvPr>
            <p:cNvSpPr/>
            <p:nvPr/>
          </p:nvSpPr>
          <p:spPr>
            <a:xfrm>
              <a:off x="1423954" y="2774686"/>
              <a:ext cx="744887" cy="2046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137E49E-EEDA-80C0-237F-57529EAE7FCD}"/>
              </a:ext>
            </a:extLst>
          </p:cNvPr>
          <p:cNvGrpSpPr/>
          <p:nvPr/>
        </p:nvGrpSpPr>
        <p:grpSpPr>
          <a:xfrm>
            <a:off x="302384" y="4421750"/>
            <a:ext cx="1865149" cy="246221"/>
            <a:chOff x="303693" y="2918510"/>
            <a:chExt cx="1865149" cy="246221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11EC738-92C5-3AB7-B797-2CFD223A0906}"/>
                </a:ext>
              </a:extLst>
            </p:cNvPr>
            <p:cNvSpPr txBox="1"/>
            <p:nvPr/>
          </p:nvSpPr>
          <p:spPr>
            <a:xfrm>
              <a:off x="303693" y="2918510"/>
              <a:ext cx="14317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Table/ Block (X)</a:t>
              </a:r>
            </a:p>
          </p:txBody>
        </p:sp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4BD2EAE1-0399-1934-7C55-B54179168376}"/>
                </a:ext>
              </a:extLst>
            </p:cNvPr>
            <p:cNvSpPr/>
            <p:nvPr/>
          </p:nvSpPr>
          <p:spPr>
            <a:xfrm>
              <a:off x="1423955" y="2940278"/>
              <a:ext cx="744887" cy="18087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DBC5918-A22C-FD70-29A7-20A76789FF2C}"/>
              </a:ext>
            </a:extLst>
          </p:cNvPr>
          <p:cNvGrpSpPr/>
          <p:nvPr/>
        </p:nvGrpSpPr>
        <p:grpSpPr>
          <a:xfrm>
            <a:off x="302384" y="4685986"/>
            <a:ext cx="1865148" cy="246221"/>
            <a:chOff x="303693" y="2752919"/>
            <a:chExt cx="1865148" cy="246221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3981B500-DCCB-F212-7F56-5DBF858B6FC7}"/>
                </a:ext>
              </a:extLst>
            </p:cNvPr>
            <p:cNvSpPr txBox="1"/>
            <p:nvPr/>
          </p:nvSpPr>
          <p:spPr>
            <a:xfrm>
              <a:off x="303693" y="2752919"/>
              <a:ext cx="12031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Table/ Block (Y)</a:t>
              </a:r>
            </a:p>
          </p:txBody>
        </p:sp>
        <p:sp>
          <p:nvSpPr>
            <p:cNvPr id="136" name="Rectangle: Rounded Corners 135">
              <a:extLst>
                <a:ext uri="{FF2B5EF4-FFF2-40B4-BE49-F238E27FC236}">
                  <a16:creationId xmlns:a16="http://schemas.microsoft.com/office/drawing/2014/main" id="{870E816D-8109-1882-8080-3A1C6C39276C}"/>
                </a:ext>
              </a:extLst>
            </p:cNvPr>
            <p:cNvSpPr/>
            <p:nvPr/>
          </p:nvSpPr>
          <p:spPr>
            <a:xfrm>
              <a:off x="1423954" y="2774686"/>
              <a:ext cx="744887" cy="2046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D04BBBF-5D52-BEDA-6E07-B4E9835FFEED}"/>
              </a:ext>
            </a:extLst>
          </p:cNvPr>
          <p:cNvGrpSpPr/>
          <p:nvPr/>
        </p:nvGrpSpPr>
        <p:grpSpPr>
          <a:xfrm>
            <a:off x="302384" y="4950222"/>
            <a:ext cx="1865148" cy="246221"/>
            <a:chOff x="303693" y="2752919"/>
            <a:chExt cx="1865148" cy="246221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AAD5E1C-356B-D034-EF00-11C7410E7154}"/>
                </a:ext>
              </a:extLst>
            </p:cNvPr>
            <p:cNvSpPr txBox="1"/>
            <p:nvPr/>
          </p:nvSpPr>
          <p:spPr>
            <a:xfrm>
              <a:off x="303693" y="2752919"/>
              <a:ext cx="12031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Block Distance (x)</a:t>
              </a:r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4538435B-9EAA-3A86-035E-7C45652CB9AB}"/>
                </a:ext>
              </a:extLst>
            </p:cNvPr>
            <p:cNvSpPr/>
            <p:nvPr/>
          </p:nvSpPr>
          <p:spPr>
            <a:xfrm>
              <a:off x="1423954" y="2774686"/>
              <a:ext cx="744887" cy="2046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0EE2A60-7DF1-DAF3-EB23-BF470CE17624}"/>
              </a:ext>
            </a:extLst>
          </p:cNvPr>
          <p:cNvGrpSpPr/>
          <p:nvPr/>
        </p:nvGrpSpPr>
        <p:grpSpPr>
          <a:xfrm>
            <a:off x="302384" y="5214460"/>
            <a:ext cx="1865148" cy="246221"/>
            <a:chOff x="303693" y="2752919"/>
            <a:chExt cx="1865148" cy="246221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752B1A0-7D41-5106-AD64-AA0D2C97BB58}"/>
                </a:ext>
              </a:extLst>
            </p:cNvPr>
            <p:cNvSpPr txBox="1"/>
            <p:nvPr/>
          </p:nvSpPr>
          <p:spPr>
            <a:xfrm>
              <a:off x="303693" y="2752919"/>
              <a:ext cx="12031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Block Distance (y)</a:t>
              </a:r>
            </a:p>
          </p:txBody>
        </p:sp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D3489D5E-CD37-C438-F4E9-FA761D357182}"/>
                </a:ext>
              </a:extLst>
            </p:cNvPr>
            <p:cNvSpPr/>
            <p:nvPr/>
          </p:nvSpPr>
          <p:spPr>
            <a:xfrm>
              <a:off x="1423954" y="2774686"/>
              <a:ext cx="744887" cy="2046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EBDA459C-113A-0B7E-6587-EB40BC280096}"/>
              </a:ext>
            </a:extLst>
          </p:cNvPr>
          <p:cNvGrpSpPr/>
          <p:nvPr/>
        </p:nvGrpSpPr>
        <p:grpSpPr>
          <a:xfrm>
            <a:off x="383371" y="4223304"/>
            <a:ext cx="2110494" cy="184666"/>
            <a:chOff x="333932" y="1290453"/>
            <a:chExt cx="2110494" cy="184666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ED2CAC1A-E5D4-1D20-5CA8-E97AFF20CE15}"/>
                </a:ext>
              </a:extLst>
            </p:cNvPr>
            <p:cNvSpPr txBox="1"/>
            <p:nvPr/>
          </p:nvSpPr>
          <p:spPr>
            <a:xfrm>
              <a:off x="333932" y="1290453"/>
              <a:ext cx="211049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Detailed Table configuration</a:t>
              </a:r>
            </a:p>
          </p:txBody>
        </p:sp>
        <p:sp>
          <p:nvSpPr>
            <p:cNvPr id="155" name="Isosceles Triangle 154">
              <a:extLst>
                <a:ext uri="{FF2B5EF4-FFF2-40B4-BE49-F238E27FC236}">
                  <a16:creationId xmlns:a16="http://schemas.microsoft.com/office/drawing/2014/main" id="{8577C833-CBB0-8B74-4E56-863570432C70}"/>
                </a:ext>
              </a:extLst>
            </p:cNvPr>
            <p:cNvSpPr/>
            <p:nvPr/>
          </p:nvSpPr>
          <p:spPr>
            <a:xfrm rot="19800000">
              <a:off x="345106" y="1351678"/>
              <a:ext cx="53034" cy="45719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44C147AA-C382-426D-30C7-4099FA841808}"/>
              </a:ext>
            </a:extLst>
          </p:cNvPr>
          <p:cNvGrpSpPr/>
          <p:nvPr/>
        </p:nvGrpSpPr>
        <p:grpSpPr>
          <a:xfrm>
            <a:off x="3113638" y="207943"/>
            <a:ext cx="420624" cy="402336"/>
            <a:chOff x="539111" y="970049"/>
            <a:chExt cx="420624" cy="402336"/>
          </a:xfrm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94AB0755-DC9D-B553-E6E2-91F60D2CCF40}"/>
                </a:ext>
              </a:extLst>
            </p:cNvPr>
            <p:cNvSpPr/>
            <p:nvPr/>
          </p:nvSpPr>
          <p:spPr>
            <a:xfrm>
              <a:off x="539111" y="970049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0" name="Graphic 159" descr="Pencil outline">
              <a:extLst>
                <a:ext uri="{FF2B5EF4-FFF2-40B4-BE49-F238E27FC236}">
                  <a16:creationId xmlns:a16="http://schemas.microsoft.com/office/drawing/2014/main" id="{38AE911F-C2CE-4028-526A-EC9628C5E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222" y="997097"/>
              <a:ext cx="364067" cy="364067"/>
            </a:xfrm>
            <a:prstGeom prst="rect">
              <a:avLst/>
            </a:prstGeom>
          </p:spPr>
        </p:pic>
      </p:grp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CC5E8AB8-10F1-818A-0C73-BF713A44637B}"/>
              </a:ext>
            </a:extLst>
          </p:cNvPr>
          <p:cNvSpPr/>
          <p:nvPr/>
        </p:nvSpPr>
        <p:spPr>
          <a:xfrm rot="5400000">
            <a:off x="2446552" y="-2010369"/>
            <a:ext cx="539203" cy="485314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6B6A99A-B9E1-DF0E-BE98-B0D25D20BDBE}"/>
              </a:ext>
            </a:extLst>
          </p:cNvPr>
          <p:cNvGrpSpPr/>
          <p:nvPr/>
        </p:nvGrpSpPr>
        <p:grpSpPr>
          <a:xfrm>
            <a:off x="391026" y="213973"/>
            <a:ext cx="420624" cy="402336"/>
            <a:chOff x="525780" y="493776"/>
            <a:chExt cx="420624" cy="402336"/>
          </a:xfrm>
        </p:grpSpPr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BC583748-966E-9625-E597-BB80005D32C4}"/>
                </a:ext>
              </a:extLst>
            </p:cNvPr>
            <p:cNvSpPr/>
            <p:nvPr/>
          </p:nvSpPr>
          <p:spPr>
            <a:xfrm>
              <a:off x="525780" y="493776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1" name="Graphic 170" descr="Magnifying glass outline">
              <a:extLst>
                <a:ext uri="{FF2B5EF4-FFF2-40B4-BE49-F238E27FC236}">
                  <a16:creationId xmlns:a16="http://schemas.microsoft.com/office/drawing/2014/main" id="{3055B3E5-1E3E-5E20-35CF-1EC53E73F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8895" y="517747"/>
              <a:ext cx="354394" cy="354394"/>
            </a:xfrm>
            <a:prstGeom prst="rect">
              <a:avLst/>
            </a:prstGeom>
          </p:spPr>
        </p:pic>
      </p:grp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59FAD393-01B7-2802-5DB9-F43F2938CA06}"/>
              </a:ext>
            </a:extLst>
          </p:cNvPr>
          <p:cNvSpPr/>
          <p:nvPr/>
        </p:nvSpPr>
        <p:spPr>
          <a:xfrm>
            <a:off x="2451899" y="213973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C00822D-6F63-D6C7-E746-99EE49327817}"/>
              </a:ext>
            </a:extLst>
          </p:cNvPr>
          <p:cNvGrpSpPr/>
          <p:nvPr/>
        </p:nvGrpSpPr>
        <p:grpSpPr>
          <a:xfrm>
            <a:off x="1951761" y="213973"/>
            <a:ext cx="420624" cy="402336"/>
            <a:chOff x="525780" y="1946337"/>
            <a:chExt cx="420624" cy="402336"/>
          </a:xfrm>
        </p:grpSpPr>
        <p:sp>
          <p:nvSpPr>
            <p:cNvPr id="179" name="Rectangle: Rounded Corners 178">
              <a:extLst>
                <a:ext uri="{FF2B5EF4-FFF2-40B4-BE49-F238E27FC236}">
                  <a16:creationId xmlns:a16="http://schemas.microsoft.com/office/drawing/2014/main" id="{F9C05BC9-EFBD-0FB7-FD73-845D75C3008D}"/>
                </a:ext>
              </a:extLst>
            </p:cNvPr>
            <p:cNvSpPr/>
            <p:nvPr/>
          </p:nvSpPr>
          <p:spPr>
            <a:xfrm>
              <a:off x="525780" y="1946337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0" name="Graphic 179" descr="Electric Tower outline">
              <a:extLst>
                <a:ext uri="{FF2B5EF4-FFF2-40B4-BE49-F238E27FC236}">
                  <a16:creationId xmlns:a16="http://schemas.microsoft.com/office/drawing/2014/main" id="{AC4EF145-5D23-EC28-2F4C-8A2F48F0A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4039" y="1972880"/>
              <a:ext cx="349250" cy="349250"/>
            </a:xfrm>
            <a:prstGeom prst="rect">
              <a:avLst/>
            </a:prstGeom>
          </p:spPr>
        </p:pic>
      </p:grp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C777CC75-CD35-B493-BC46-6BBC2E4DDE28}"/>
              </a:ext>
            </a:extLst>
          </p:cNvPr>
          <p:cNvCxnSpPr>
            <a:cxnSpLocks/>
          </p:cNvCxnSpPr>
          <p:nvPr/>
        </p:nvCxnSpPr>
        <p:spPr>
          <a:xfrm>
            <a:off x="2993080" y="272978"/>
            <a:ext cx="0" cy="30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209648E-5A3C-268D-C697-E01E4D9428C2}"/>
              </a:ext>
            </a:extLst>
          </p:cNvPr>
          <p:cNvGrpSpPr/>
          <p:nvPr/>
        </p:nvGrpSpPr>
        <p:grpSpPr>
          <a:xfrm>
            <a:off x="4627102" y="205188"/>
            <a:ext cx="420624" cy="402336"/>
            <a:chOff x="531114" y="4073969"/>
            <a:chExt cx="420624" cy="402336"/>
          </a:xfrm>
        </p:grpSpPr>
        <p:sp>
          <p:nvSpPr>
            <p:cNvPr id="184" name="Rectangle: Rounded Corners 183">
              <a:extLst>
                <a:ext uri="{FF2B5EF4-FFF2-40B4-BE49-F238E27FC236}">
                  <a16:creationId xmlns:a16="http://schemas.microsoft.com/office/drawing/2014/main" id="{4034A8B6-790E-FEB6-F842-C5DED1F48714}"/>
                </a:ext>
              </a:extLst>
            </p:cNvPr>
            <p:cNvSpPr/>
            <p:nvPr/>
          </p:nvSpPr>
          <p:spPr>
            <a:xfrm>
              <a:off x="531114" y="4073969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5" name="Graphic 184" descr="Disk outline">
              <a:extLst>
                <a:ext uri="{FF2B5EF4-FFF2-40B4-BE49-F238E27FC236}">
                  <a16:creationId xmlns:a16="http://schemas.microsoft.com/office/drawing/2014/main" id="{F500794C-AE8E-CF24-54C9-790B53B20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4039" y="4100512"/>
              <a:ext cx="349250" cy="34925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E1B5C5A-3DB1-CE22-253B-D1DC58C8CE3E}"/>
              </a:ext>
            </a:extLst>
          </p:cNvPr>
          <p:cNvGrpSpPr/>
          <p:nvPr/>
        </p:nvGrpSpPr>
        <p:grpSpPr>
          <a:xfrm>
            <a:off x="4126964" y="205188"/>
            <a:ext cx="420624" cy="402336"/>
            <a:chOff x="531114" y="3589782"/>
            <a:chExt cx="420624" cy="402336"/>
          </a:xfrm>
        </p:grpSpPr>
        <p:sp>
          <p:nvSpPr>
            <p:cNvPr id="187" name="Rectangle: Rounded Corners 186">
              <a:extLst>
                <a:ext uri="{FF2B5EF4-FFF2-40B4-BE49-F238E27FC236}">
                  <a16:creationId xmlns:a16="http://schemas.microsoft.com/office/drawing/2014/main" id="{AEC04EE2-F10A-553F-3EDE-EE1C46A9907A}"/>
                </a:ext>
              </a:extLst>
            </p:cNvPr>
            <p:cNvSpPr/>
            <p:nvPr/>
          </p:nvSpPr>
          <p:spPr>
            <a:xfrm>
              <a:off x="531114" y="3589782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8" name="Graphic 187" descr="Share outline">
              <a:extLst>
                <a:ext uri="{FF2B5EF4-FFF2-40B4-BE49-F238E27FC236}">
                  <a16:creationId xmlns:a16="http://schemas.microsoft.com/office/drawing/2014/main" id="{43338245-D7E5-05D0-4C3D-E3AC8E9F5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8329" y="3633470"/>
              <a:ext cx="314960" cy="314960"/>
            </a:xfrm>
            <a:prstGeom prst="rect">
              <a:avLst/>
            </a:prstGeom>
          </p:spPr>
        </p:pic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9A65D62-270B-C856-95C3-CE14C505BE41}"/>
              </a:ext>
            </a:extLst>
          </p:cNvPr>
          <p:cNvGrpSpPr/>
          <p:nvPr/>
        </p:nvGrpSpPr>
        <p:grpSpPr>
          <a:xfrm>
            <a:off x="3610894" y="205188"/>
            <a:ext cx="420624" cy="402336"/>
            <a:chOff x="531114" y="3105595"/>
            <a:chExt cx="420624" cy="402336"/>
          </a:xfrm>
        </p:grpSpPr>
        <p:sp>
          <p:nvSpPr>
            <p:cNvPr id="190" name="Rectangle: Rounded Corners 189">
              <a:extLst>
                <a:ext uri="{FF2B5EF4-FFF2-40B4-BE49-F238E27FC236}">
                  <a16:creationId xmlns:a16="http://schemas.microsoft.com/office/drawing/2014/main" id="{4D1548FE-DBC1-A8CD-08A2-D1F93A7B0D14}"/>
                </a:ext>
              </a:extLst>
            </p:cNvPr>
            <p:cNvSpPr/>
            <p:nvPr/>
          </p:nvSpPr>
          <p:spPr>
            <a:xfrm>
              <a:off x="531114" y="3105595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4" name="Graphic 1023" descr="Layers Design outline">
              <a:extLst>
                <a:ext uri="{FF2B5EF4-FFF2-40B4-BE49-F238E27FC236}">
                  <a16:creationId xmlns:a16="http://schemas.microsoft.com/office/drawing/2014/main" id="{00B8B0D5-22AB-EAF3-6379-D0DE3A20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8895" y="3126296"/>
              <a:ext cx="347133" cy="347133"/>
            </a:xfrm>
            <a:prstGeom prst="rect">
              <a:avLst/>
            </a:prstGeom>
          </p:spPr>
        </p:pic>
      </p:grpSp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A03A1D42-E32A-6036-3FA6-F12F1FA3AB56}"/>
              </a:ext>
            </a:extLst>
          </p:cNvPr>
          <p:cNvSpPr/>
          <p:nvPr/>
        </p:nvSpPr>
        <p:spPr>
          <a:xfrm>
            <a:off x="1435156" y="213973"/>
            <a:ext cx="420624" cy="40233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33F4BF6B-DA0C-B451-02F5-4F71335883C2}"/>
              </a:ext>
            </a:extLst>
          </p:cNvPr>
          <p:cNvGrpSpPr/>
          <p:nvPr/>
        </p:nvGrpSpPr>
        <p:grpSpPr>
          <a:xfrm>
            <a:off x="897398" y="224323"/>
            <a:ext cx="420624" cy="402336"/>
            <a:chOff x="1421190" y="266013"/>
            <a:chExt cx="420624" cy="402336"/>
          </a:xfrm>
        </p:grpSpPr>
        <p:sp>
          <p:nvSpPr>
            <p:cNvPr id="1028" name="Rectangle: Rounded Corners 1027">
              <a:extLst>
                <a:ext uri="{FF2B5EF4-FFF2-40B4-BE49-F238E27FC236}">
                  <a16:creationId xmlns:a16="http://schemas.microsoft.com/office/drawing/2014/main" id="{A7516859-FD4A-B7E1-AB4B-9D95E3D780CE}"/>
                </a:ext>
              </a:extLst>
            </p:cNvPr>
            <p:cNvSpPr/>
            <p:nvPr/>
          </p:nvSpPr>
          <p:spPr>
            <a:xfrm>
              <a:off x="1421190" y="266013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9" name="Graphic 1028" descr="Blueprint outline">
              <a:extLst>
                <a:ext uri="{FF2B5EF4-FFF2-40B4-BE49-F238E27FC236}">
                  <a16:creationId xmlns:a16="http://schemas.microsoft.com/office/drawing/2014/main" id="{810F45F3-2BE5-F4F8-1A89-AE9621D50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60814" y="277324"/>
              <a:ext cx="381000" cy="381000"/>
            </a:xfrm>
            <a:prstGeom prst="rect">
              <a:avLst/>
            </a:prstGeom>
          </p:spPr>
        </p:pic>
      </p:grpSp>
      <p:sp>
        <p:nvSpPr>
          <p:cNvPr id="1030" name="Freeform: Shape 1029">
            <a:extLst>
              <a:ext uri="{FF2B5EF4-FFF2-40B4-BE49-F238E27FC236}">
                <a16:creationId xmlns:a16="http://schemas.microsoft.com/office/drawing/2014/main" id="{D1EAF286-2E9B-912E-81CF-A11BA9B0628D}"/>
              </a:ext>
            </a:extLst>
          </p:cNvPr>
          <p:cNvSpPr/>
          <p:nvPr/>
        </p:nvSpPr>
        <p:spPr>
          <a:xfrm>
            <a:off x="1498709" y="293060"/>
            <a:ext cx="316600" cy="244162"/>
          </a:xfrm>
          <a:custGeom>
            <a:avLst/>
            <a:gdLst>
              <a:gd name="connsiteX0" fmla="*/ 737225 w 737225"/>
              <a:gd name="connsiteY0" fmla="*/ 444722 h 568547"/>
              <a:gd name="connsiteX1" fmla="*/ 737225 w 737225"/>
              <a:gd name="connsiteY1" fmla="*/ 356587 h 568547"/>
              <a:gd name="connsiteX2" fmla="*/ 576758 w 737225"/>
              <a:gd name="connsiteY2" fmla="*/ 0 h 568547"/>
              <a:gd name="connsiteX3" fmla="*/ 160515 w 737225"/>
              <a:gd name="connsiteY3" fmla="*/ 0 h 568547"/>
              <a:gd name="connsiteX4" fmla="*/ 0 w 737225"/>
              <a:gd name="connsiteY4" fmla="*/ 356587 h 568547"/>
              <a:gd name="connsiteX5" fmla="*/ 0 w 737225"/>
              <a:gd name="connsiteY5" fmla="*/ 444722 h 568547"/>
              <a:gd name="connsiteX6" fmla="*/ 359093 w 737225"/>
              <a:gd name="connsiteY6" fmla="*/ 444722 h 568547"/>
              <a:gd name="connsiteX7" fmla="*/ 359093 w 737225"/>
              <a:gd name="connsiteY7" fmla="*/ 549497 h 568547"/>
              <a:gd name="connsiteX8" fmla="*/ 238944 w 737225"/>
              <a:gd name="connsiteY8" fmla="*/ 549497 h 568547"/>
              <a:gd name="connsiteX9" fmla="*/ 238944 w 737225"/>
              <a:gd name="connsiteY9" fmla="*/ 568547 h 568547"/>
              <a:gd name="connsiteX10" fmla="*/ 498281 w 737225"/>
              <a:gd name="connsiteY10" fmla="*/ 568547 h 568547"/>
              <a:gd name="connsiteX11" fmla="*/ 498281 w 737225"/>
              <a:gd name="connsiteY11" fmla="*/ 549497 h 568547"/>
              <a:gd name="connsiteX12" fmla="*/ 378143 w 737225"/>
              <a:gd name="connsiteY12" fmla="*/ 549497 h 568547"/>
              <a:gd name="connsiteX13" fmla="*/ 378143 w 737225"/>
              <a:gd name="connsiteY13" fmla="*/ 444722 h 568547"/>
              <a:gd name="connsiteX14" fmla="*/ 446713 w 737225"/>
              <a:gd name="connsiteY14" fmla="*/ 118786 h 568547"/>
              <a:gd name="connsiteX15" fmla="*/ 460867 w 737225"/>
              <a:gd name="connsiteY15" fmla="*/ 229457 h 568547"/>
              <a:gd name="connsiteX16" fmla="*/ 276368 w 737225"/>
              <a:gd name="connsiteY16" fmla="*/ 229457 h 568547"/>
              <a:gd name="connsiteX17" fmla="*/ 290551 w 737225"/>
              <a:gd name="connsiteY17" fmla="*/ 118786 h 568547"/>
              <a:gd name="connsiteX18" fmla="*/ 293018 w 737225"/>
              <a:gd name="connsiteY18" fmla="*/ 99736 h 568547"/>
              <a:gd name="connsiteX19" fmla="*/ 303362 w 737225"/>
              <a:gd name="connsiteY19" fmla="*/ 19050 h 568547"/>
              <a:gd name="connsiteX20" fmla="*/ 433892 w 737225"/>
              <a:gd name="connsiteY20" fmla="*/ 19050 h 568547"/>
              <a:gd name="connsiteX21" fmla="*/ 444236 w 737225"/>
              <a:gd name="connsiteY21" fmla="*/ 99736 h 568547"/>
              <a:gd name="connsiteX22" fmla="*/ 659111 w 737225"/>
              <a:gd name="connsiteY22" fmla="*/ 229457 h 568547"/>
              <a:gd name="connsiteX23" fmla="*/ 480041 w 737225"/>
              <a:gd name="connsiteY23" fmla="*/ 229457 h 568547"/>
              <a:gd name="connsiteX24" fmla="*/ 465887 w 737225"/>
              <a:gd name="connsiteY24" fmla="*/ 118786 h 568547"/>
              <a:gd name="connsiteX25" fmla="*/ 609324 w 737225"/>
              <a:gd name="connsiteY25" fmla="*/ 118786 h 568547"/>
              <a:gd name="connsiteX26" fmla="*/ 257156 w 737225"/>
              <a:gd name="connsiteY26" fmla="*/ 229457 h 568547"/>
              <a:gd name="connsiteX27" fmla="*/ 78086 w 737225"/>
              <a:gd name="connsiteY27" fmla="*/ 229457 h 568547"/>
              <a:gd name="connsiteX28" fmla="*/ 127873 w 737225"/>
              <a:gd name="connsiteY28" fmla="*/ 118824 h 568547"/>
              <a:gd name="connsiteX29" fmla="*/ 271348 w 737225"/>
              <a:gd name="connsiteY29" fmla="*/ 118824 h 568547"/>
              <a:gd name="connsiteX30" fmla="*/ 254708 w 737225"/>
              <a:gd name="connsiteY30" fmla="*/ 248507 h 568547"/>
              <a:gd name="connsiteX31" fmla="*/ 241811 w 737225"/>
              <a:gd name="connsiteY31" fmla="*/ 349110 h 568547"/>
              <a:gd name="connsiteX32" fmla="*/ 24260 w 737225"/>
              <a:gd name="connsiteY32" fmla="*/ 349110 h 568547"/>
              <a:gd name="connsiteX33" fmla="*/ 69552 w 737225"/>
              <a:gd name="connsiteY33" fmla="*/ 248507 h 568547"/>
              <a:gd name="connsiteX34" fmla="*/ 273910 w 737225"/>
              <a:gd name="connsiteY34" fmla="*/ 248507 h 568547"/>
              <a:gd name="connsiteX35" fmla="*/ 463306 w 737225"/>
              <a:gd name="connsiteY35" fmla="*/ 248507 h 568547"/>
              <a:gd name="connsiteX36" fmla="*/ 476212 w 737225"/>
              <a:gd name="connsiteY36" fmla="*/ 349148 h 568547"/>
              <a:gd name="connsiteX37" fmla="*/ 261014 w 737225"/>
              <a:gd name="connsiteY37" fmla="*/ 349148 h 568547"/>
              <a:gd name="connsiteX38" fmla="*/ 495414 w 737225"/>
              <a:gd name="connsiteY38" fmla="*/ 349110 h 568547"/>
              <a:gd name="connsiteX39" fmla="*/ 482508 w 737225"/>
              <a:gd name="connsiteY39" fmla="*/ 248507 h 568547"/>
              <a:gd name="connsiteX40" fmla="*/ 667684 w 737225"/>
              <a:gd name="connsiteY40" fmla="*/ 248507 h 568547"/>
              <a:gd name="connsiteX41" fmla="*/ 712975 w 737225"/>
              <a:gd name="connsiteY41" fmla="*/ 349148 h 568547"/>
              <a:gd name="connsiteX42" fmla="*/ 600751 w 737225"/>
              <a:gd name="connsiteY42" fmla="*/ 99736 h 568547"/>
              <a:gd name="connsiteX43" fmla="*/ 463439 w 737225"/>
              <a:gd name="connsiteY43" fmla="*/ 99736 h 568547"/>
              <a:gd name="connsiteX44" fmla="*/ 453095 w 737225"/>
              <a:gd name="connsiteY44" fmla="*/ 19050 h 568547"/>
              <a:gd name="connsiteX45" fmla="*/ 564442 w 737225"/>
              <a:gd name="connsiteY45" fmla="*/ 19050 h 568547"/>
              <a:gd name="connsiteX46" fmla="*/ 172793 w 737225"/>
              <a:gd name="connsiteY46" fmla="*/ 19050 h 568547"/>
              <a:gd name="connsiteX47" fmla="*/ 284131 w 737225"/>
              <a:gd name="connsiteY47" fmla="*/ 19050 h 568547"/>
              <a:gd name="connsiteX48" fmla="*/ 273787 w 737225"/>
              <a:gd name="connsiteY48" fmla="*/ 99736 h 568547"/>
              <a:gd name="connsiteX49" fmla="*/ 136484 w 737225"/>
              <a:gd name="connsiteY49" fmla="*/ 99736 h 568547"/>
              <a:gd name="connsiteX50" fmla="*/ 19050 w 737225"/>
              <a:gd name="connsiteY50" fmla="*/ 368160 h 568547"/>
              <a:gd name="connsiteX51" fmla="*/ 718185 w 737225"/>
              <a:gd name="connsiteY51" fmla="*/ 368160 h 568547"/>
              <a:gd name="connsiteX52" fmla="*/ 718185 w 737225"/>
              <a:gd name="connsiteY52" fmla="*/ 425672 h 568547"/>
              <a:gd name="connsiteX53" fmla="*/ 19050 w 737225"/>
              <a:gd name="connsiteY53" fmla="*/ 425672 h 568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37225" h="568547">
                <a:moveTo>
                  <a:pt x="737225" y="444722"/>
                </a:moveTo>
                <a:lnTo>
                  <a:pt x="737225" y="356587"/>
                </a:lnTo>
                <a:lnTo>
                  <a:pt x="576758" y="0"/>
                </a:lnTo>
                <a:lnTo>
                  <a:pt x="160515" y="0"/>
                </a:lnTo>
                <a:lnTo>
                  <a:pt x="0" y="356587"/>
                </a:lnTo>
                <a:lnTo>
                  <a:pt x="0" y="444722"/>
                </a:lnTo>
                <a:lnTo>
                  <a:pt x="359093" y="444722"/>
                </a:lnTo>
                <a:lnTo>
                  <a:pt x="359093" y="549497"/>
                </a:lnTo>
                <a:lnTo>
                  <a:pt x="238944" y="549497"/>
                </a:lnTo>
                <a:lnTo>
                  <a:pt x="238944" y="568547"/>
                </a:lnTo>
                <a:lnTo>
                  <a:pt x="498281" y="568547"/>
                </a:lnTo>
                <a:lnTo>
                  <a:pt x="498281" y="549497"/>
                </a:lnTo>
                <a:lnTo>
                  <a:pt x="378143" y="549497"/>
                </a:lnTo>
                <a:lnTo>
                  <a:pt x="378143" y="444722"/>
                </a:lnTo>
                <a:close/>
                <a:moveTo>
                  <a:pt x="446713" y="118786"/>
                </a:moveTo>
                <a:lnTo>
                  <a:pt x="460867" y="229457"/>
                </a:lnTo>
                <a:lnTo>
                  <a:pt x="276368" y="229457"/>
                </a:lnTo>
                <a:lnTo>
                  <a:pt x="290551" y="118786"/>
                </a:lnTo>
                <a:close/>
                <a:moveTo>
                  <a:pt x="293018" y="99736"/>
                </a:moveTo>
                <a:lnTo>
                  <a:pt x="303362" y="19050"/>
                </a:lnTo>
                <a:lnTo>
                  <a:pt x="433892" y="19050"/>
                </a:lnTo>
                <a:lnTo>
                  <a:pt x="444236" y="99736"/>
                </a:lnTo>
                <a:close/>
                <a:moveTo>
                  <a:pt x="659111" y="229457"/>
                </a:moveTo>
                <a:lnTo>
                  <a:pt x="480041" y="229457"/>
                </a:lnTo>
                <a:lnTo>
                  <a:pt x="465887" y="118786"/>
                </a:lnTo>
                <a:lnTo>
                  <a:pt x="609324" y="118786"/>
                </a:lnTo>
                <a:close/>
                <a:moveTo>
                  <a:pt x="257156" y="229457"/>
                </a:moveTo>
                <a:lnTo>
                  <a:pt x="78086" y="229457"/>
                </a:lnTo>
                <a:lnTo>
                  <a:pt x="127873" y="118824"/>
                </a:lnTo>
                <a:lnTo>
                  <a:pt x="271348" y="118824"/>
                </a:lnTo>
                <a:close/>
                <a:moveTo>
                  <a:pt x="254708" y="248507"/>
                </a:moveTo>
                <a:lnTo>
                  <a:pt x="241811" y="349110"/>
                </a:lnTo>
                <a:lnTo>
                  <a:pt x="24260" y="349110"/>
                </a:lnTo>
                <a:lnTo>
                  <a:pt x="69552" y="248507"/>
                </a:lnTo>
                <a:close/>
                <a:moveTo>
                  <a:pt x="273910" y="248507"/>
                </a:moveTo>
                <a:lnTo>
                  <a:pt x="463306" y="248507"/>
                </a:lnTo>
                <a:lnTo>
                  <a:pt x="476212" y="349148"/>
                </a:lnTo>
                <a:lnTo>
                  <a:pt x="261014" y="349148"/>
                </a:lnTo>
                <a:close/>
                <a:moveTo>
                  <a:pt x="495414" y="349110"/>
                </a:moveTo>
                <a:lnTo>
                  <a:pt x="482508" y="248507"/>
                </a:lnTo>
                <a:lnTo>
                  <a:pt x="667684" y="248507"/>
                </a:lnTo>
                <a:lnTo>
                  <a:pt x="712975" y="349148"/>
                </a:lnTo>
                <a:close/>
                <a:moveTo>
                  <a:pt x="600751" y="99736"/>
                </a:moveTo>
                <a:lnTo>
                  <a:pt x="463439" y="99736"/>
                </a:lnTo>
                <a:lnTo>
                  <a:pt x="453095" y="19050"/>
                </a:lnTo>
                <a:lnTo>
                  <a:pt x="564442" y="19050"/>
                </a:lnTo>
                <a:close/>
                <a:moveTo>
                  <a:pt x="172793" y="19050"/>
                </a:moveTo>
                <a:lnTo>
                  <a:pt x="284131" y="19050"/>
                </a:lnTo>
                <a:lnTo>
                  <a:pt x="273787" y="99736"/>
                </a:lnTo>
                <a:lnTo>
                  <a:pt x="136484" y="99736"/>
                </a:lnTo>
                <a:close/>
                <a:moveTo>
                  <a:pt x="19050" y="368160"/>
                </a:moveTo>
                <a:lnTo>
                  <a:pt x="718185" y="368160"/>
                </a:lnTo>
                <a:lnTo>
                  <a:pt x="718185" y="425672"/>
                </a:lnTo>
                <a:lnTo>
                  <a:pt x="19050" y="42567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31" name="Picture 2" descr="Solar Panel Icon 24x24">
            <a:extLst>
              <a:ext uri="{FF2B5EF4-FFF2-40B4-BE49-F238E27FC236}">
                <a16:creationId xmlns:a16="http://schemas.microsoft.com/office/drawing/2014/main" id="{C7F5213D-DC03-2A52-5EE6-88BD6DAF8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12" y="248876"/>
            <a:ext cx="326755" cy="32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454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E793-D44A-60C9-3018-B3CF3E64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E80C5E23-442F-821B-A7D6-0708B757C46F}"/>
              </a:ext>
            </a:extLst>
          </p:cNvPr>
          <p:cNvGrpSpPr/>
          <p:nvPr/>
        </p:nvGrpSpPr>
        <p:grpSpPr>
          <a:xfrm>
            <a:off x="3113638" y="207943"/>
            <a:ext cx="420624" cy="402336"/>
            <a:chOff x="539111" y="970049"/>
            <a:chExt cx="420624" cy="40233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69C24727-7FDC-735E-76CC-2D3A2F29B344}"/>
                </a:ext>
              </a:extLst>
            </p:cNvPr>
            <p:cNvSpPr/>
            <p:nvPr/>
          </p:nvSpPr>
          <p:spPr>
            <a:xfrm>
              <a:off x="539111" y="970049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Graphic 58" descr="Pencil outline">
              <a:extLst>
                <a:ext uri="{FF2B5EF4-FFF2-40B4-BE49-F238E27FC236}">
                  <a16:creationId xmlns:a16="http://schemas.microsoft.com/office/drawing/2014/main" id="{9A4A97A5-20A8-A352-491F-67749E3DB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222" y="997097"/>
              <a:ext cx="364067" cy="364067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DA1FB1-A144-4FB7-F6DF-2B5C34EB7060}"/>
              </a:ext>
            </a:extLst>
          </p:cNvPr>
          <p:cNvSpPr/>
          <p:nvPr/>
        </p:nvSpPr>
        <p:spPr>
          <a:xfrm rot="5400000">
            <a:off x="2446552" y="-2010369"/>
            <a:ext cx="539203" cy="485314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52743CB-0926-FAF2-3D68-5BB55AA3E1F9}"/>
              </a:ext>
            </a:extLst>
          </p:cNvPr>
          <p:cNvGrpSpPr/>
          <p:nvPr/>
        </p:nvGrpSpPr>
        <p:grpSpPr>
          <a:xfrm>
            <a:off x="391026" y="213973"/>
            <a:ext cx="420624" cy="402336"/>
            <a:chOff x="525780" y="493776"/>
            <a:chExt cx="420624" cy="40233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54EFA27-D57F-5FB6-5E09-D2089BAC32D1}"/>
                </a:ext>
              </a:extLst>
            </p:cNvPr>
            <p:cNvSpPr/>
            <p:nvPr/>
          </p:nvSpPr>
          <p:spPr>
            <a:xfrm>
              <a:off x="525780" y="493776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 descr="Magnifying glass outline">
              <a:extLst>
                <a:ext uri="{FF2B5EF4-FFF2-40B4-BE49-F238E27FC236}">
                  <a16:creationId xmlns:a16="http://schemas.microsoft.com/office/drawing/2014/main" id="{9E012076-BA00-6AE2-0D83-F8A85BDC2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8895" y="517747"/>
              <a:ext cx="354394" cy="354394"/>
            </a:xfrm>
            <a:prstGeom prst="rect">
              <a:avLst/>
            </a:prstGeom>
          </p:spPr>
        </p:pic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65B0739-CBE5-17F6-D57C-1844251AEDBF}"/>
              </a:ext>
            </a:extLst>
          </p:cNvPr>
          <p:cNvSpPr/>
          <p:nvPr/>
        </p:nvSpPr>
        <p:spPr>
          <a:xfrm>
            <a:off x="2451899" y="213973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814A988-BCE6-F400-CA52-803EFFDAD511}"/>
              </a:ext>
            </a:extLst>
          </p:cNvPr>
          <p:cNvGrpSpPr/>
          <p:nvPr/>
        </p:nvGrpSpPr>
        <p:grpSpPr>
          <a:xfrm>
            <a:off x="1951761" y="213973"/>
            <a:ext cx="420624" cy="402336"/>
            <a:chOff x="525780" y="1946337"/>
            <a:chExt cx="420624" cy="40233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79798F0-A3DB-BCE9-448D-87F121EB83D0}"/>
                </a:ext>
              </a:extLst>
            </p:cNvPr>
            <p:cNvSpPr/>
            <p:nvPr/>
          </p:nvSpPr>
          <p:spPr>
            <a:xfrm>
              <a:off x="525780" y="1946337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 descr="Electric Tower outline">
              <a:extLst>
                <a:ext uri="{FF2B5EF4-FFF2-40B4-BE49-F238E27FC236}">
                  <a16:creationId xmlns:a16="http://schemas.microsoft.com/office/drawing/2014/main" id="{434F0EC1-1317-561F-993C-F0FD4AF10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4039" y="1972880"/>
              <a:ext cx="349250" cy="349250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EFBD8A7-6F1A-4A5B-022D-FA47A13526CE}"/>
              </a:ext>
            </a:extLst>
          </p:cNvPr>
          <p:cNvCxnSpPr>
            <a:cxnSpLocks/>
          </p:cNvCxnSpPr>
          <p:nvPr/>
        </p:nvCxnSpPr>
        <p:spPr>
          <a:xfrm>
            <a:off x="2993080" y="272978"/>
            <a:ext cx="0" cy="30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003877C-0653-3CF1-AB3E-E2F3C972BA54}"/>
              </a:ext>
            </a:extLst>
          </p:cNvPr>
          <p:cNvGrpSpPr/>
          <p:nvPr/>
        </p:nvGrpSpPr>
        <p:grpSpPr>
          <a:xfrm>
            <a:off x="4627102" y="205188"/>
            <a:ext cx="420624" cy="402336"/>
            <a:chOff x="531114" y="4073969"/>
            <a:chExt cx="420624" cy="40233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719B5948-98DE-108B-0F3C-BEF05AD40271}"/>
                </a:ext>
              </a:extLst>
            </p:cNvPr>
            <p:cNvSpPr/>
            <p:nvPr/>
          </p:nvSpPr>
          <p:spPr>
            <a:xfrm>
              <a:off x="531114" y="4073969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isk outline">
              <a:extLst>
                <a:ext uri="{FF2B5EF4-FFF2-40B4-BE49-F238E27FC236}">
                  <a16:creationId xmlns:a16="http://schemas.microsoft.com/office/drawing/2014/main" id="{6EC79B4C-80EF-D944-02FD-8BCC7F7F5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4039" y="4100512"/>
              <a:ext cx="349250" cy="34925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00F9C17-B440-5218-9CC2-85F4DD1D42C2}"/>
              </a:ext>
            </a:extLst>
          </p:cNvPr>
          <p:cNvGrpSpPr/>
          <p:nvPr/>
        </p:nvGrpSpPr>
        <p:grpSpPr>
          <a:xfrm>
            <a:off x="4126964" y="205188"/>
            <a:ext cx="420624" cy="402336"/>
            <a:chOff x="531114" y="3589782"/>
            <a:chExt cx="420624" cy="40233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8EB1566-9C36-2933-642C-E8283B2395F6}"/>
                </a:ext>
              </a:extLst>
            </p:cNvPr>
            <p:cNvSpPr/>
            <p:nvPr/>
          </p:nvSpPr>
          <p:spPr>
            <a:xfrm>
              <a:off x="531114" y="3589782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Graphic 38" descr="Share outline">
              <a:extLst>
                <a:ext uri="{FF2B5EF4-FFF2-40B4-BE49-F238E27FC236}">
                  <a16:creationId xmlns:a16="http://schemas.microsoft.com/office/drawing/2014/main" id="{AF700717-733D-E327-1752-5A0353CBB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8329" y="3633470"/>
              <a:ext cx="314960" cy="31496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1DE246C-C07F-916D-14BD-ADD1F1ED9DFD}"/>
              </a:ext>
            </a:extLst>
          </p:cNvPr>
          <p:cNvGrpSpPr/>
          <p:nvPr/>
        </p:nvGrpSpPr>
        <p:grpSpPr>
          <a:xfrm>
            <a:off x="3610894" y="205188"/>
            <a:ext cx="420624" cy="402336"/>
            <a:chOff x="531114" y="3105595"/>
            <a:chExt cx="420624" cy="4023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103237A-435E-EBD9-1AF5-9CD4DCF02118}"/>
                </a:ext>
              </a:extLst>
            </p:cNvPr>
            <p:cNvSpPr/>
            <p:nvPr/>
          </p:nvSpPr>
          <p:spPr>
            <a:xfrm>
              <a:off x="531114" y="3105595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Layers Design outline">
              <a:extLst>
                <a:ext uri="{FF2B5EF4-FFF2-40B4-BE49-F238E27FC236}">
                  <a16:creationId xmlns:a16="http://schemas.microsoft.com/office/drawing/2014/main" id="{C04DA15F-0F60-3651-1902-9AE7957FD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8895" y="3126296"/>
              <a:ext cx="347133" cy="347133"/>
            </a:xfrm>
            <a:prstGeom prst="rect">
              <a:avLst/>
            </a:prstGeom>
          </p:spPr>
        </p:pic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C7791A-820D-10DD-E7D0-9A1E4D3CCA89}"/>
              </a:ext>
            </a:extLst>
          </p:cNvPr>
          <p:cNvSpPr/>
          <p:nvPr/>
        </p:nvSpPr>
        <p:spPr>
          <a:xfrm>
            <a:off x="1435156" y="213973"/>
            <a:ext cx="420624" cy="40233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69FC7B-0588-A2F9-8C30-BDC8C91F8941}"/>
              </a:ext>
            </a:extLst>
          </p:cNvPr>
          <p:cNvSpPr/>
          <p:nvPr/>
        </p:nvSpPr>
        <p:spPr>
          <a:xfrm>
            <a:off x="296038" y="960531"/>
            <a:ext cx="2090790" cy="3796403"/>
          </a:xfrm>
          <a:prstGeom prst="roundRect">
            <a:avLst>
              <a:gd name="adj" fmla="val 3119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113431-B228-8D24-4F2C-637A0084635C}"/>
              </a:ext>
            </a:extLst>
          </p:cNvPr>
          <p:cNvSpPr txBox="1"/>
          <p:nvPr/>
        </p:nvSpPr>
        <p:spPr>
          <a:xfrm>
            <a:off x="300307" y="960532"/>
            <a:ext cx="1297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PV Design</a:t>
            </a:r>
          </a:p>
        </p:txBody>
      </p:sp>
      <p:sp>
        <p:nvSpPr>
          <p:cNvPr id="142" name="Isosceles Triangle 141">
            <a:extLst>
              <a:ext uri="{FF2B5EF4-FFF2-40B4-BE49-F238E27FC236}">
                <a16:creationId xmlns:a16="http://schemas.microsoft.com/office/drawing/2014/main" id="{5787C1D4-0D58-2807-9629-108442232FBF}"/>
              </a:ext>
            </a:extLst>
          </p:cNvPr>
          <p:cNvSpPr/>
          <p:nvPr/>
        </p:nvSpPr>
        <p:spPr>
          <a:xfrm rot="14400000">
            <a:off x="2221676" y="1186793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676A27B7-33EA-E217-AAE5-2A0C789239FE}"/>
              </a:ext>
            </a:extLst>
          </p:cNvPr>
          <p:cNvSpPr/>
          <p:nvPr/>
        </p:nvSpPr>
        <p:spPr>
          <a:xfrm>
            <a:off x="2236849" y="1306586"/>
            <a:ext cx="81768" cy="88106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Isosceles Triangle 143">
            <a:extLst>
              <a:ext uri="{FF2B5EF4-FFF2-40B4-BE49-F238E27FC236}">
                <a16:creationId xmlns:a16="http://schemas.microsoft.com/office/drawing/2014/main" id="{D295FBD2-A461-F20A-D5B4-B624E5E55333}"/>
              </a:ext>
            </a:extLst>
          </p:cNvPr>
          <p:cNvSpPr/>
          <p:nvPr/>
        </p:nvSpPr>
        <p:spPr>
          <a:xfrm rot="3600000">
            <a:off x="2247583" y="4432448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C01580A7-494D-CA4C-DA15-809D153A8A95}"/>
              </a:ext>
            </a:extLst>
          </p:cNvPr>
          <p:cNvCxnSpPr/>
          <p:nvPr/>
        </p:nvCxnSpPr>
        <p:spPr>
          <a:xfrm flipH="1">
            <a:off x="2285206" y="4616961"/>
            <a:ext cx="48536" cy="7302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FEF81E59-2753-0F05-D3B3-83A871DE3D5C}"/>
              </a:ext>
            </a:extLst>
          </p:cNvPr>
          <p:cNvCxnSpPr>
            <a:cxnSpLocks/>
          </p:cNvCxnSpPr>
          <p:nvPr/>
        </p:nvCxnSpPr>
        <p:spPr>
          <a:xfrm flipH="1">
            <a:off x="2308870" y="4638177"/>
            <a:ext cx="36546" cy="5498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Multiplication Sign 167">
            <a:extLst>
              <a:ext uri="{FF2B5EF4-FFF2-40B4-BE49-F238E27FC236}">
                <a16:creationId xmlns:a16="http://schemas.microsoft.com/office/drawing/2014/main" id="{BC876F7D-DB4F-0E9A-CA38-1125E6224EC1}"/>
              </a:ext>
            </a:extLst>
          </p:cNvPr>
          <p:cNvSpPr/>
          <p:nvPr/>
        </p:nvSpPr>
        <p:spPr>
          <a:xfrm rot="5400000">
            <a:off x="2209343" y="1037217"/>
            <a:ext cx="125941" cy="108570"/>
          </a:xfrm>
          <a:prstGeom prst="mathMultiply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7F43059-DB3A-812E-F2F9-11262B48E81D}"/>
              </a:ext>
            </a:extLst>
          </p:cNvPr>
          <p:cNvGrpSpPr/>
          <p:nvPr/>
        </p:nvGrpSpPr>
        <p:grpSpPr>
          <a:xfrm>
            <a:off x="897398" y="224323"/>
            <a:ext cx="420624" cy="402336"/>
            <a:chOff x="1421190" y="266013"/>
            <a:chExt cx="420624" cy="402336"/>
          </a:xfrm>
        </p:grpSpPr>
        <p:sp>
          <p:nvSpPr>
            <p:cNvPr id="176" name="Rectangle: Rounded Corners 175">
              <a:extLst>
                <a:ext uri="{FF2B5EF4-FFF2-40B4-BE49-F238E27FC236}">
                  <a16:creationId xmlns:a16="http://schemas.microsoft.com/office/drawing/2014/main" id="{EB88AB9B-5281-B3D1-12B4-091328765352}"/>
                </a:ext>
              </a:extLst>
            </p:cNvPr>
            <p:cNvSpPr/>
            <p:nvPr/>
          </p:nvSpPr>
          <p:spPr>
            <a:xfrm>
              <a:off x="1421190" y="266013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7" name="Graphic 176" descr="Blueprint outline">
              <a:extLst>
                <a:ext uri="{FF2B5EF4-FFF2-40B4-BE49-F238E27FC236}">
                  <a16:creationId xmlns:a16="http://schemas.microsoft.com/office/drawing/2014/main" id="{6C032224-EA6E-E46F-3723-7C01D4839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60814" y="277324"/>
              <a:ext cx="381000" cy="381000"/>
            </a:xfrm>
            <a:prstGeom prst="rect">
              <a:avLst/>
            </a:prstGeom>
          </p:spPr>
        </p:pic>
      </p:grp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CCF17F93-9EEF-9029-DB2B-011B98D82542}"/>
              </a:ext>
            </a:extLst>
          </p:cNvPr>
          <p:cNvSpPr/>
          <p:nvPr/>
        </p:nvSpPr>
        <p:spPr>
          <a:xfrm>
            <a:off x="1498709" y="293060"/>
            <a:ext cx="316600" cy="244162"/>
          </a:xfrm>
          <a:custGeom>
            <a:avLst/>
            <a:gdLst>
              <a:gd name="connsiteX0" fmla="*/ 737225 w 737225"/>
              <a:gd name="connsiteY0" fmla="*/ 444722 h 568547"/>
              <a:gd name="connsiteX1" fmla="*/ 737225 w 737225"/>
              <a:gd name="connsiteY1" fmla="*/ 356587 h 568547"/>
              <a:gd name="connsiteX2" fmla="*/ 576758 w 737225"/>
              <a:gd name="connsiteY2" fmla="*/ 0 h 568547"/>
              <a:gd name="connsiteX3" fmla="*/ 160515 w 737225"/>
              <a:gd name="connsiteY3" fmla="*/ 0 h 568547"/>
              <a:gd name="connsiteX4" fmla="*/ 0 w 737225"/>
              <a:gd name="connsiteY4" fmla="*/ 356587 h 568547"/>
              <a:gd name="connsiteX5" fmla="*/ 0 w 737225"/>
              <a:gd name="connsiteY5" fmla="*/ 444722 h 568547"/>
              <a:gd name="connsiteX6" fmla="*/ 359093 w 737225"/>
              <a:gd name="connsiteY6" fmla="*/ 444722 h 568547"/>
              <a:gd name="connsiteX7" fmla="*/ 359093 w 737225"/>
              <a:gd name="connsiteY7" fmla="*/ 549497 h 568547"/>
              <a:gd name="connsiteX8" fmla="*/ 238944 w 737225"/>
              <a:gd name="connsiteY8" fmla="*/ 549497 h 568547"/>
              <a:gd name="connsiteX9" fmla="*/ 238944 w 737225"/>
              <a:gd name="connsiteY9" fmla="*/ 568547 h 568547"/>
              <a:gd name="connsiteX10" fmla="*/ 498281 w 737225"/>
              <a:gd name="connsiteY10" fmla="*/ 568547 h 568547"/>
              <a:gd name="connsiteX11" fmla="*/ 498281 w 737225"/>
              <a:gd name="connsiteY11" fmla="*/ 549497 h 568547"/>
              <a:gd name="connsiteX12" fmla="*/ 378143 w 737225"/>
              <a:gd name="connsiteY12" fmla="*/ 549497 h 568547"/>
              <a:gd name="connsiteX13" fmla="*/ 378143 w 737225"/>
              <a:gd name="connsiteY13" fmla="*/ 444722 h 568547"/>
              <a:gd name="connsiteX14" fmla="*/ 446713 w 737225"/>
              <a:gd name="connsiteY14" fmla="*/ 118786 h 568547"/>
              <a:gd name="connsiteX15" fmla="*/ 460867 w 737225"/>
              <a:gd name="connsiteY15" fmla="*/ 229457 h 568547"/>
              <a:gd name="connsiteX16" fmla="*/ 276368 w 737225"/>
              <a:gd name="connsiteY16" fmla="*/ 229457 h 568547"/>
              <a:gd name="connsiteX17" fmla="*/ 290551 w 737225"/>
              <a:gd name="connsiteY17" fmla="*/ 118786 h 568547"/>
              <a:gd name="connsiteX18" fmla="*/ 293018 w 737225"/>
              <a:gd name="connsiteY18" fmla="*/ 99736 h 568547"/>
              <a:gd name="connsiteX19" fmla="*/ 303362 w 737225"/>
              <a:gd name="connsiteY19" fmla="*/ 19050 h 568547"/>
              <a:gd name="connsiteX20" fmla="*/ 433892 w 737225"/>
              <a:gd name="connsiteY20" fmla="*/ 19050 h 568547"/>
              <a:gd name="connsiteX21" fmla="*/ 444236 w 737225"/>
              <a:gd name="connsiteY21" fmla="*/ 99736 h 568547"/>
              <a:gd name="connsiteX22" fmla="*/ 659111 w 737225"/>
              <a:gd name="connsiteY22" fmla="*/ 229457 h 568547"/>
              <a:gd name="connsiteX23" fmla="*/ 480041 w 737225"/>
              <a:gd name="connsiteY23" fmla="*/ 229457 h 568547"/>
              <a:gd name="connsiteX24" fmla="*/ 465887 w 737225"/>
              <a:gd name="connsiteY24" fmla="*/ 118786 h 568547"/>
              <a:gd name="connsiteX25" fmla="*/ 609324 w 737225"/>
              <a:gd name="connsiteY25" fmla="*/ 118786 h 568547"/>
              <a:gd name="connsiteX26" fmla="*/ 257156 w 737225"/>
              <a:gd name="connsiteY26" fmla="*/ 229457 h 568547"/>
              <a:gd name="connsiteX27" fmla="*/ 78086 w 737225"/>
              <a:gd name="connsiteY27" fmla="*/ 229457 h 568547"/>
              <a:gd name="connsiteX28" fmla="*/ 127873 w 737225"/>
              <a:gd name="connsiteY28" fmla="*/ 118824 h 568547"/>
              <a:gd name="connsiteX29" fmla="*/ 271348 w 737225"/>
              <a:gd name="connsiteY29" fmla="*/ 118824 h 568547"/>
              <a:gd name="connsiteX30" fmla="*/ 254708 w 737225"/>
              <a:gd name="connsiteY30" fmla="*/ 248507 h 568547"/>
              <a:gd name="connsiteX31" fmla="*/ 241811 w 737225"/>
              <a:gd name="connsiteY31" fmla="*/ 349110 h 568547"/>
              <a:gd name="connsiteX32" fmla="*/ 24260 w 737225"/>
              <a:gd name="connsiteY32" fmla="*/ 349110 h 568547"/>
              <a:gd name="connsiteX33" fmla="*/ 69552 w 737225"/>
              <a:gd name="connsiteY33" fmla="*/ 248507 h 568547"/>
              <a:gd name="connsiteX34" fmla="*/ 273910 w 737225"/>
              <a:gd name="connsiteY34" fmla="*/ 248507 h 568547"/>
              <a:gd name="connsiteX35" fmla="*/ 463306 w 737225"/>
              <a:gd name="connsiteY35" fmla="*/ 248507 h 568547"/>
              <a:gd name="connsiteX36" fmla="*/ 476212 w 737225"/>
              <a:gd name="connsiteY36" fmla="*/ 349148 h 568547"/>
              <a:gd name="connsiteX37" fmla="*/ 261014 w 737225"/>
              <a:gd name="connsiteY37" fmla="*/ 349148 h 568547"/>
              <a:gd name="connsiteX38" fmla="*/ 495414 w 737225"/>
              <a:gd name="connsiteY38" fmla="*/ 349110 h 568547"/>
              <a:gd name="connsiteX39" fmla="*/ 482508 w 737225"/>
              <a:gd name="connsiteY39" fmla="*/ 248507 h 568547"/>
              <a:gd name="connsiteX40" fmla="*/ 667684 w 737225"/>
              <a:gd name="connsiteY40" fmla="*/ 248507 h 568547"/>
              <a:gd name="connsiteX41" fmla="*/ 712975 w 737225"/>
              <a:gd name="connsiteY41" fmla="*/ 349148 h 568547"/>
              <a:gd name="connsiteX42" fmla="*/ 600751 w 737225"/>
              <a:gd name="connsiteY42" fmla="*/ 99736 h 568547"/>
              <a:gd name="connsiteX43" fmla="*/ 463439 w 737225"/>
              <a:gd name="connsiteY43" fmla="*/ 99736 h 568547"/>
              <a:gd name="connsiteX44" fmla="*/ 453095 w 737225"/>
              <a:gd name="connsiteY44" fmla="*/ 19050 h 568547"/>
              <a:gd name="connsiteX45" fmla="*/ 564442 w 737225"/>
              <a:gd name="connsiteY45" fmla="*/ 19050 h 568547"/>
              <a:gd name="connsiteX46" fmla="*/ 172793 w 737225"/>
              <a:gd name="connsiteY46" fmla="*/ 19050 h 568547"/>
              <a:gd name="connsiteX47" fmla="*/ 284131 w 737225"/>
              <a:gd name="connsiteY47" fmla="*/ 19050 h 568547"/>
              <a:gd name="connsiteX48" fmla="*/ 273787 w 737225"/>
              <a:gd name="connsiteY48" fmla="*/ 99736 h 568547"/>
              <a:gd name="connsiteX49" fmla="*/ 136484 w 737225"/>
              <a:gd name="connsiteY49" fmla="*/ 99736 h 568547"/>
              <a:gd name="connsiteX50" fmla="*/ 19050 w 737225"/>
              <a:gd name="connsiteY50" fmla="*/ 368160 h 568547"/>
              <a:gd name="connsiteX51" fmla="*/ 718185 w 737225"/>
              <a:gd name="connsiteY51" fmla="*/ 368160 h 568547"/>
              <a:gd name="connsiteX52" fmla="*/ 718185 w 737225"/>
              <a:gd name="connsiteY52" fmla="*/ 425672 h 568547"/>
              <a:gd name="connsiteX53" fmla="*/ 19050 w 737225"/>
              <a:gd name="connsiteY53" fmla="*/ 425672 h 568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37225" h="568547">
                <a:moveTo>
                  <a:pt x="737225" y="444722"/>
                </a:moveTo>
                <a:lnTo>
                  <a:pt x="737225" y="356587"/>
                </a:lnTo>
                <a:lnTo>
                  <a:pt x="576758" y="0"/>
                </a:lnTo>
                <a:lnTo>
                  <a:pt x="160515" y="0"/>
                </a:lnTo>
                <a:lnTo>
                  <a:pt x="0" y="356587"/>
                </a:lnTo>
                <a:lnTo>
                  <a:pt x="0" y="444722"/>
                </a:lnTo>
                <a:lnTo>
                  <a:pt x="359093" y="444722"/>
                </a:lnTo>
                <a:lnTo>
                  <a:pt x="359093" y="549497"/>
                </a:lnTo>
                <a:lnTo>
                  <a:pt x="238944" y="549497"/>
                </a:lnTo>
                <a:lnTo>
                  <a:pt x="238944" y="568547"/>
                </a:lnTo>
                <a:lnTo>
                  <a:pt x="498281" y="568547"/>
                </a:lnTo>
                <a:lnTo>
                  <a:pt x="498281" y="549497"/>
                </a:lnTo>
                <a:lnTo>
                  <a:pt x="378143" y="549497"/>
                </a:lnTo>
                <a:lnTo>
                  <a:pt x="378143" y="444722"/>
                </a:lnTo>
                <a:close/>
                <a:moveTo>
                  <a:pt x="446713" y="118786"/>
                </a:moveTo>
                <a:lnTo>
                  <a:pt x="460867" y="229457"/>
                </a:lnTo>
                <a:lnTo>
                  <a:pt x="276368" y="229457"/>
                </a:lnTo>
                <a:lnTo>
                  <a:pt x="290551" y="118786"/>
                </a:lnTo>
                <a:close/>
                <a:moveTo>
                  <a:pt x="293018" y="99736"/>
                </a:moveTo>
                <a:lnTo>
                  <a:pt x="303362" y="19050"/>
                </a:lnTo>
                <a:lnTo>
                  <a:pt x="433892" y="19050"/>
                </a:lnTo>
                <a:lnTo>
                  <a:pt x="444236" y="99736"/>
                </a:lnTo>
                <a:close/>
                <a:moveTo>
                  <a:pt x="659111" y="229457"/>
                </a:moveTo>
                <a:lnTo>
                  <a:pt x="480041" y="229457"/>
                </a:lnTo>
                <a:lnTo>
                  <a:pt x="465887" y="118786"/>
                </a:lnTo>
                <a:lnTo>
                  <a:pt x="609324" y="118786"/>
                </a:lnTo>
                <a:close/>
                <a:moveTo>
                  <a:pt x="257156" y="229457"/>
                </a:moveTo>
                <a:lnTo>
                  <a:pt x="78086" y="229457"/>
                </a:lnTo>
                <a:lnTo>
                  <a:pt x="127873" y="118824"/>
                </a:lnTo>
                <a:lnTo>
                  <a:pt x="271348" y="118824"/>
                </a:lnTo>
                <a:close/>
                <a:moveTo>
                  <a:pt x="254708" y="248507"/>
                </a:moveTo>
                <a:lnTo>
                  <a:pt x="241811" y="349110"/>
                </a:lnTo>
                <a:lnTo>
                  <a:pt x="24260" y="349110"/>
                </a:lnTo>
                <a:lnTo>
                  <a:pt x="69552" y="248507"/>
                </a:lnTo>
                <a:close/>
                <a:moveTo>
                  <a:pt x="273910" y="248507"/>
                </a:moveTo>
                <a:lnTo>
                  <a:pt x="463306" y="248507"/>
                </a:lnTo>
                <a:lnTo>
                  <a:pt x="476212" y="349148"/>
                </a:lnTo>
                <a:lnTo>
                  <a:pt x="261014" y="349148"/>
                </a:lnTo>
                <a:close/>
                <a:moveTo>
                  <a:pt x="495414" y="349110"/>
                </a:moveTo>
                <a:lnTo>
                  <a:pt x="482508" y="248507"/>
                </a:lnTo>
                <a:lnTo>
                  <a:pt x="667684" y="248507"/>
                </a:lnTo>
                <a:lnTo>
                  <a:pt x="712975" y="349148"/>
                </a:lnTo>
                <a:close/>
                <a:moveTo>
                  <a:pt x="600751" y="99736"/>
                </a:moveTo>
                <a:lnTo>
                  <a:pt x="463439" y="99736"/>
                </a:lnTo>
                <a:lnTo>
                  <a:pt x="453095" y="19050"/>
                </a:lnTo>
                <a:lnTo>
                  <a:pt x="564442" y="19050"/>
                </a:lnTo>
                <a:close/>
                <a:moveTo>
                  <a:pt x="172793" y="19050"/>
                </a:moveTo>
                <a:lnTo>
                  <a:pt x="284131" y="19050"/>
                </a:lnTo>
                <a:lnTo>
                  <a:pt x="273787" y="99736"/>
                </a:lnTo>
                <a:lnTo>
                  <a:pt x="136484" y="99736"/>
                </a:lnTo>
                <a:close/>
                <a:moveTo>
                  <a:pt x="19050" y="368160"/>
                </a:moveTo>
                <a:lnTo>
                  <a:pt x="718185" y="368160"/>
                </a:lnTo>
                <a:lnTo>
                  <a:pt x="718185" y="425672"/>
                </a:lnTo>
                <a:lnTo>
                  <a:pt x="19050" y="42567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 descr="Solar Panel Icon 24x24">
            <a:extLst>
              <a:ext uri="{FF2B5EF4-FFF2-40B4-BE49-F238E27FC236}">
                <a16:creationId xmlns:a16="http://schemas.microsoft.com/office/drawing/2014/main" id="{163BE47C-2163-2446-84B8-A0EA807E7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12" y="248876"/>
            <a:ext cx="326755" cy="32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404DDCA4-8740-0ED8-2475-C1DA85781D87}"/>
              </a:ext>
            </a:extLst>
          </p:cNvPr>
          <p:cNvCxnSpPr>
            <a:cxnSpLocks/>
          </p:cNvCxnSpPr>
          <p:nvPr/>
        </p:nvCxnSpPr>
        <p:spPr>
          <a:xfrm>
            <a:off x="352630" y="1217528"/>
            <a:ext cx="17611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9F8A94A-9431-B8D0-A115-843A75E0028B}"/>
              </a:ext>
            </a:extLst>
          </p:cNvPr>
          <p:cNvSpPr txBox="1"/>
          <p:nvPr/>
        </p:nvSpPr>
        <p:spPr>
          <a:xfrm>
            <a:off x="359380" y="1251428"/>
            <a:ext cx="1297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Orientation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D5251C-11C5-8BF9-7989-E819D2B66DF4}"/>
              </a:ext>
            </a:extLst>
          </p:cNvPr>
          <p:cNvSpPr txBox="1"/>
          <p:nvPr/>
        </p:nvSpPr>
        <p:spPr>
          <a:xfrm>
            <a:off x="365275" y="1926038"/>
            <a:ext cx="15217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Layout Options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BAFC73A-4AA2-7D7A-E5D3-B13D9BBD371E}"/>
              </a:ext>
            </a:extLst>
          </p:cNvPr>
          <p:cNvGrpSpPr/>
          <p:nvPr/>
        </p:nvGrpSpPr>
        <p:grpSpPr>
          <a:xfrm>
            <a:off x="350235" y="1703770"/>
            <a:ext cx="1542094" cy="261610"/>
            <a:chOff x="339011" y="1251428"/>
            <a:chExt cx="1542094" cy="261610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295A101-0CA3-098F-896A-89EA9E8BE564}"/>
                </a:ext>
              </a:extLst>
            </p:cNvPr>
            <p:cNvSpPr txBox="1"/>
            <p:nvPr/>
          </p:nvSpPr>
          <p:spPr>
            <a:xfrm>
              <a:off x="359380" y="1251428"/>
              <a:ext cx="15217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Mounting Structure</a:t>
              </a:r>
            </a:p>
          </p:txBody>
        </p: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36B1F7E5-A055-AC8C-9023-83992D868C5C}"/>
                </a:ext>
              </a:extLst>
            </p:cNvPr>
            <p:cNvSpPr/>
            <p:nvPr/>
          </p:nvSpPr>
          <p:spPr>
            <a:xfrm rot="19800000">
              <a:off x="339011" y="1330159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3A21AA4D-A48A-6F0F-E3C0-1B26173D9ABD}"/>
              </a:ext>
            </a:extLst>
          </p:cNvPr>
          <p:cNvSpPr/>
          <p:nvPr/>
        </p:nvSpPr>
        <p:spPr>
          <a:xfrm rot="19800000">
            <a:off x="339824" y="1320631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4E68A6-0E29-30C4-E3CB-BBB49903413F}"/>
              </a:ext>
            </a:extLst>
          </p:cNvPr>
          <p:cNvSpPr txBox="1"/>
          <p:nvPr/>
        </p:nvSpPr>
        <p:spPr>
          <a:xfrm>
            <a:off x="359380" y="1479870"/>
            <a:ext cx="1297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PV Module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E052EE2-3F3C-679E-41DF-64E742A714BA}"/>
              </a:ext>
            </a:extLst>
          </p:cNvPr>
          <p:cNvSpPr/>
          <p:nvPr/>
        </p:nvSpPr>
        <p:spPr>
          <a:xfrm rot="19800000">
            <a:off x="339824" y="1549073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DA9693C2-1FE7-50DB-BECA-66FC94ACF850}"/>
              </a:ext>
            </a:extLst>
          </p:cNvPr>
          <p:cNvSpPr/>
          <p:nvPr/>
        </p:nvSpPr>
        <p:spPr>
          <a:xfrm rot="3600000">
            <a:off x="370118" y="2002571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725E9F-2827-272F-307D-45CC3014D24F}"/>
              </a:ext>
            </a:extLst>
          </p:cNvPr>
          <p:cNvGrpSpPr/>
          <p:nvPr/>
        </p:nvGrpSpPr>
        <p:grpSpPr>
          <a:xfrm>
            <a:off x="337298" y="2549260"/>
            <a:ext cx="1415726" cy="343480"/>
            <a:chOff x="335972" y="2255090"/>
            <a:chExt cx="1415726" cy="34348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1039409-D815-8B22-17C0-78649EDEF344}"/>
                </a:ext>
              </a:extLst>
            </p:cNvPr>
            <p:cNvSpPr/>
            <p:nvPr/>
          </p:nvSpPr>
          <p:spPr>
            <a:xfrm>
              <a:off x="384145" y="2256722"/>
              <a:ext cx="1367553" cy="338554"/>
            </a:xfrm>
            <a:prstGeom prst="roundRect">
              <a:avLst/>
            </a:prstGeom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41F9ABB-25C8-DAED-F801-018DF7CC99E2}"/>
                </a:ext>
              </a:extLst>
            </p:cNvPr>
            <p:cNvSpPr/>
            <p:nvPr/>
          </p:nvSpPr>
          <p:spPr>
            <a:xfrm>
              <a:off x="409802" y="2269422"/>
              <a:ext cx="649746" cy="325853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26CDD7-595D-6C2E-5A00-BE4449840AB3}"/>
                </a:ext>
              </a:extLst>
            </p:cNvPr>
            <p:cNvSpPr txBox="1"/>
            <p:nvPr/>
          </p:nvSpPr>
          <p:spPr>
            <a:xfrm>
              <a:off x="335972" y="2255090"/>
              <a:ext cx="7974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Fill Maximum </a:t>
              </a:r>
            </a:p>
            <a:p>
              <a:pPr algn="ctr"/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Area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AC936FA-96AD-4AD0-DD8D-559AF6A5DD4F}"/>
                </a:ext>
              </a:extLst>
            </p:cNvPr>
            <p:cNvSpPr txBox="1"/>
            <p:nvPr/>
          </p:nvSpPr>
          <p:spPr>
            <a:xfrm>
              <a:off x="1023629" y="2260016"/>
              <a:ext cx="7280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Fill Desired Capacity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FEAF17-3EC0-5D1D-AD9B-D210D12829E5}"/>
              </a:ext>
            </a:extLst>
          </p:cNvPr>
          <p:cNvGrpSpPr/>
          <p:nvPr/>
        </p:nvGrpSpPr>
        <p:grpSpPr>
          <a:xfrm>
            <a:off x="300633" y="2252222"/>
            <a:ext cx="1910305" cy="230832"/>
            <a:chOff x="303692" y="2752919"/>
            <a:chExt cx="1910305" cy="2308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F6A8D3-888C-97AC-EF21-88609176D49E}"/>
                </a:ext>
              </a:extLst>
            </p:cNvPr>
            <p:cNvSpPr txBox="1"/>
            <p:nvPr/>
          </p:nvSpPr>
          <p:spPr>
            <a:xfrm>
              <a:off x="303692" y="2752919"/>
              <a:ext cx="151467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Desired Capacity (kWp)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804700C-6B7E-9D6B-2DF9-58D61D3CDC22}"/>
                </a:ext>
              </a:extLst>
            </p:cNvPr>
            <p:cNvSpPr/>
            <p:nvPr/>
          </p:nvSpPr>
          <p:spPr>
            <a:xfrm>
              <a:off x="1600995" y="2774687"/>
              <a:ext cx="613002" cy="1936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4629D28-2CA5-4A5E-4034-EBFE763636C4}"/>
              </a:ext>
            </a:extLst>
          </p:cNvPr>
          <p:cNvGrpSpPr/>
          <p:nvPr/>
        </p:nvGrpSpPr>
        <p:grpSpPr>
          <a:xfrm>
            <a:off x="331377" y="2977678"/>
            <a:ext cx="1415726" cy="343480"/>
            <a:chOff x="335972" y="2255090"/>
            <a:chExt cx="1415726" cy="34348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48595E2-DF8B-05C6-1A97-E36F3AAB0B46}"/>
                </a:ext>
              </a:extLst>
            </p:cNvPr>
            <p:cNvSpPr/>
            <p:nvPr/>
          </p:nvSpPr>
          <p:spPr>
            <a:xfrm>
              <a:off x="384145" y="2256722"/>
              <a:ext cx="1367553" cy="338554"/>
            </a:xfrm>
            <a:prstGeom prst="roundRect">
              <a:avLst/>
            </a:prstGeom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1461542-C9BD-33FC-6C1F-31FAD8448BD1}"/>
                </a:ext>
              </a:extLst>
            </p:cNvPr>
            <p:cNvSpPr/>
            <p:nvPr/>
          </p:nvSpPr>
          <p:spPr>
            <a:xfrm>
              <a:off x="409802" y="2269422"/>
              <a:ext cx="649746" cy="325853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6991F58-5B6C-DB66-CA3C-523B70B97513}"/>
                </a:ext>
              </a:extLst>
            </p:cNvPr>
            <p:cNvSpPr txBox="1"/>
            <p:nvPr/>
          </p:nvSpPr>
          <p:spPr>
            <a:xfrm>
              <a:off x="335972" y="2255090"/>
              <a:ext cx="7974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Adaptive Layout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40DDD1E-D1FB-0B3E-3456-28B43F9339AF}"/>
                </a:ext>
              </a:extLst>
            </p:cNvPr>
            <p:cNvSpPr txBox="1"/>
            <p:nvPr/>
          </p:nvSpPr>
          <p:spPr>
            <a:xfrm>
              <a:off x="1023629" y="2260016"/>
              <a:ext cx="7280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Block Design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BEC57D3-C478-5C18-9193-3ED3D38DE6CA}"/>
              </a:ext>
            </a:extLst>
          </p:cNvPr>
          <p:cNvGrpSpPr/>
          <p:nvPr/>
        </p:nvGrpSpPr>
        <p:grpSpPr>
          <a:xfrm>
            <a:off x="377239" y="4076630"/>
            <a:ext cx="1713962" cy="230832"/>
            <a:chOff x="377509" y="2270956"/>
            <a:chExt cx="1713962" cy="23083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17700CB-1C75-6DFB-6236-D1805DAB67AC}"/>
                </a:ext>
              </a:extLst>
            </p:cNvPr>
            <p:cNvSpPr/>
            <p:nvPr/>
          </p:nvSpPr>
          <p:spPr>
            <a:xfrm>
              <a:off x="391027" y="2283815"/>
              <a:ext cx="1700444" cy="2046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8CFE76C-396C-D985-B53C-772510879D0F}"/>
                </a:ext>
              </a:extLst>
            </p:cNvPr>
            <p:cNvSpPr txBox="1"/>
            <p:nvPr/>
          </p:nvSpPr>
          <p:spPr>
            <a:xfrm>
              <a:off x="377509" y="2270956"/>
              <a:ext cx="143779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Fill Area Start Point</a:t>
              </a:r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851504E7-A6F1-8237-04B4-E960C27D5EED}"/>
                </a:ext>
              </a:extLst>
            </p:cNvPr>
            <p:cNvSpPr/>
            <p:nvPr/>
          </p:nvSpPr>
          <p:spPr>
            <a:xfrm rot="3600000">
              <a:off x="1962500" y="2338621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E6AE568-C209-8860-4E0C-247585CC7C58}"/>
              </a:ext>
            </a:extLst>
          </p:cNvPr>
          <p:cNvGrpSpPr/>
          <p:nvPr/>
        </p:nvGrpSpPr>
        <p:grpSpPr>
          <a:xfrm>
            <a:off x="331377" y="3417598"/>
            <a:ext cx="1415726" cy="343480"/>
            <a:chOff x="335972" y="2255090"/>
            <a:chExt cx="1415726" cy="34348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EF2B1EC7-68D8-DD67-F0BE-495FCC261B12}"/>
                </a:ext>
              </a:extLst>
            </p:cNvPr>
            <p:cNvSpPr/>
            <p:nvPr/>
          </p:nvSpPr>
          <p:spPr>
            <a:xfrm>
              <a:off x="384145" y="2256722"/>
              <a:ext cx="1367553" cy="338554"/>
            </a:xfrm>
            <a:prstGeom prst="roundRect">
              <a:avLst/>
            </a:prstGeom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FDB79E98-E931-6129-0508-A160ED548E2F}"/>
                </a:ext>
              </a:extLst>
            </p:cNvPr>
            <p:cNvSpPr/>
            <p:nvPr/>
          </p:nvSpPr>
          <p:spPr>
            <a:xfrm>
              <a:off x="409802" y="2269422"/>
              <a:ext cx="649746" cy="325853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602BCD9-DF86-598E-8ED3-05F434115F7C}"/>
                </a:ext>
              </a:extLst>
            </p:cNvPr>
            <p:cNvSpPr txBox="1"/>
            <p:nvPr/>
          </p:nvSpPr>
          <p:spPr>
            <a:xfrm>
              <a:off x="335972" y="2255090"/>
              <a:ext cx="7974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Show Only Table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55FBBC2-5A16-7A62-6DB3-5DE1441CF3AD}"/>
                </a:ext>
              </a:extLst>
            </p:cNvPr>
            <p:cNvSpPr txBox="1"/>
            <p:nvPr/>
          </p:nvSpPr>
          <p:spPr>
            <a:xfrm>
              <a:off x="1023629" y="2260016"/>
              <a:ext cx="7280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Show PV Modules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9422F145-8FA6-EB89-614D-8FD008E0BA53}"/>
              </a:ext>
            </a:extLst>
          </p:cNvPr>
          <p:cNvSpPr txBox="1"/>
          <p:nvPr/>
        </p:nvSpPr>
        <p:spPr>
          <a:xfrm>
            <a:off x="326887" y="3781121"/>
            <a:ext cx="1891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Show PV Modules option is not applicable for Systems &gt;5000 kWp</a:t>
            </a:r>
          </a:p>
        </p:txBody>
      </p:sp>
    </p:spTree>
    <p:extLst>
      <p:ext uri="{BB962C8B-B14F-4D97-AF65-F5344CB8AC3E}">
        <p14:creationId xmlns:p14="http://schemas.microsoft.com/office/powerpoint/2010/main" val="2943517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AC255-8BB5-020C-B3CF-2B9FFD906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3F92020-1AD6-A4F1-B91A-A682CF099263}"/>
              </a:ext>
            </a:extLst>
          </p:cNvPr>
          <p:cNvSpPr/>
          <p:nvPr/>
        </p:nvSpPr>
        <p:spPr>
          <a:xfrm>
            <a:off x="1443818" y="218408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477C435-B42F-1B43-682A-8C9556C6C066}"/>
              </a:ext>
            </a:extLst>
          </p:cNvPr>
          <p:cNvGrpSpPr/>
          <p:nvPr/>
        </p:nvGrpSpPr>
        <p:grpSpPr>
          <a:xfrm>
            <a:off x="3113638" y="207943"/>
            <a:ext cx="420624" cy="402336"/>
            <a:chOff x="539111" y="970049"/>
            <a:chExt cx="420624" cy="40233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D0872C5E-4638-DF76-1F58-FE5DDED990E7}"/>
                </a:ext>
              </a:extLst>
            </p:cNvPr>
            <p:cNvSpPr/>
            <p:nvPr/>
          </p:nvSpPr>
          <p:spPr>
            <a:xfrm>
              <a:off x="539111" y="970049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Graphic 58" descr="Pencil outline">
              <a:extLst>
                <a:ext uri="{FF2B5EF4-FFF2-40B4-BE49-F238E27FC236}">
                  <a16:creationId xmlns:a16="http://schemas.microsoft.com/office/drawing/2014/main" id="{C47AF10A-812F-0E1A-2EC0-0B7A4D4C6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222" y="997097"/>
              <a:ext cx="364067" cy="364067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A8D4AA-2279-9AB4-F0A7-105C43F7AB17}"/>
              </a:ext>
            </a:extLst>
          </p:cNvPr>
          <p:cNvSpPr/>
          <p:nvPr/>
        </p:nvSpPr>
        <p:spPr>
          <a:xfrm rot="5400000">
            <a:off x="2446552" y="-2010369"/>
            <a:ext cx="539203" cy="485314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A996637-95A6-0A3E-2085-5034E5B86C8B}"/>
              </a:ext>
            </a:extLst>
          </p:cNvPr>
          <p:cNvGrpSpPr/>
          <p:nvPr/>
        </p:nvGrpSpPr>
        <p:grpSpPr>
          <a:xfrm>
            <a:off x="391026" y="213973"/>
            <a:ext cx="420624" cy="402336"/>
            <a:chOff x="525780" y="493776"/>
            <a:chExt cx="420624" cy="40233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B688D44-2A0A-B843-6580-A9BDC39292F8}"/>
                </a:ext>
              </a:extLst>
            </p:cNvPr>
            <p:cNvSpPr/>
            <p:nvPr/>
          </p:nvSpPr>
          <p:spPr>
            <a:xfrm>
              <a:off x="525780" y="493776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 descr="Magnifying glass outline">
              <a:extLst>
                <a:ext uri="{FF2B5EF4-FFF2-40B4-BE49-F238E27FC236}">
                  <a16:creationId xmlns:a16="http://schemas.microsoft.com/office/drawing/2014/main" id="{37870249-6165-A476-BAD8-61A868946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8895" y="517747"/>
              <a:ext cx="354394" cy="354394"/>
            </a:xfrm>
            <a:prstGeom prst="rect">
              <a:avLst/>
            </a:prstGeom>
          </p:spPr>
        </p:pic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FF0601A-FE7C-0C84-FFAF-D8D00807B3B8}"/>
              </a:ext>
            </a:extLst>
          </p:cNvPr>
          <p:cNvSpPr/>
          <p:nvPr/>
        </p:nvSpPr>
        <p:spPr>
          <a:xfrm>
            <a:off x="2451899" y="213973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D5A7722-0484-DEC0-9EAC-FF4B14FB95D7}"/>
              </a:ext>
            </a:extLst>
          </p:cNvPr>
          <p:cNvGrpSpPr/>
          <p:nvPr/>
        </p:nvGrpSpPr>
        <p:grpSpPr>
          <a:xfrm>
            <a:off x="1944905" y="213973"/>
            <a:ext cx="420624" cy="402336"/>
            <a:chOff x="528352" y="1946337"/>
            <a:chExt cx="420624" cy="40233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B453642-E3C6-397E-9C8B-2BC58E130EC8}"/>
                </a:ext>
              </a:extLst>
            </p:cNvPr>
            <p:cNvSpPr/>
            <p:nvPr/>
          </p:nvSpPr>
          <p:spPr>
            <a:xfrm>
              <a:off x="528352" y="1946337"/>
              <a:ext cx="420624" cy="40233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 descr="Electric Tower outline">
              <a:extLst>
                <a:ext uri="{FF2B5EF4-FFF2-40B4-BE49-F238E27FC236}">
                  <a16:creationId xmlns:a16="http://schemas.microsoft.com/office/drawing/2014/main" id="{FD9BEECE-CC2E-DCB0-9F41-321EC32DB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4039" y="1972880"/>
              <a:ext cx="349250" cy="349250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95CF4CF-2CBF-3CFF-1102-0FE93E2400CF}"/>
              </a:ext>
            </a:extLst>
          </p:cNvPr>
          <p:cNvCxnSpPr>
            <a:cxnSpLocks/>
          </p:cNvCxnSpPr>
          <p:nvPr/>
        </p:nvCxnSpPr>
        <p:spPr>
          <a:xfrm>
            <a:off x="2993080" y="272978"/>
            <a:ext cx="0" cy="30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D2F6385-05AF-6D20-9027-63889FEB9D45}"/>
              </a:ext>
            </a:extLst>
          </p:cNvPr>
          <p:cNvGrpSpPr/>
          <p:nvPr/>
        </p:nvGrpSpPr>
        <p:grpSpPr>
          <a:xfrm>
            <a:off x="4627102" y="205188"/>
            <a:ext cx="420624" cy="402336"/>
            <a:chOff x="531114" y="4073969"/>
            <a:chExt cx="420624" cy="40233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4C100B0-BCB4-0244-AE0A-8BF021449642}"/>
                </a:ext>
              </a:extLst>
            </p:cNvPr>
            <p:cNvSpPr/>
            <p:nvPr/>
          </p:nvSpPr>
          <p:spPr>
            <a:xfrm>
              <a:off x="531114" y="4073969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isk outline">
              <a:extLst>
                <a:ext uri="{FF2B5EF4-FFF2-40B4-BE49-F238E27FC236}">
                  <a16:creationId xmlns:a16="http://schemas.microsoft.com/office/drawing/2014/main" id="{0C911177-C53F-410C-358C-B1F04A96E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4039" y="4100512"/>
              <a:ext cx="349250" cy="34925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5855C6B-5B5C-9DE8-BA41-BF8F20C8A2E7}"/>
              </a:ext>
            </a:extLst>
          </p:cNvPr>
          <p:cNvGrpSpPr/>
          <p:nvPr/>
        </p:nvGrpSpPr>
        <p:grpSpPr>
          <a:xfrm>
            <a:off x="4126964" y="205188"/>
            <a:ext cx="420624" cy="402336"/>
            <a:chOff x="531114" y="3589782"/>
            <a:chExt cx="420624" cy="40233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0CDF860-5966-893B-7B56-C14521040092}"/>
                </a:ext>
              </a:extLst>
            </p:cNvPr>
            <p:cNvSpPr/>
            <p:nvPr/>
          </p:nvSpPr>
          <p:spPr>
            <a:xfrm>
              <a:off x="531114" y="3589782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Graphic 38" descr="Share outline">
              <a:extLst>
                <a:ext uri="{FF2B5EF4-FFF2-40B4-BE49-F238E27FC236}">
                  <a16:creationId xmlns:a16="http://schemas.microsoft.com/office/drawing/2014/main" id="{3F366D1A-7A3A-3B69-E128-21570F54A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8329" y="3633470"/>
              <a:ext cx="314960" cy="31496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AD2DCEE-07C9-5BD2-208F-DBD366DD9ACD}"/>
              </a:ext>
            </a:extLst>
          </p:cNvPr>
          <p:cNvGrpSpPr/>
          <p:nvPr/>
        </p:nvGrpSpPr>
        <p:grpSpPr>
          <a:xfrm>
            <a:off x="3610894" y="205188"/>
            <a:ext cx="420624" cy="402336"/>
            <a:chOff x="531114" y="3105595"/>
            <a:chExt cx="420624" cy="4023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B866BBF-5C3C-912A-EE23-96B5B482DAE1}"/>
                </a:ext>
              </a:extLst>
            </p:cNvPr>
            <p:cNvSpPr/>
            <p:nvPr/>
          </p:nvSpPr>
          <p:spPr>
            <a:xfrm>
              <a:off x="531114" y="3105595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Layers Design outline">
              <a:extLst>
                <a:ext uri="{FF2B5EF4-FFF2-40B4-BE49-F238E27FC236}">
                  <a16:creationId xmlns:a16="http://schemas.microsoft.com/office/drawing/2014/main" id="{E06AEFDA-40FA-CE5B-EFC9-9948518A4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8895" y="3126296"/>
              <a:ext cx="347133" cy="347133"/>
            </a:xfrm>
            <a:prstGeom prst="rect">
              <a:avLst/>
            </a:prstGeom>
          </p:spPr>
        </p:pic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2B42FF-86F7-2F65-0183-3C2BACA90A76}"/>
              </a:ext>
            </a:extLst>
          </p:cNvPr>
          <p:cNvSpPr/>
          <p:nvPr/>
        </p:nvSpPr>
        <p:spPr>
          <a:xfrm>
            <a:off x="296038" y="960531"/>
            <a:ext cx="9425478" cy="5656953"/>
          </a:xfrm>
          <a:prstGeom prst="roundRect">
            <a:avLst>
              <a:gd name="adj" fmla="val 3119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C3F5D4-D057-34CD-785F-651796EFFE3D}"/>
              </a:ext>
            </a:extLst>
          </p:cNvPr>
          <p:cNvSpPr txBox="1"/>
          <p:nvPr/>
        </p:nvSpPr>
        <p:spPr>
          <a:xfrm>
            <a:off x="300307" y="960532"/>
            <a:ext cx="18424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Electrical Configuration</a:t>
            </a:r>
          </a:p>
        </p:txBody>
      </p:sp>
      <p:sp>
        <p:nvSpPr>
          <p:cNvPr id="142" name="Isosceles Triangle 141">
            <a:extLst>
              <a:ext uri="{FF2B5EF4-FFF2-40B4-BE49-F238E27FC236}">
                <a16:creationId xmlns:a16="http://schemas.microsoft.com/office/drawing/2014/main" id="{27298CD3-EA26-D37C-C9C3-F8D606DC4DBE}"/>
              </a:ext>
            </a:extLst>
          </p:cNvPr>
          <p:cNvSpPr/>
          <p:nvPr/>
        </p:nvSpPr>
        <p:spPr>
          <a:xfrm rot="14400000">
            <a:off x="9506026" y="1188118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A649F335-61A9-5454-7CF7-825793AA56CE}"/>
              </a:ext>
            </a:extLst>
          </p:cNvPr>
          <p:cNvSpPr/>
          <p:nvPr/>
        </p:nvSpPr>
        <p:spPr>
          <a:xfrm>
            <a:off x="9521199" y="1307911"/>
            <a:ext cx="81768" cy="88106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Isosceles Triangle 143">
            <a:extLst>
              <a:ext uri="{FF2B5EF4-FFF2-40B4-BE49-F238E27FC236}">
                <a16:creationId xmlns:a16="http://schemas.microsoft.com/office/drawing/2014/main" id="{AF21385F-76B7-7F0E-0840-9E1C02F51879}"/>
              </a:ext>
            </a:extLst>
          </p:cNvPr>
          <p:cNvSpPr/>
          <p:nvPr/>
        </p:nvSpPr>
        <p:spPr>
          <a:xfrm rot="3600000">
            <a:off x="9532253" y="6294323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7B56AAF8-0FED-5FB2-94FC-7519D99EF8E7}"/>
              </a:ext>
            </a:extLst>
          </p:cNvPr>
          <p:cNvCxnSpPr/>
          <p:nvPr/>
        </p:nvCxnSpPr>
        <p:spPr>
          <a:xfrm flipH="1">
            <a:off x="9569876" y="6478836"/>
            <a:ext cx="48536" cy="7302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5F9AE6AA-5715-DF36-C724-77B18117D8A9}"/>
              </a:ext>
            </a:extLst>
          </p:cNvPr>
          <p:cNvCxnSpPr>
            <a:cxnSpLocks/>
          </p:cNvCxnSpPr>
          <p:nvPr/>
        </p:nvCxnSpPr>
        <p:spPr>
          <a:xfrm flipH="1">
            <a:off x="9593540" y="6500052"/>
            <a:ext cx="36546" cy="5498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Multiplication Sign 167">
            <a:extLst>
              <a:ext uri="{FF2B5EF4-FFF2-40B4-BE49-F238E27FC236}">
                <a16:creationId xmlns:a16="http://schemas.microsoft.com/office/drawing/2014/main" id="{BF0CF8CF-68F5-9F3C-2763-C32E9CAC5DA2}"/>
              </a:ext>
            </a:extLst>
          </p:cNvPr>
          <p:cNvSpPr/>
          <p:nvPr/>
        </p:nvSpPr>
        <p:spPr>
          <a:xfrm rot="5400000">
            <a:off x="9493693" y="1038542"/>
            <a:ext cx="125941" cy="108570"/>
          </a:xfrm>
          <a:prstGeom prst="mathMultiply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31F08D1-38E5-8065-B6C8-35C3959EE2CF}"/>
              </a:ext>
            </a:extLst>
          </p:cNvPr>
          <p:cNvGrpSpPr/>
          <p:nvPr/>
        </p:nvGrpSpPr>
        <p:grpSpPr>
          <a:xfrm>
            <a:off x="918471" y="214163"/>
            <a:ext cx="420624" cy="402336"/>
            <a:chOff x="1421190" y="266013"/>
            <a:chExt cx="420624" cy="402336"/>
          </a:xfrm>
        </p:grpSpPr>
        <p:sp>
          <p:nvSpPr>
            <p:cNvPr id="176" name="Rectangle: Rounded Corners 175">
              <a:extLst>
                <a:ext uri="{FF2B5EF4-FFF2-40B4-BE49-F238E27FC236}">
                  <a16:creationId xmlns:a16="http://schemas.microsoft.com/office/drawing/2014/main" id="{B82CE8A3-16F5-E9E0-B7D7-0076C3DE50C3}"/>
                </a:ext>
              </a:extLst>
            </p:cNvPr>
            <p:cNvSpPr/>
            <p:nvPr/>
          </p:nvSpPr>
          <p:spPr>
            <a:xfrm>
              <a:off x="1421190" y="266013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7" name="Graphic 176" descr="Blueprint outline">
              <a:extLst>
                <a:ext uri="{FF2B5EF4-FFF2-40B4-BE49-F238E27FC236}">
                  <a16:creationId xmlns:a16="http://schemas.microsoft.com/office/drawing/2014/main" id="{324756F7-3876-09B7-B40A-3362B9A8C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60814" y="277324"/>
              <a:ext cx="381000" cy="381000"/>
            </a:xfrm>
            <a:prstGeom prst="rect">
              <a:avLst/>
            </a:prstGeom>
          </p:spPr>
        </p:pic>
      </p:grp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0166A646-F890-7B85-55DD-8C24E5AA6BF3}"/>
              </a:ext>
            </a:extLst>
          </p:cNvPr>
          <p:cNvSpPr/>
          <p:nvPr/>
        </p:nvSpPr>
        <p:spPr>
          <a:xfrm>
            <a:off x="1498709" y="293060"/>
            <a:ext cx="316600" cy="244162"/>
          </a:xfrm>
          <a:custGeom>
            <a:avLst/>
            <a:gdLst>
              <a:gd name="connsiteX0" fmla="*/ 737225 w 737225"/>
              <a:gd name="connsiteY0" fmla="*/ 444722 h 568547"/>
              <a:gd name="connsiteX1" fmla="*/ 737225 w 737225"/>
              <a:gd name="connsiteY1" fmla="*/ 356587 h 568547"/>
              <a:gd name="connsiteX2" fmla="*/ 576758 w 737225"/>
              <a:gd name="connsiteY2" fmla="*/ 0 h 568547"/>
              <a:gd name="connsiteX3" fmla="*/ 160515 w 737225"/>
              <a:gd name="connsiteY3" fmla="*/ 0 h 568547"/>
              <a:gd name="connsiteX4" fmla="*/ 0 w 737225"/>
              <a:gd name="connsiteY4" fmla="*/ 356587 h 568547"/>
              <a:gd name="connsiteX5" fmla="*/ 0 w 737225"/>
              <a:gd name="connsiteY5" fmla="*/ 444722 h 568547"/>
              <a:gd name="connsiteX6" fmla="*/ 359093 w 737225"/>
              <a:gd name="connsiteY6" fmla="*/ 444722 h 568547"/>
              <a:gd name="connsiteX7" fmla="*/ 359093 w 737225"/>
              <a:gd name="connsiteY7" fmla="*/ 549497 h 568547"/>
              <a:gd name="connsiteX8" fmla="*/ 238944 w 737225"/>
              <a:gd name="connsiteY8" fmla="*/ 549497 h 568547"/>
              <a:gd name="connsiteX9" fmla="*/ 238944 w 737225"/>
              <a:gd name="connsiteY9" fmla="*/ 568547 h 568547"/>
              <a:gd name="connsiteX10" fmla="*/ 498281 w 737225"/>
              <a:gd name="connsiteY10" fmla="*/ 568547 h 568547"/>
              <a:gd name="connsiteX11" fmla="*/ 498281 w 737225"/>
              <a:gd name="connsiteY11" fmla="*/ 549497 h 568547"/>
              <a:gd name="connsiteX12" fmla="*/ 378143 w 737225"/>
              <a:gd name="connsiteY12" fmla="*/ 549497 h 568547"/>
              <a:gd name="connsiteX13" fmla="*/ 378143 w 737225"/>
              <a:gd name="connsiteY13" fmla="*/ 444722 h 568547"/>
              <a:gd name="connsiteX14" fmla="*/ 446713 w 737225"/>
              <a:gd name="connsiteY14" fmla="*/ 118786 h 568547"/>
              <a:gd name="connsiteX15" fmla="*/ 460867 w 737225"/>
              <a:gd name="connsiteY15" fmla="*/ 229457 h 568547"/>
              <a:gd name="connsiteX16" fmla="*/ 276368 w 737225"/>
              <a:gd name="connsiteY16" fmla="*/ 229457 h 568547"/>
              <a:gd name="connsiteX17" fmla="*/ 290551 w 737225"/>
              <a:gd name="connsiteY17" fmla="*/ 118786 h 568547"/>
              <a:gd name="connsiteX18" fmla="*/ 293018 w 737225"/>
              <a:gd name="connsiteY18" fmla="*/ 99736 h 568547"/>
              <a:gd name="connsiteX19" fmla="*/ 303362 w 737225"/>
              <a:gd name="connsiteY19" fmla="*/ 19050 h 568547"/>
              <a:gd name="connsiteX20" fmla="*/ 433892 w 737225"/>
              <a:gd name="connsiteY20" fmla="*/ 19050 h 568547"/>
              <a:gd name="connsiteX21" fmla="*/ 444236 w 737225"/>
              <a:gd name="connsiteY21" fmla="*/ 99736 h 568547"/>
              <a:gd name="connsiteX22" fmla="*/ 659111 w 737225"/>
              <a:gd name="connsiteY22" fmla="*/ 229457 h 568547"/>
              <a:gd name="connsiteX23" fmla="*/ 480041 w 737225"/>
              <a:gd name="connsiteY23" fmla="*/ 229457 h 568547"/>
              <a:gd name="connsiteX24" fmla="*/ 465887 w 737225"/>
              <a:gd name="connsiteY24" fmla="*/ 118786 h 568547"/>
              <a:gd name="connsiteX25" fmla="*/ 609324 w 737225"/>
              <a:gd name="connsiteY25" fmla="*/ 118786 h 568547"/>
              <a:gd name="connsiteX26" fmla="*/ 257156 w 737225"/>
              <a:gd name="connsiteY26" fmla="*/ 229457 h 568547"/>
              <a:gd name="connsiteX27" fmla="*/ 78086 w 737225"/>
              <a:gd name="connsiteY27" fmla="*/ 229457 h 568547"/>
              <a:gd name="connsiteX28" fmla="*/ 127873 w 737225"/>
              <a:gd name="connsiteY28" fmla="*/ 118824 h 568547"/>
              <a:gd name="connsiteX29" fmla="*/ 271348 w 737225"/>
              <a:gd name="connsiteY29" fmla="*/ 118824 h 568547"/>
              <a:gd name="connsiteX30" fmla="*/ 254708 w 737225"/>
              <a:gd name="connsiteY30" fmla="*/ 248507 h 568547"/>
              <a:gd name="connsiteX31" fmla="*/ 241811 w 737225"/>
              <a:gd name="connsiteY31" fmla="*/ 349110 h 568547"/>
              <a:gd name="connsiteX32" fmla="*/ 24260 w 737225"/>
              <a:gd name="connsiteY32" fmla="*/ 349110 h 568547"/>
              <a:gd name="connsiteX33" fmla="*/ 69552 w 737225"/>
              <a:gd name="connsiteY33" fmla="*/ 248507 h 568547"/>
              <a:gd name="connsiteX34" fmla="*/ 273910 w 737225"/>
              <a:gd name="connsiteY34" fmla="*/ 248507 h 568547"/>
              <a:gd name="connsiteX35" fmla="*/ 463306 w 737225"/>
              <a:gd name="connsiteY35" fmla="*/ 248507 h 568547"/>
              <a:gd name="connsiteX36" fmla="*/ 476212 w 737225"/>
              <a:gd name="connsiteY36" fmla="*/ 349148 h 568547"/>
              <a:gd name="connsiteX37" fmla="*/ 261014 w 737225"/>
              <a:gd name="connsiteY37" fmla="*/ 349148 h 568547"/>
              <a:gd name="connsiteX38" fmla="*/ 495414 w 737225"/>
              <a:gd name="connsiteY38" fmla="*/ 349110 h 568547"/>
              <a:gd name="connsiteX39" fmla="*/ 482508 w 737225"/>
              <a:gd name="connsiteY39" fmla="*/ 248507 h 568547"/>
              <a:gd name="connsiteX40" fmla="*/ 667684 w 737225"/>
              <a:gd name="connsiteY40" fmla="*/ 248507 h 568547"/>
              <a:gd name="connsiteX41" fmla="*/ 712975 w 737225"/>
              <a:gd name="connsiteY41" fmla="*/ 349148 h 568547"/>
              <a:gd name="connsiteX42" fmla="*/ 600751 w 737225"/>
              <a:gd name="connsiteY42" fmla="*/ 99736 h 568547"/>
              <a:gd name="connsiteX43" fmla="*/ 463439 w 737225"/>
              <a:gd name="connsiteY43" fmla="*/ 99736 h 568547"/>
              <a:gd name="connsiteX44" fmla="*/ 453095 w 737225"/>
              <a:gd name="connsiteY44" fmla="*/ 19050 h 568547"/>
              <a:gd name="connsiteX45" fmla="*/ 564442 w 737225"/>
              <a:gd name="connsiteY45" fmla="*/ 19050 h 568547"/>
              <a:gd name="connsiteX46" fmla="*/ 172793 w 737225"/>
              <a:gd name="connsiteY46" fmla="*/ 19050 h 568547"/>
              <a:gd name="connsiteX47" fmla="*/ 284131 w 737225"/>
              <a:gd name="connsiteY47" fmla="*/ 19050 h 568547"/>
              <a:gd name="connsiteX48" fmla="*/ 273787 w 737225"/>
              <a:gd name="connsiteY48" fmla="*/ 99736 h 568547"/>
              <a:gd name="connsiteX49" fmla="*/ 136484 w 737225"/>
              <a:gd name="connsiteY49" fmla="*/ 99736 h 568547"/>
              <a:gd name="connsiteX50" fmla="*/ 19050 w 737225"/>
              <a:gd name="connsiteY50" fmla="*/ 368160 h 568547"/>
              <a:gd name="connsiteX51" fmla="*/ 718185 w 737225"/>
              <a:gd name="connsiteY51" fmla="*/ 368160 h 568547"/>
              <a:gd name="connsiteX52" fmla="*/ 718185 w 737225"/>
              <a:gd name="connsiteY52" fmla="*/ 425672 h 568547"/>
              <a:gd name="connsiteX53" fmla="*/ 19050 w 737225"/>
              <a:gd name="connsiteY53" fmla="*/ 425672 h 568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37225" h="568547">
                <a:moveTo>
                  <a:pt x="737225" y="444722"/>
                </a:moveTo>
                <a:lnTo>
                  <a:pt x="737225" y="356587"/>
                </a:lnTo>
                <a:lnTo>
                  <a:pt x="576758" y="0"/>
                </a:lnTo>
                <a:lnTo>
                  <a:pt x="160515" y="0"/>
                </a:lnTo>
                <a:lnTo>
                  <a:pt x="0" y="356587"/>
                </a:lnTo>
                <a:lnTo>
                  <a:pt x="0" y="444722"/>
                </a:lnTo>
                <a:lnTo>
                  <a:pt x="359093" y="444722"/>
                </a:lnTo>
                <a:lnTo>
                  <a:pt x="359093" y="549497"/>
                </a:lnTo>
                <a:lnTo>
                  <a:pt x="238944" y="549497"/>
                </a:lnTo>
                <a:lnTo>
                  <a:pt x="238944" y="568547"/>
                </a:lnTo>
                <a:lnTo>
                  <a:pt x="498281" y="568547"/>
                </a:lnTo>
                <a:lnTo>
                  <a:pt x="498281" y="549497"/>
                </a:lnTo>
                <a:lnTo>
                  <a:pt x="378143" y="549497"/>
                </a:lnTo>
                <a:lnTo>
                  <a:pt x="378143" y="444722"/>
                </a:lnTo>
                <a:close/>
                <a:moveTo>
                  <a:pt x="446713" y="118786"/>
                </a:moveTo>
                <a:lnTo>
                  <a:pt x="460867" y="229457"/>
                </a:lnTo>
                <a:lnTo>
                  <a:pt x="276368" y="229457"/>
                </a:lnTo>
                <a:lnTo>
                  <a:pt x="290551" y="118786"/>
                </a:lnTo>
                <a:close/>
                <a:moveTo>
                  <a:pt x="293018" y="99736"/>
                </a:moveTo>
                <a:lnTo>
                  <a:pt x="303362" y="19050"/>
                </a:lnTo>
                <a:lnTo>
                  <a:pt x="433892" y="19050"/>
                </a:lnTo>
                <a:lnTo>
                  <a:pt x="444236" y="99736"/>
                </a:lnTo>
                <a:close/>
                <a:moveTo>
                  <a:pt x="659111" y="229457"/>
                </a:moveTo>
                <a:lnTo>
                  <a:pt x="480041" y="229457"/>
                </a:lnTo>
                <a:lnTo>
                  <a:pt x="465887" y="118786"/>
                </a:lnTo>
                <a:lnTo>
                  <a:pt x="609324" y="118786"/>
                </a:lnTo>
                <a:close/>
                <a:moveTo>
                  <a:pt x="257156" y="229457"/>
                </a:moveTo>
                <a:lnTo>
                  <a:pt x="78086" y="229457"/>
                </a:lnTo>
                <a:lnTo>
                  <a:pt x="127873" y="118824"/>
                </a:lnTo>
                <a:lnTo>
                  <a:pt x="271348" y="118824"/>
                </a:lnTo>
                <a:close/>
                <a:moveTo>
                  <a:pt x="254708" y="248507"/>
                </a:moveTo>
                <a:lnTo>
                  <a:pt x="241811" y="349110"/>
                </a:lnTo>
                <a:lnTo>
                  <a:pt x="24260" y="349110"/>
                </a:lnTo>
                <a:lnTo>
                  <a:pt x="69552" y="248507"/>
                </a:lnTo>
                <a:close/>
                <a:moveTo>
                  <a:pt x="273910" y="248507"/>
                </a:moveTo>
                <a:lnTo>
                  <a:pt x="463306" y="248507"/>
                </a:lnTo>
                <a:lnTo>
                  <a:pt x="476212" y="349148"/>
                </a:lnTo>
                <a:lnTo>
                  <a:pt x="261014" y="349148"/>
                </a:lnTo>
                <a:close/>
                <a:moveTo>
                  <a:pt x="495414" y="349110"/>
                </a:moveTo>
                <a:lnTo>
                  <a:pt x="482508" y="248507"/>
                </a:lnTo>
                <a:lnTo>
                  <a:pt x="667684" y="248507"/>
                </a:lnTo>
                <a:lnTo>
                  <a:pt x="712975" y="349148"/>
                </a:lnTo>
                <a:close/>
                <a:moveTo>
                  <a:pt x="600751" y="99736"/>
                </a:moveTo>
                <a:lnTo>
                  <a:pt x="463439" y="99736"/>
                </a:lnTo>
                <a:lnTo>
                  <a:pt x="453095" y="19050"/>
                </a:lnTo>
                <a:lnTo>
                  <a:pt x="564442" y="19050"/>
                </a:lnTo>
                <a:close/>
                <a:moveTo>
                  <a:pt x="172793" y="19050"/>
                </a:moveTo>
                <a:lnTo>
                  <a:pt x="284131" y="19050"/>
                </a:lnTo>
                <a:lnTo>
                  <a:pt x="273787" y="99736"/>
                </a:lnTo>
                <a:lnTo>
                  <a:pt x="136484" y="99736"/>
                </a:lnTo>
                <a:close/>
                <a:moveTo>
                  <a:pt x="19050" y="368160"/>
                </a:moveTo>
                <a:lnTo>
                  <a:pt x="718185" y="368160"/>
                </a:lnTo>
                <a:lnTo>
                  <a:pt x="718185" y="425672"/>
                </a:lnTo>
                <a:lnTo>
                  <a:pt x="19050" y="42567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 descr="Solar Panel Icon 24x24">
            <a:extLst>
              <a:ext uri="{FF2B5EF4-FFF2-40B4-BE49-F238E27FC236}">
                <a16:creationId xmlns:a16="http://schemas.microsoft.com/office/drawing/2014/main" id="{34C22D10-C382-FC7A-8DBC-9BA93276A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12" y="248876"/>
            <a:ext cx="326755" cy="32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38AC32F-3BD7-495F-C1A5-2D890BE2FEF9}"/>
              </a:ext>
            </a:extLst>
          </p:cNvPr>
          <p:cNvCxnSpPr>
            <a:cxnSpLocks/>
          </p:cNvCxnSpPr>
          <p:nvPr/>
        </p:nvCxnSpPr>
        <p:spPr>
          <a:xfrm>
            <a:off x="352630" y="1217528"/>
            <a:ext cx="17611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03D7DB-6108-8941-A8FE-A4CEBB97BC83}"/>
              </a:ext>
            </a:extLst>
          </p:cNvPr>
          <p:cNvGrpSpPr/>
          <p:nvPr/>
        </p:nvGrpSpPr>
        <p:grpSpPr>
          <a:xfrm>
            <a:off x="10230886" y="1883214"/>
            <a:ext cx="1844101" cy="230832"/>
            <a:chOff x="289128" y="1765383"/>
            <a:chExt cx="1844101" cy="2308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F877986-0669-D5F7-2DF8-3AB32971A1F0}"/>
                </a:ext>
              </a:extLst>
            </p:cNvPr>
            <p:cNvSpPr txBox="1"/>
            <p:nvPr/>
          </p:nvSpPr>
          <p:spPr>
            <a:xfrm>
              <a:off x="289128" y="1765383"/>
              <a:ext cx="13555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Inverter Capacity (kW)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053FE3C4-BAE4-9BD0-C431-C3FDB1B34FA6}"/>
                </a:ext>
              </a:extLst>
            </p:cNvPr>
            <p:cNvSpPr/>
            <p:nvPr/>
          </p:nvSpPr>
          <p:spPr>
            <a:xfrm>
              <a:off x="1541509" y="1787151"/>
              <a:ext cx="591720" cy="20906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D86A659-1501-47D7-E237-0C23C0B091C7}"/>
              </a:ext>
            </a:extLst>
          </p:cNvPr>
          <p:cNvSpPr/>
          <p:nvPr/>
        </p:nvSpPr>
        <p:spPr>
          <a:xfrm>
            <a:off x="10343785" y="2645235"/>
            <a:ext cx="1225228" cy="1626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Detailed Inverter Sizing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348E47E-6BC8-A760-5998-33B64E8C794F}"/>
              </a:ext>
            </a:extLst>
          </p:cNvPr>
          <p:cNvGrpSpPr/>
          <p:nvPr/>
        </p:nvGrpSpPr>
        <p:grpSpPr>
          <a:xfrm>
            <a:off x="10230886" y="2151729"/>
            <a:ext cx="1844101" cy="230832"/>
            <a:chOff x="289128" y="1765383"/>
            <a:chExt cx="1844101" cy="23083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756D967-5779-5F49-92D6-92BA21FAAD1D}"/>
                </a:ext>
              </a:extLst>
            </p:cNvPr>
            <p:cNvSpPr txBox="1"/>
            <p:nvPr/>
          </p:nvSpPr>
          <p:spPr>
            <a:xfrm>
              <a:off x="289128" y="1765383"/>
              <a:ext cx="13555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DC/AC Ratio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3523635-222E-5C86-CC55-53EA0B616C79}"/>
                </a:ext>
              </a:extLst>
            </p:cNvPr>
            <p:cNvSpPr/>
            <p:nvPr/>
          </p:nvSpPr>
          <p:spPr>
            <a:xfrm>
              <a:off x="1541509" y="1787151"/>
              <a:ext cx="591720" cy="20906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0E3B22E7-EB35-04E7-978A-FF7EFAD1301D}"/>
              </a:ext>
            </a:extLst>
          </p:cNvPr>
          <p:cNvSpPr/>
          <p:nvPr/>
        </p:nvSpPr>
        <p:spPr>
          <a:xfrm>
            <a:off x="10320500" y="3059668"/>
            <a:ext cx="113385" cy="113385"/>
          </a:xfrm>
          <a:custGeom>
            <a:avLst/>
            <a:gdLst>
              <a:gd name="connsiteX0" fmla="*/ 219075 w 438149"/>
              <a:gd name="connsiteY0" fmla="*/ 0 h 438150"/>
              <a:gd name="connsiteX1" fmla="*/ 0 w 438149"/>
              <a:gd name="connsiteY1" fmla="*/ 219075 h 438150"/>
              <a:gd name="connsiteX2" fmla="*/ 219075 w 438149"/>
              <a:gd name="connsiteY2" fmla="*/ 438150 h 438150"/>
              <a:gd name="connsiteX3" fmla="*/ 438150 w 438149"/>
              <a:gd name="connsiteY3" fmla="*/ 219075 h 438150"/>
              <a:gd name="connsiteX4" fmla="*/ 219075 w 438149"/>
              <a:gd name="connsiteY4" fmla="*/ 0 h 438150"/>
              <a:gd name="connsiteX5" fmla="*/ 187928 w 438149"/>
              <a:gd name="connsiteY5" fmla="*/ 308267 h 438150"/>
              <a:gd name="connsiteX6" fmla="*/ 92459 w 438149"/>
              <a:gd name="connsiteY6" fmla="*/ 212789 h 438150"/>
              <a:gd name="connsiteX7" fmla="*/ 124901 w 438149"/>
              <a:gd name="connsiteY7" fmla="*/ 180346 h 438150"/>
              <a:gd name="connsiteX8" fmla="*/ 187928 w 438149"/>
              <a:gd name="connsiteY8" fmla="*/ 243373 h 438150"/>
              <a:gd name="connsiteX9" fmla="*/ 317011 w 438149"/>
              <a:gd name="connsiteY9" fmla="*/ 114300 h 438150"/>
              <a:gd name="connsiteX10" fmla="*/ 349453 w 438149"/>
              <a:gd name="connsiteY10" fmla="*/ 146742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8149" h="438150">
                <a:moveTo>
                  <a:pt x="219075" y="0"/>
                </a:moveTo>
                <a:cubicBezTo>
                  <a:pt x="98084" y="0"/>
                  <a:pt x="0" y="98084"/>
                  <a:pt x="0" y="219075"/>
                </a:cubicBezTo>
                <a:cubicBezTo>
                  <a:pt x="0" y="340066"/>
                  <a:pt x="98084" y="438150"/>
                  <a:pt x="219075" y="438150"/>
                </a:cubicBezTo>
                <a:cubicBezTo>
                  <a:pt x="340067" y="438150"/>
                  <a:pt x="438150" y="340066"/>
                  <a:pt x="438150" y="219075"/>
                </a:cubicBezTo>
                <a:cubicBezTo>
                  <a:pt x="438014" y="98140"/>
                  <a:pt x="340010" y="136"/>
                  <a:pt x="219075" y="0"/>
                </a:cubicBezTo>
                <a:close/>
                <a:moveTo>
                  <a:pt x="187928" y="308267"/>
                </a:moveTo>
                <a:lnTo>
                  <a:pt x="92459" y="212789"/>
                </a:lnTo>
                <a:lnTo>
                  <a:pt x="124901" y="180346"/>
                </a:lnTo>
                <a:lnTo>
                  <a:pt x="187928" y="243373"/>
                </a:lnTo>
                <a:lnTo>
                  <a:pt x="317011" y="114300"/>
                </a:lnTo>
                <a:lnTo>
                  <a:pt x="349453" y="146742"/>
                </a:ln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DC4960-D1C8-B2BA-CFA3-F8B5B16D79FE}"/>
              </a:ext>
            </a:extLst>
          </p:cNvPr>
          <p:cNvSpPr txBox="1"/>
          <p:nvPr/>
        </p:nvSpPr>
        <p:spPr>
          <a:xfrm>
            <a:off x="10388682" y="3000944"/>
            <a:ext cx="135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Detailed Inverter sizing is Considered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6922FA4-F700-91C4-9A27-19A4B4878157}"/>
              </a:ext>
            </a:extLst>
          </p:cNvPr>
          <p:cNvGrpSpPr/>
          <p:nvPr/>
        </p:nvGrpSpPr>
        <p:grpSpPr>
          <a:xfrm>
            <a:off x="10294388" y="3429000"/>
            <a:ext cx="1871570" cy="261610"/>
            <a:chOff x="365275" y="1926038"/>
            <a:chExt cx="1871570" cy="261610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90DAAC4-9651-BABE-3146-42C563D7A5D0}"/>
                </a:ext>
              </a:extLst>
            </p:cNvPr>
            <p:cNvSpPr txBox="1"/>
            <p:nvPr/>
          </p:nvSpPr>
          <p:spPr>
            <a:xfrm>
              <a:off x="365275" y="1926038"/>
              <a:ext cx="18715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Systems</a:t>
              </a:r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E5A1C8DF-FCC2-103C-8CD7-9E0850CE6EB9}"/>
                </a:ext>
              </a:extLst>
            </p:cNvPr>
            <p:cNvSpPr/>
            <p:nvPr/>
          </p:nvSpPr>
          <p:spPr>
            <a:xfrm rot="3600000">
              <a:off x="370118" y="2002571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1D452E4-C9D7-BA0A-AE4A-E1110CFEC776}"/>
              </a:ext>
            </a:extLst>
          </p:cNvPr>
          <p:cNvGrpSpPr/>
          <p:nvPr/>
        </p:nvGrpSpPr>
        <p:grpSpPr>
          <a:xfrm>
            <a:off x="10330976" y="2417217"/>
            <a:ext cx="922568" cy="217612"/>
            <a:chOff x="380556" y="2228903"/>
            <a:chExt cx="922568" cy="217612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8BF0DC23-AF5F-6218-8179-9A66E631AC83}"/>
                </a:ext>
              </a:extLst>
            </p:cNvPr>
            <p:cNvSpPr/>
            <p:nvPr/>
          </p:nvSpPr>
          <p:spPr>
            <a:xfrm>
              <a:off x="384145" y="2256722"/>
              <a:ext cx="827981" cy="153443"/>
            </a:xfrm>
            <a:prstGeom prst="roundRect">
              <a:avLst/>
            </a:prstGeom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88141E06-A22C-F633-577A-928553D282FE}"/>
                </a:ext>
              </a:extLst>
            </p:cNvPr>
            <p:cNvSpPr/>
            <p:nvPr/>
          </p:nvSpPr>
          <p:spPr>
            <a:xfrm>
              <a:off x="409802" y="2269423"/>
              <a:ext cx="394967" cy="12906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F036C51-C9B5-48EC-0C86-3F5C44339844}"/>
                </a:ext>
              </a:extLst>
            </p:cNvPr>
            <p:cNvSpPr txBox="1"/>
            <p:nvPr/>
          </p:nvSpPr>
          <p:spPr>
            <a:xfrm>
              <a:off x="380556" y="2231071"/>
              <a:ext cx="6820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String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2EBC9F7-2822-443F-44D1-BF13ED818D32}"/>
                </a:ext>
              </a:extLst>
            </p:cNvPr>
            <p:cNvSpPr txBox="1"/>
            <p:nvPr/>
          </p:nvSpPr>
          <p:spPr>
            <a:xfrm>
              <a:off x="725060" y="2228903"/>
              <a:ext cx="5780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 Central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A33E61C-5A96-E1E5-374E-5DBF882AE2A8}"/>
              </a:ext>
            </a:extLst>
          </p:cNvPr>
          <p:cNvGrpSpPr/>
          <p:nvPr/>
        </p:nvGrpSpPr>
        <p:grpSpPr>
          <a:xfrm>
            <a:off x="379574" y="1323851"/>
            <a:ext cx="1871570" cy="261610"/>
            <a:chOff x="365275" y="1926038"/>
            <a:chExt cx="1871570" cy="261610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BAF2258-DC01-5D76-7831-485E0C60BFC3}"/>
                </a:ext>
              </a:extLst>
            </p:cNvPr>
            <p:cNvSpPr txBox="1"/>
            <p:nvPr/>
          </p:nvSpPr>
          <p:spPr>
            <a:xfrm>
              <a:off x="365275" y="1926038"/>
              <a:ext cx="18715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General Scheme</a:t>
              </a:r>
            </a:p>
          </p:txBody>
        </p:sp>
        <p:sp>
          <p:nvSpPr>
            <p:cNvPr id="117" name="Isosceles Triangle 116">
              <a:extLst>
                <a:ext uri="{FF2B5EF4-FFF2-40B4-BE49-F238E27FC236}">
                  <a16:creationId xmlns:a16="http://schemas.microsoft.com/office/drawing/2014/main" id="{E8CEDE34-737D-D0BF-7087-7A988035D12C}"/>
                </a:ext>
              </a:extLst>
            </p:cNvPr>
            <p:cNvSpPr/>
            <p:nvPr/>
          </p:nvSpPr>
          <p:spPr>
            <a:xfrm rot="3600000">
              <a:off x="370118" y="2002571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0713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1D699-538D-4F8B-E731-B208F38D1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EC97476-03F8-38ED-522B-3516E2C09FB5}"/>
              </a:ext>
            </a:extLst>
          </p:cNvPr>
          <p:cNvSpPr/>
          <p:nvPr/>
        </p:nvSpPr>
        <p:spPr>
          <a:xfrm>
            <a:off x="1443818" y="218408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68C60DA-9351-70DA-BC93-6A3FD1F1D714}"/>
              </a:ext>
            </a:extLst>
          </p:cNvPr>
          <p:cNvGrpSpPr/>
          <p:nvPr/>
        </p:nvGrpSpPr>
        <p:grpSpPr>
          <a:xfrm>
            <a:off x="3113638" y="207943"/>
            <a:ext cx="420624" cy="402336"/>
            <a:chOff x="539111" y="970049"/>
            <a:chExt cx="420624" cy="40233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687CAA5C-B0ED-B58E-6E74-BB9A3EFD7161}"/>
                </a:ext>
              </a:extLst>
            </p:cNvPr>
            <p:cNvSpPr/>
            <p:nvPr/>
          </p:nvSpPr>
          <p:spPr>
            <a:xfrm>
              <a:off x="539111" y="970049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Graphic 58" descr="Pencil outline">
              <a:extLst>
                <a:ext uri="{FF2B5EF4-FFF2-40B4-BE49-F238E27FC236}">
                  <a16:creationId xmlns:a16="http://schemas.microsoft.com/office/drawing/2014/main" id="{E5EFADF4-2534-F36E-0DE3-E92249A49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222" y="997097"/>
              <a:ext cx="364067" cy="364067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266DD5-3347-C90A-DD51-B1C5688935ED}"/>
              </a:ext>
            </a:extLst>
          </p:cNvPr>
          <p:cNvSpPr/>
          <p:nvPr/>
        </p:nvSpPr>
        <p:spPr>
          <a:xfrm rot="5400000">
            <a:off x="2446552" y="-2010369"/>
            <a:ext cx="539203" cy="485314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8523370-8CAD-51D0-0EDA-3BA8125AA094}"/>
              </a:ext>
            </a:extLst>
          </p:cNvPr>
          <p:cNvGrpSpPr/>
          <p:nvPr/>
        </p:nvGrpSpPr>
        <p:grpSpPr>
          <a:xfrm>
            <a:off x="391026" y="213973"/>
            <a:ext cx="420624" cy="402336"/>
            <a:chOff x="525780" y="493776"/>
            <a:chExt cx="420624" cy="40233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46F0CD4-F2A2-1079-7505-C2650B59605F}"/>
                </a:ext>
              </a:extLst>
            </p:cNvPr>
            <p:cNvSpPr/>
            <p:nvPr/>
          </p:nvSpPr>
          <p:spPr>
            <a:xfrm>
              <a:off x="525780" y="493776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 descr="Magnifying glass outline">
              <a:extLst>
                <a:ext uri="{FF2B5EF4-FFF2-40B4-BE49-F238E27FC236}">
                  <a16:creationId xmlns:a16="http://schemas.microsoft.com/office/drawing/2014/main" id="{8AD2BBE9-6681-D4D8-651B-D357E81E4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8895" y="517747"/>
              <a:ext cx="354394" cy="354394"/>
            </a:xfrm>
            <a:prstGeom prst="rect">
              <a:avLst/>
            </a:prstGeom>
          </p:spPr>
        </p:pic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82B093A-57D2-A3FA-7E6B-61B504CC5376}"/>
              </a:ext>
            </a:extLst>
          </p:cNvPr>
          <p:cNvSpPr/>
          <p:nvPr/>
        </p:nvSpPr>
        <p:spPr>
          <a:xfrm>
            <a:off x="2451899" y="213973"/>
            <a:ext cx="420624" cy="402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A0CDBB9-E817-8E13-AB06-6A155DC87EF8}"/>
              </a:ext>
            </a:extLst>
          </p:cNvPr>
          <p:cNvGrpSpPr/>
          <p:nvPr/>
        </p:nvGrpSpPr>
        <p:grpSpPr>
          <a:xfrm>
            <a:off x="1944905" y="213973"/>
            <a:ext cx="420624" cy="402336"/>
            <a:chOff x="528352" y="1946337"/>
            <a:chExt cx="420624" cy="40233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7D1490A-A785-7609-1F97-0DB4B85F2316}"/>
                </a:ext>
              </a:extLst>
            </p:cNvPr>
            <p:cNvSpPr/>
            <p:nvPr/>
          </p:nvSpPr>
          <p:spPr>
            <a:xfrm>
              <a:off x="528352" y="1946337"/>
              <a:ext cx="420624" cy="40233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 descr="Electric Tower outline">
              <a:extLst>
                <a:ext uri="{FF2B5EF4-FFF2-40B4-BE49-F238E27FC236}">
                  <a16:creationId xmlns:a16="http://schemas.microsoft.com/office/drawing/2014/main" id="{ED199FC9-A3B9-2ADC-6A2C-23A49C2C4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4039" y="1972880"/>
              <a:ext cx="349250" cy="349250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1400A37-5A70-C8A6-70FA-78D317041390}"/>
              </a:ext>
            </a:extLst>
          </p:cNvPr>
          <p:cNvCxnSpPr>
            <a:cxnSpLocks/>
          </p:cNvCxnSpPr>
          <p:nvPr/>
        </p:nvCxnSpPr>
        <p:spPr>
          <a:xfrm>
            <a:off x="2993080" y="272978"/>
            <a:ext cx="0" cy="30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49E6B52-9990-D38C-860C-E5897100B5A2}"/>
              </a:ext>
            </a:extLst>
          </p:cNvPr>
          <p:cNvGrpSpPr/>
          <p:nvPr/>
        </p:nvGrpSpPr>
        <p:grpSpPr>
          <a:xfrm>
            <a:off x="4627102" y="205188"/>
            <a:ext cx="420624" cy="402336"/>
            <a:chOff x="531114" y="4073969"/>
            <a:chExt cx="420624" cy="40233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73A36AD-7058-5FF3-9CB3-E410227B547F}"/>
                </a:ext>
              </a:extLst>
            </p:cNvPr>
            <p:cNvSpPr/>
            <p:nvPr/>
          </p:nvSpPr>
          <p:spPr>
            <a:xfrm>
              <a:off x="531114" y="4073969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isk outline">
              <a:extLst>
                <a:ext uri="{FF2B5EF4-FFF2-40B4-BE49-F238E27FC236}">
                  <a16:creationId xmlns:a16="http://schemas.microsoft.com/office/drawing/2014/main" id="{AB01639C-8771-F547-B601-B3622687C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4039" y="4100512"/>
              <a:ext cx="349250" cy="34925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E535AE2-06E6-6C3E-16C4-01CCC1061B58}"/>
              </a:ext>
            </a:extLst>
          </p:cNvPr>
          <p:cNvGrpSpPr/>
          <p:nvPr/>
        </p:nvGrpSpPr>
        <p:grpSpPr>
          <a:xfrm>
            <a:off x="4126964" y="205188"/>
            <a:ext cx="420624" cy="402336"/>
            <a:chOff x="531114" y="3589782"/>
            <a:chExt cx="420624" cy="40233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0D660D0-D3A2-11A5-3DF8-BAD6FCCFEB1A}"/>
                </a:ext>
              </a:extLst>
            </p:cNvPr>
            <p:cNvSpPr/>
            <p:nvPr/>
          </p:nvSpPr>
          <p:spPr>
            <a:xfrm>
              <a:off x="531114" y="3589782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Graphic 38" descr="Share outline">
              <a:extLst>
                <a:ext uri="{FF2B5EF4-FFF2-40B4-BE49-F238E27FC236}">
                  <a16:creationId xmlns:a16="http://schemas.microsoft.com/office/drawing/2014/main" id="{BFA164E7-D2B2-3CA8-4FA4-FECAFCBF0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8329" y="3633470"/>
              <a:ext cx="314960" cy="31496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B6AF0D-8354-5E70-A8DA-889D51C5E863}"/>
              </a:ext>
            </a:extLst>
          </p:cNvPr>
          <p:cNvGrpSpPr/>
          <p:nvPr/>
        </p:nvGrpSpPr>
        <p:grpSpPr>
          <a:xfrm>
            <a:off x="3610894" y="205188"/>
            <a:ext cx="420624" cy="402336"/>
            <a:chOff x="531114" y="3105595"/>
            <a:chExt cx="420624" cy="4023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54125CE-BC9F-98A8-860B-1A978B45B263}"/>
                </a:ext>
              </a:extLst>
            </p:cNvPr>
            <p:cNvSpPr/>
            <p:nvPr/>
          </p:nvSpPr>
          <p:spPr>
            <a:xfrm>
              <a:off x="531114" y="3105595"/>
              <a:ext cx="420624" cy="40233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Layers Design outline">
              <a:extLst>
                <a:ext uri="{FF2B5EF4-FFF2-40B4-BE49-F238E27FC236}">
                  <a16:creationId xmlns:a16="http://schemas.microsoft.com/office/drawing/2014/main" id="{A485E37C-53FE-9269-F500-2A1CF6497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8895" y="3126296"/>
              <a:ext cx="347133" cy="347133"/>
            </a:xfrm>
            <a:prstGeom prst="rect">
              <a:avLst/>
            </a:prstGeom>
          </p:spPr>
        </p:pic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2A4AC7-405A-4C6A-607E-91BADDE24E0F}"/>
              </a:ext>
            </a:extLst>
          </p:cNvPr>
          <p:cNvSpPr/>
          <p:nvPr/>
        </p:nvSpPr>
        <p:spPr>
          <a:xfrm>
            <a:off x="296038" y="960531"/>
            <a:ext cx="9425478" cy="5656953"/>
          </a:xfrm>
          <a:prstGeom prst="roundRect">
            <a:avLst>
              <a:gd name="adj" fmla="val 3119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DA33D9-1CC8-97E1-4292-AE7E7AA5CD5B}"/>
              </a:ext>
            </a:extLst>
          </p:cNvPr>
          <p:cNvSpPr txBox="1"/>
          <p:nvPr/>
        </p:nvSpPr>
        <p:spPr>
          <a:xfrm>
            <a:off x="300307" y="960532"/>
            <a:ext cx="18424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Electrical Configuration</a:t>
            </a:r>
          </a:p>
        </p:txBody>
      </p:sp>
      <p:sp>
        <p:nvSpPr>
          <p:cNvPr id="142" name="Isosceles Triangle 141">
            <a:extLst>
              <a:ext uri="{FF2B5EF4-FFF2-40B4-BE49-F238E27FC236}">
                <a16:creationId xmlns:a16="http://schemas.microsoft.com/office/drawing/2014/main" id="{FD0297A0-E980-4E6D-AC5E-C22C29E24263}"/>
              </a:ext>
            </a:extLst>
          </p:cNvPr>
          <p:cNvSpPr/>
          <p:nvPr/>
        </p:nvSpPr>
        <p:spPr>
          <a:xfrm rot="14400000">
            <a:off x="9506026" y="1188118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CB2B1659-CF3A-72C6-8B2B-3A8A842479B4}"/>
              </a:ext>
            </a:extLst>
          </p:cNvPr>
          <p:cNvSpPr/>
          <p:nvPr/>
        </p:nvSpPr>
        <p:spPr>
          <a:xfrm>
            <a:off x="9521199" y="1307911"/>
            <a:ext cx="81768" cy="88106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Isosceles Triangle 143">
            <a:extLst>
              <a:ext uri="{FF2B5EF4-FFF2-40B4-BE49-F238E27FC236}">
                <a16:creationId xmlns:a16="http://schemas.microsoft.com/office/drawing/2014/main" id="{647BE156-2BA7-9582-8C80-973D9D717067}"/>
              </a:ext>
            </a:extLst>
          </p:cNvPr>
          <p:cNvSpPr/>
          <p:nvPr/>
        </p:nvSpPr>
        <p:spPr>
          <a:xfrm rot="3600000">
            <a:off x="9532253" y="6294323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3165A0BB-577B-D05C-0A53-DF3C749BCEE8}"/>
              </a:ext>
            </a:extLst>
          </p:cNvPr>
          <p:cNvCxnSpPr/>
          <p:nvPr/>
        </p:nvCxnSpPr>
        <p:spPr>
          <a:xfrm flipH="1">
            <a:off x="9569876" y="6478836"/>
            <a:ext cx="48536" cy="7302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2E5C4D46-8580-0022-E22D-F48B756D0009}"/>
              </a:ext>
            </a:extLst>
          </p:cNvPr>
          <p:cNvCxnSpPr>
            <a:cxnSpLocks/>
          </p:cNvCxnSpPr>
          <p:nvPr/>
        </p:nvCxnSpPr>
        <p:spPr>
          <a:xfrm flipH="1">
            <a:off x="9593540" y="6500052"/>
            <a:ext cx="36546" cy="5498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Multiplication Sign 167">
            <a:extLst>
              <a:ext uri="{FF2B5EF4-FFF2-40B4-BE49-F238E27FC236}">
                <a16:creationId xmlns:a16="http://schemas.microsoft.com/office/drawing/2014/main" id="{6E0CC31B-04F9-0D5D-0FD9-035044441011}"/>
              </a:ext>
            </a:extLst>
          </p:cNvPr>
          <p:cNvSpPr/>
          <p:nvPr/>
        </p:nvSpPr>
        <p:spPr>
          <a:xfrm rot="5400000">
            <a:off x="9493693" y="1038542"/>
            <a:ext cx="125941" cy="108570"/>
          </a:xfrm>
          <a:prstGeom prst="mathMultiply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E850E080-A99E-EFDD-B1E7-7089825DDB93}"/>
              </a:ext>
            </a:extLst>
          </p:cNvPr>
          <p:cNvGrpSpPr/>
          <p:nvPr/>
        </p:nvGrpSpPr>
        <p:grpSpPr>
          <a:xfrm>
            <a:off x="918471" y="214163"/>
            <a:ext cx="420624" cy="402336"/>
            <a:chOff x="1421190" y="266013"/>
            <a:chExt cx="420624" cy="402336"/>
          </a:xfrm>
        </p:grpSpPr>
        <p:sp>
          <p:nvSpPr>
            <p:cNvPr id="176" name="Rectangle: Rounded Corners 175">
              <a:extLst>
                <a:ext uri="{FF2B5EF4-FFF2-40B4-BE49-F238E27FC236}">
                  <a16:creationId xmlns:a16="http://schemas.microsoft.com/office/drawing/2014/main" id="{557773AE-7B54-D23C-8AD6-51850427A50F}"/>
                </a:ext>
              </a:extLst>
            </p:cNvPr>
            <p:cNvSpPr/>
            <p:nvPr/>
          </p:nvSpPr>
          <p:spPr>
            <a:xfrm>
              <a:off x="1421190" y="266013"/>
              <a:ext cx="420624" cy="402336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7" name="Graphic 176" descr="Blueprint outline">
              <a:extLst>
                <a:ext uri="{FF2B5EF4-FFF2-40B4-BE49-F238E27FC236}">
                  <a16:creationId xmlns:a16="http://schemas.microsoft.com/office/drawing/2014/main" id="{961EA397-A985-226B-0055-F6AFCE43E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60814" y="277324"/>
              <a:ext cx="381000" cy="381000"/>
            </a:xfrm>
            <a:prstGeom prst="rect">
              <a:avLst/>
            </a:prstGeom>
          </p:spPr>
        </p:pic>
      </p:grp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9CD7A3CB-ECB5-8E18-3FBA-6E46BF44CE12}"/>
              </a:ext>
            </a:extLst>
          </p:cNvPr>
          <p:cNvSpPr/>
          <p:nvPr/>
        </p:nvSpPr>
        <p:spPr>
          <a:xfrm>
            <a:off x="1498709" y="293060"/>
            <a:ext cx="316600" cy="244162"/>
          </a:xfrm>
          <a:custGeom>
            <a:avLst/>
            <a:gdLst>
              <a:gd name="connsiteX0" fmla="*/ 737225 w 737225"/>
              <a:gd name="connsiteY0" fmla="*/ 444722 h 568547"/>
              <a:gd name="connsiteX1" fmla="*/ 737225 w 737225"/>
              <a:gd name="connsiteY1" fmla="*/ 356587 h 568547"/>
              <a:gd name="connsiteX2" fmla="*/ 576758 w 737225"/>
              <a:gd name="connsiteY2" fmla="*/ 0 h 568547"/>
              <a:gd name="connsiteX3" fmla="*/ 160515 w 737225"/>
              <a:gd name="connsiteY3" fmla="*/ 0 h 568547"/>
              <a:gd name="connsiteX4" fmla="*/ 0 w 737225"/>
              <a:gd name="connsiteY4" fmla="*/ 356587 h 568547"/>
              <a:gd name="connsiteX5" fmla="*/ 0 w 737225"/>
              <a:gd name="connsiteY5" fmla="*/ 444722 h 568547"/>
              <a:gd name="connsiteX6" fmla="*/ 359093 w 737225"/>
              <a:gd name="connsiteY6" fmla="*/ 444722 h 568547"/>
              <a:gd name="connsiteX7" fmla="*/ 359093 w 737225"/>
              <a:gd name="connsiteY7" fmla="*/ 549497 h 568547"/>
              <a:gd name="connsiteX8" fmla="*/ 238944 w 737225"/>
              <a:gd name="connsiteY8" fmla="*/ 549497 h 568547"/>
              <a:gd name="connsiteX9" fmla="*/ 238944 w 737225"/>
              <a:gd name="connsiteY9" fmla="*/ 568547 h 568547"/>
              <a:gd name="connsiteX10" fmla="*/ 498281 w 737225"/>
              <a:gd name="connsiteY10" fmla="*/ 568547 h 568547"/>
              <a:gd name="connsiteX11" fmla="*/ 498281 w 737225"/>
              <a:gd name="connsiteY11" fmla="*/ 549497 h 568547"/>
              <a:gd name="connsiteX12" fmla="*/ 378143 w 737225"/>
              <a:gd name="connsiteY12" fmla="*/ 549497 h 568547"/>
              <a:gd name="connsiteX13" fmla="*/ 378143 w 737225"/>
              <a:gd name="connsiteY13" fmla="*/ 444722 h 568547"/>
              <a:gd name="connsiteX14" fmla="*/ 446713 w 737225"/>
              <a:gd name="connsiteY14" fmla="*/ 118786 h 568547"/>
              <a:gd name="connsiteX15" fmla="*/ 460867 w 737225"/>
              <a:gd name="connsiteY15" fmla="*/ 229457 h 568547"/>
              <a:gd name="connsiteX16" fmla="*/ 276368 w 737225"/>
              <a:gd name="connsiteY16" fmla="*/ 229457 h 568547"/>
              <a:gd name="connsiteX17" fmla="*/ 290551 w 737225"/>
              <a:gd name="connsiteY17" fmla="*/ 118786 h 568547"/>
              <a:gd name="connsiteX18" fmla="*/ 293018 w 737225"/>
              <a:gd name="connsiteY18" fmla="*/ 99736 h 568547"/>
              <a:gd name="connsiteX19" fmla="*/ 303362 w 737225"/>
              <a:gd name="connsiteY19" fmla="*/ 19050 h 568547"/>
              <a:gd name="connsiteX20" fmla="*/ 433892 w 737225"/>
              <a:gd name="connsiteY20" fmla="*/ 19050 h 568547"/>
              <a:gd name="connsiteX21" fmla="*/ 444236 w 737225"/>
              <a:gd name="connsiteY21" fmla="*/ 99736 h 568547"/>
              <a:gd name="connsiteX22" fmla="*/ 659111 w 737225"/>
              <a:gd name="connsiteY22" fmla="*/ 229457 h 568547"/>
              <a:gd name="connsiteX23" fmla="*/ 480041 w 737225"/>
              <a:gd name="connsiteY23" fmla="*/ 229457 h 568547"/>
              <a:gd name="connsiteX24" fmla="*/ 465887 w 737225"/>
              <a:gd name="connsiteY24" fmla="*/ 118786 h 568547"/>
              <a:gd name="connsiteX25" fmla="*/ 609324 w 737225"/>
              <a:gd name="connsiteY25" fmla="*/ 118786 h 568547"/>
              <a:gd name="connsiteX26" fmla="*/ 257156 w 737225"/>
              <a:gd name="connsiteY26" fmla="*/ 229457 h 568547"/>
              <a:gd name="connsiteX27" fmla="*/ 78086 w 737225"/>
              <a:gd name="connsiteY27" fmla="*/ 229457 h 568547"/>
              <a:gd name="connsiteX28" fmla="*/ 127873 w 737225"/>
              <a:gd name="connsiteY28" fmla="*/ 118824 h 568547"/>
              <a:gd name="connsiteX29" fmla="*/ 271348 w 737225"/>
              <a:gd name="connsiteY29" fmla="*/ 118824 h 568547"/>
              <a:gd name="connsiteX30" fmla="*/ 254708 w 737225"/>
              <a:gd name="connsiteY30" fmla="*/ 248507 h 568547"/>
              <a:gd name="connsiteX31" fmla="*/ 241811 w 737225"/>
              <a:gd name="connsiteY31" fmla="*/ 349110 h 568547"/>
              <a:gd name="connsiteX32" fmla="*/ 24260 w 737225"/>
              <a:gd name="connsiteY32" fmla="*/ 349110 h 568547"/>
              <a:gd name="connsiteX33" fmla="*/ 69552 w 737225"/>
              <a:gd name="connsiteY33" fmla="*/ 248507 h 568547"/>
              <a:gd name="connsiteX34" fmla="*/ 273910 w 737225"/>
              <a:gd name="connsiteY34" fmla="*/ 248507 h 568547"/>
              <a:gd name="connsiteX35" fmla="*/ 463306 w 737225"/>
              <a:gd name="connsiteY35" fmla="*/ 248507 h 568547"/>
              <a:gd name="connsiteX36" fmla="*/ 476212 w 737225"/>
              <a:gd name="connsiteY36" fmla="*/ 349148 h 568547"/>
              <a:gd name="connsiteX37" fmla="*/ 261014 w 737225"/>
              <a:gd name="connsiteY37" fmla="*/ 349148 h 568547"/>
              <a:gd name="connsiteX38" fmla="*/ 495414 w 737225"/>
              <a:gd name="connsiteY38" fmla="*/ 349110 h 568547"/>
              <a:gd name="connsiteX39" fmla="*/ 482508 w 737225"/>
              <a:gd name="connsiteY39" fmla="*/ 248507 h 568547"/>
              <a:gd name="connsiteX40" fmla="*/ 667684 w 737225"/>
              <a:gd name="connsiteY40" fmla="*/ 248507 h 568547"/>
              <a:gd name="connsiteX41" fmla="*/ 712975 w 737225"/>
              <a:gd name="connsiteY41" fmla="*/ 349148 h 568547"/>
              <a:gd name="connsiteX42" fmla="*/ 600751 w 737225"/>
              <a:gd name="connsiteY42" fmla="*/ 99736 h 568547"/>
              <a:gd name="connsiteX43" fmla="*/ 463439 w 737225"/>
              <a:gd name="connsiteY43" fmla="*/ 99736 h 568547"/>
              <a:gd name="connsiteX44" fmla="*/ 453095 w 737225"/>
              <a:gd name="connsiteY44" fmla="*/ 19050 h 568547"/>
              <a:gd name="connsiteX45" fmla="*/ 564442 w 737225"/>
              <a:gd name="connsiteY45" fmla="*/ 19050 h 568547"/>
              <a:gd name="connsiteX46" fmla="*/ 172793 w 737225"/>
              <a:gd name="connsiteY46" fmla="*/ 19050 h 568547"/>
              <a:gd name="connsiteX47" fmla="*/ 284131 w 737225"/>
              <a:gd name="connsiteY47" fmla="*/ 19050 h 568547"/>
              <a:gd name="connsiteX48" fmla="*/ 273787 w 737225"/>
              <a:gd name="connsiteY48" fmla="*/ 99736 h 568547"/>
              <a:gd name="connsiteX49" fmla="*/ 136484 w 737225"/>
              <a:gd name="connsiteY49" fmla="*/ 99736 h 568547"/>
              <a:gd name="connsiteX50" fmla="*/ 19050 w 737225"/>
              <a:gd name="connsiteY50" fmla="*/ 368160 h 568547"/>
              <a:gd name="connsiteX51" fmla="*/ 718185 w 737225"/>
              <a:gd name="connsiteY51" fmla="*/ 368160 h 568547"/>
              <a:gd name="connsiteX52" fmla="*/ 718185 w 737225"/>
              <a:gd name="connsiteY52" fmla="*/ 425672 h 568547"/>
              <a:gd name="connsiteX53" fmla="*/ 19050 w 737225"/>
              <a:gd name="connsiteY53" fmla="*/ 425672 h 568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37225" h="568547">
                <a:moveTo>
                  <a:pt x="737225" y="444722"/>
                </a:moveTo>
                <a:lnTo>
                  <a:pt x="737225" y="356587"/>
                </a:lnTo>
                <a:lnTo>
                  <a:pt x="576758" y="0"/>
                </a:lnTo>
                <a:lnTo>
                  <a:pt x="160515" y="0"/>
                </a:lnTo>
                <a:lnTo>
                  <a:pt x="0" y="356587"/>
                </a:lnTo>
                <a:lnTo>
                  <a:pt x="0" y="444722"/>
                </a:lnTo>
                <a:lnTo>
                  <a:pt x="359093" y="444722"/>
                </a:lnTo>
                <a:lnTo>
                  <a:pt x="359093" y="549497"/>
                </a:lnTo>
                <a:lnTo>
                  <a:pt x="238944" y="549497"/>
                </a:lnTo>
                <a:lnTo>
                  <a:pt x="238944" y="568547"/>
                </a:lnTo>
                <a:lnTo>
                  <a:pt x="498281" y="568547"/>
                </a:lnTo>
                <a:lnTo>
                  <a:pt x="498281" y="549497"/>
                </a:lnTo>
                <a:lnTo>
                  <a:pt x="378143" y="549497"/>
                </a:lnTo>
                <a:lnTo>
                  <a:pt x="378143" y="444722"/>
                </a:lnTo>
                <a:close/>
                <a:moveTo>
                  <a:pt x="446713" y="118786"/>
                </a:moveTo>
                <a:lnTo>
                  <a:pt x="460867" y="229457"/>
                </a:lnTo>
                <a:lnTo>
                  <a:pt x="276368" y="229457"/>
                </a:lnTo>
                <a:lnTo>
                  <a:pt x="290551" y="118786"/>
                </a:lnTo>
                <a:close/>
                <a:moveTo>
                  <a:pt x="293018" y="99736"/>
                </a:moveTo>
                <a:lnTo>
                  <a:pt x="303362" y="19050"/>
                </a:lnTo>
                <a:lnTo>
                  <a:pt x="433892" y="19050"/>
                </a:lnTo>
                <a:lnTo>
                  <a:pt x="444236" y="99736"/>
                </a:lnTo>
                <a:close/>
                <a:moveTo>
                  <a:pt x="659111" y="229457"/>
                </a:moveTo>
                <a:lnTo>
                  <a:pt x="480041" y="229457"/>
                </a:lnTo>
                <a:lnTo>
                  <a:pt x="465887" y="118786"/>
                </a:lnTo>
                <a:lnTo>
                  <a:pt x="609324" y="118786"/>
                </a:lnTo>
                <a:close/>
                <a:moveTo>
                  <a:pt x="257156" y="229457"/>
                </a:moveTo>
                <a:lnTo>
                  <a:pt x="78086" y="229457"/>
                </a:lnTo>
                <a:lnTo>
                  <a:pt x="127873" y="118824"/>
                </a:lnTo>
                <a:lnTo>
                  <a:pt x="271348" y="118824"/>
                </a:lnTo>
                <a:close/>
                <a:moveTo>
                  <a:pt x="254708" y="248507"/>
                </a:moveTo>
                <a:lnTo>
                  <a:pt x="241811" y="349110"/>
                </a:lnTo>
                <a:lnTo>
                  <a:pt x="24260" y="349110"/>
                </a:lnTo>
                <a:lnTo>
                  <a:pt x="69552" y="248507"/>
                </a:lnTo>
                <a:close/>
                <a:moveTo>
                  <a:pt x="273910" y="248507"/>
                </a:moveTo>
                <a:lnTo>
                  <a:pt x="463306" y="248507"/>
                </a:lnTo>
                <a:lnTo>
                  <a:pt x="476212" y="349148"/>
                </a:lnTo>
                <a:lnTo>
                  <a:pt x="261014" y="349148"/>
                </a:lnTo>
                <a:close/>
                <a:moveTo>
                  <a:pt x="495414" y="349110"/>
                </a:moveTo>
                <a:lnTo>
                  <a:pt x="482508" y="248507"/>
                </a:lnTo>
                <a:lnTo>
                  <a:pt x="667684" y="248507"/>
                </a:lnTo>
                <a:lnTo>
                  <a:pt x="712975" y="349148"/>
                </a:lnTo>
                <a:close/>
                <a:moveTo>
                  <a:pt x="600751" y="99736"/>
                </a:moveTo>
                <a:lnTo>
                  <a:pt x="463439" y="99736"/>
                </a:lnTo>
                <a:lnTo>
                  <a:pt x="453095" y="19050"/>
                </a:lnTo>
                <a:lnTo>
                  <a:pt x="564442" y="19050"/>
                </a:lnTo>
                <a:close/>
                <a:moveTo>
                  <a:pt x="172793" y="19050"/>
                </a:moveTo>
                <a:lnTo>
                  <a:pt x="284131" y="19050"/>
                </a:lnTo>
                <a:lnTo>
                  <a:pt x="273787" y="99736"/>
                </a:lnTo>
                <a:lnTo>
                  <a:pt x="136484" y="99736"/>
                </a:lnTo>
                <a:close/>
                <a:moveTo>
                  <a:pt x="19050" y="368160"/>
                </a:moveTo>
                <a:lnTo>
                  <a:pt x="718185" y="368160"/>
                </a:lnTo>
                <a:lnTo>
                  <a:pt x="718185" y="425672"/>
                </a:lnTo>
                <a:lnTo>
                  <a:pt x="19050" y="425672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 descr="Solar Panel Icon 24x24">
            <a:extLst>
              <a:ext uri="{FF2B5EF4-FFF2-40B4-BE49-F238E27FC236}">
                <a16:creationId xmlns:a16="http://schemas.microsoft.com/office/drawing/2014/main" id="{A6E245C8-CB85-ECB7-ED87-60C3E18C9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12" y="248876"/>
            <a:ext cx="326755" cy="32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39123D2E-4790-E97C-658D-4A54C850915F}"/>
              </a:ext>
            </a:extLst>
          </p:cNvPr>
          <p:cNvCxnSpPr>
            <a:cxnSpLocks/>
          </p:cNvCxnSpPr>
          <p:nvPr/>
        </p:nvCxnSpPr>
        <p:spPr>
          <a:xfrm>
            <a:off x="352630" y="1217528"/>
            <a:ext cx="17611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CCA43D-426D-C0ED-3B96-463BD6BC05B5}"/>
              </a:ext>
            </a:extLst>
          </p:cNvPr>
          <p:cNvGrpSpPr/>
          <p:nvPr/>
        </p:nvGrpSpPr>
        <p:grpSpPr>
          <a:xfrm>
            <a:off x="10230886" y="1883214"/>
            <a:ext cx="1844101" cy="230832"/>
            <a:chOff x="289128" y="1765383"/>
            <a:chExt cx="1844101" cy="2308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E4A25F3-02CC-DB49-2460-E8E2DBB00A54}"/>
                </a:ext>
              </a:extLst>
            </p:cNvPr>
            <p:cNvSpPr txBox="1"/>
            <p:nvPr/>
          </p:nvSpPr>
          <p:spPr>
            <a:xfrm>
              <a:off x="289128" y="1765383"/>
              <a:ext cx="13555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Inverter Capacity (kW)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780EAE7-729A-903D-24FD-AE6C1C4C4DC5}"/>
                </a:ext>
              </a:extLst>
            </p:cNvPr>
            <p:cNvSpPr/>
            <p:nvPr/>
          </p:nvSpPr>
          <p:spPr>
            <a:xfrm>
              <a:off x="1541509" y="1787151"/>
              <a:ext cx="591720" cy="20906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AF64501-6114-4C1F-90B7-99E73AD0C637}"/>
              </a:ext>
            </a:extLst>
          </p:cNvPr>
          <p:cNvSpPr/>
          <p:nvPr/>
        </p:nvSpPr>
        <p:spPr>
          <a:xfrm>
            <a:off x="10343785" y="2645235"/>
            <a:ext cx="1225228" cy="1626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Detailed Inverter Sizing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73508D5-978D-0351-321B-14A4A65F05B8}"/>
              </a:ext>
            </a:extLst>
          </p:cNvPr>
          <p:cNvGrpSpPr/>
          <p:nvPr/>
        </p:nvGrpSpPr>
        <p:grpSpPr>
          <a:xfrm>
            <a:off x="10230886" y="2151729"/>
            <a:ext cx="1844101" cy="230832"/>
            <a:chOff x="289128" y="1765383"/>
            <a:chExt cx="1844101" cy="23083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1A2A478-A045-0A69-DB97-A1F1F3344DB6}"/>
                </a:ext>
              </a:extLst>
            </p:cNvPr>
            <p:cNvSpPr txBox="1"/>
            <p:nvPr/>
          </p:nvSpPr>
          <p:spPr>
            <a:xfrm>
              <a:off x="289128" y="1765383"/>
              <a:ext cx="13555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DC/AC Ratio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F8336A77-E5D1-0543-F543-755E90A900D8}"/>
                </a:ext>
              </a:extLst>
            </p:cNvPr>
            <p:cNvSpPr/>
            <p:nvPr/>
          </p:nvSpPr>
          <p:spPr>
            <a:xfrm>
              <a:off x="1541509" y="1787151"/>
              <a:ext cx="591720" cy="20906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7DBB3094-D46D-0A7C-7505-187C192DB3B9}"/>
              </a:ext>
            </a:extLst>
          </p:cNvPr>
          <p:cNvSpPr/>
          <p:nvPr/>
        </p:nvSpPr>
        <p:spPr>
          <a:xfrm>
            <a:off x="10320500" y="3059668"/>
            <a:ext cx="113385" cy="113385"/>
          </a:xfrm>
          <a:custGeom>
            <a:avLst/>
            <a:gdLst>
              <a:gd name="connsiteX0" fmla="*/ 219075 w 438149"/>
              <a:gd name="connsiteY0" fmla="*/ 0 h 438150"/>
              <a:gd name="connsiteX1" fmla="*/ 0 w 438149"/>
              <a:gd name="connsiteY1" fmla="*/ 219075 h 438150"/>
              <a:gd name="connsiteX2" fmla="*/ 219075 w 438149"/>
              <a:gd name="connsiteY2" fmla="*/ 438150 h 438150"/>
              <a:gd name="connsiteX3" fmla="*/ 438150 w 438149"/>
              <a:gd name="connsiteY3" fmla="*/ 219075 h 438150"/>
              <a:gd name="connsiteX4" fmla="*/ 219075 w 438149"/>
              <a:gd name="connsiteY4" fmla="*/ 0 h 438150"/>
              <a:gd name="connsiteX5" fmla="*/ 187928 w 438149"/>
              <a:gd name="connsiteY5" fmla="*/ 308267 h 438150"/>
              <a:gd name="connsiteX6" fmla="*/ 92459 w 438149"/>
              <a:gd name="connsiteY6" fmla="*/ 212789 h 438150"/>
              <a:gd name="connsiteX7" fmla="*/ 124901 w 438149"/>
              <a:gd name="connsiteY7" fmla="*/ 180346 h 438150"/>
              <a:gd name="connsiteX8" fmla="*/ 187928 w 438149"/>
              <a:gd name="connsiteY8" fmla="*/ 243373 h 438150"/>
              <a:gd name="connsiteX9" fmla="*/ 317011 w 438149"/>
              <a:gd name="connsiteY9" fmla="*/ 114300 h 438150"/>
              <a:gd name="connsiteX10" fmla="*/ 349453 w 438149"/>
              <a:gd name="connsiteY10" fmla="*/ 146742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8149" h="438150">
                <a:moveTo>
                  <a:pt x="219075" y="0"/>
                </a:moveTo>
                <a:cubicBezTo>
                  <a:pt x="98084" y="0"/>
                  <a:pt x="0" y="98084"/>
                  <a:pt x="0" y="219075"/>
                </a:cubicBezTo>
                <a:cubicBezTo>
                  <a:pt x="0" y="340066"/>
                  <a:pt x="98084" y="438150"/>
                  <a:pt x="219075" y="438150"/>
                </a:cubicBezTo>
                <a:cubicBezTo>
                  <a:pt x="340067" y="438150"/>
                  <a:pt x="438150" y="340066"/>
                  <a:pt x="438150" y="219075"/>
                </a:cubicBezTo>
                <a:cubicBezTo>
                  <a:pt x="438014" y="98140"/>
                  <a:pt x="340010" y="136"/>
                  <a:pt x="219075" y="0"/>
                </a:cubicBezTo>
                <a:close/>
                <a:moveTo>
                  <a:pt x="187928" y="308267"/>
                </a:moveTo>
                <a:lnTo>
                  <a:pt x="92459" y="212789"/>
                </a:lnTo>
                <a:lnTo>
                  <a:pt x="124901" y="180346"/>
                </a:lnTo>
                <a:lnTo>
                  <a:pt x="187928" y="243373"/>
                </a:lnTo>
                <a:lnTo>
                  <a:pt x="317011" y="114300"/>
                </a:lnTo>
                <a:lnTo>
                  <a:pt x="349453" y="146742"/>
                </a:ln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53D0A9D-5C04-0CFA-454E-0DF6756358EE}"/>
              </a:ext>
            </a:extLst>
          </p:cNvPr>
          <p:cNvSpPr txBox="1"/>
          <p:nvPr/>
        </p:nvSpPr>
        <p:spPr>
          <a:xfrm>
            <a:off x="10388682" y="3000944"/>
            <a:ext cx="135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ptos SemiBold" panose="020F0502020204030204" pitchFamily="34" charset="0"/>
                <a:cs typeface="Aldhabi" panose="020F0502020204030204" pitchFamily="2" charset="-78"/>
              </a:rPr>
              <a:t>Detailed Inverter sizing is Considered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BE4B3A1-0D98-AA9B-BBFA-A4A848C35A44}"/>
              </a:ext>
            </a:extLst>
          </p:cNvPr>
          <p:cNvGrpSpPr/>
          <p:nvPr/>
        </p:nvGrpSpPr>
        <p:grpSpPr>
          <a:xfrm>
            <a:off x="10294388" y="3429000"/>
            <a:ext cx="1871570" cy="261610"/>
            <a:chOff x="365275" y="1926038"/>
            <a:chExt cx="1871570" cy="261610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FA8D744-E56D-9937-CDBD-1D70C47CCC0A}"/>
                </a:ext>
              </a:extLst>
            </p:cNvPr>
            <p:cNvSpPr txBox="1"/>
            <p:nvPr/>
          </p:nvSpPr>
          <p:spPr>
            <a:xfrm>
              <a:off x="365275" y="1926038"/>
              <a:ext cx="18715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Systems</a:t>
              </a:r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B0692E7C-3D45-9A81-F554-8C6A71EE8FD8}"/>
                </a:ext>
              </a:extLst>
            </p:cNvPr>
            <p:cNvSpPr/>
            <p:nvPr/>
          </p:nvSpPr>
          <p:spPr>
            <a:xfrm rot="3600000">
              <a:off x="370118" y="2002571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EB16056-9FA4-0EC3-C08B-8695E06116D9}"/>
              </a:ext>
            </a:extLst>
          </p:cNvPr>
          <p:cNvGrpSpPr/>
          <p:nvPr/>
        </p:nvGrpSpPr>
        <p:grpSpPr>
          <a:xfrm>
            <a:off x="10330976" y="2417217"/>
            <a:ext cx="922568" cy="217612"/>
            <a:chOff x="380556" y="2228903"/>
            <a:chExt cx="922568" cy="217612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FA9AB6D3-AF66-3938-88D3-3CF3F0E591A9}"/>
                </a:ext>
              </a:extLst>
            </p:cNvPr>
            <p:cNvSpPr/>
            <p:nvPr/>
          </p:nvSpPr>
          <p:spPr>
            <a:xfrm>
              <a:off x="384145" y="2256722"/>
              <a:ext cx="827981" cy="153443"/>
            </a:xfrm>
            <a:prstGeom prst="roundRect">
              <a:avLst/>
            </a:prstGeom>
            <a:ln w="31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E3243CA7-58EE-F14D-A736-09E82517FAB8}"/>
                </a:ext>
              </a:extLst>
            </p:cNvPr>
            <p:cNvSpPr/>
            <p:nvPr/>
          </p:nvSpPr>
          <p:spPr>
            <a:xfrm>
              <a:off x="409802" y="2269423"/>
              <a:ext cx="394967" cy="12906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15CB312-29D6-255F-2197-41BC9B48D597}"/>
                </a:ext>
              </a:extLst>
            </p:cNvPr>
            <p:cNvSpPr txBox="1"/>
            <p:nvPr/>
          </p:nvSpPr>
          <p:spPr>
            <a:xfrm>
              <a:off x="380556" y="2231071"/>
              <a:ext cx="6820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String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2B7D99D-E852-A485-A2E0-F790C5EF1E62}"/>
                </a:ext>
              </a:extLst>
            </p:cNvPr>
            <p:cNvSpPr txBox="1"/>
            <p:nvPr/>
          </p:nvSpPr>
          <p:spPr>
            <a:xfrm>
              <a:off x="725060" y="2228903"/>
              <a:ext cx="5780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 Central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9CC2D99-E7A1-5C8F-0DDD-0D32E0863F08}"/>
              </a:ext>
            </a:extLst>
          </p:cNvPr>
          <p:cNvGrpSpPr/>
          <p:nvPr/>
        </p:nvGrpSpPr>
        <p:grpSpPr>
          <a:xfrm>
            <a:off x="352630" y="1698773"/>
            <a:ext cx="1410882" cy="230832"/>
            <a:chOff x="426890" y="1874158"/>
            <a:chExt cx="1410882" cy="230832"/>
          </a:xfrm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21300EEA-F093-9A1D-2F46-4ED48ADFA9FB}"/>
                </a:ext>
              </a:extLst>
            </p:cNvPr>
            <p:cNvSpPr/>
            <p:nvPr/>
          </p:nvSpPr>
          <p:spPr>
            <a:xfrm>
              <a:off x="426890" y="1937455"/>
              <a:ext cx="110629" cy="110629"/>
            </a:xfrm>
            <a:custGeom>
              <a:avLst/>
              <a:gdLst>
                <a:gd name="connsiteX0" fmla="*/ 0 w 110629"/>
                <a:gd name="connsiteY0" fmla="*/ 0 h 110629"/>
                <a:gd name="connsiteX1" fmla="*/ 0 w 110629"/>
                <a:gd name="connsiteY1" fmla="*/ 110630 h 110629"/>
                <a:gd name="connsiteX2" fmla="*/ 110630 w 110629"/>
                <a:gd name="connsiteY2" fmla="*/ 110630 h 110629"/>
                <a:gd name="connsiteX3" fmla="*/ 110630 w 110629"/>
                <a:gd name="connsiteY3" fmla="*/ 0 h 110629"/>
                <a:gd name="connsiteX4" fmla="*/ 98338 w 110629"/>
                <a:gd name="connsiteY4" fmla="*/ 98338 h 110629"/>
                <a:gd name="connsiteX5" fmla="*/ 12292 w 110629"/>
                <a:gd name="connsiteY5" fmla="*/ 98338 h 110629"/>
                <a:gd name="connsiteX6" fmla="*/ 12292 w 110629"/>
                <a:gd name="connsiteY6" fmla="*/ 12292 h 110629"/>
                <a:gd name="connsiteX7" fmla="*/ 98338 w 110629"/>
                <a:gd name="connsiteY7" fmla="*/ 12292 h 110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629" h="110629">
                  <a:moveTo>
                    <a:pt x="0" y="0"/>
                  </a:moveTo>
                  <a:lnTo>
                    <a:pt x="0" y="110630"/>
                  </a:lnTo>
                  <a:lnTo>
                    <a:pt x="110630" y="110630"/>
                  </a:lnTo>
                  <a:lnTo>
                    <a:pt x="110630" y="0"/>
                  </a:lnTo>
                  <a:close/>
                  <a:moveTo>
                    <a:pt x="98338" y="98338"/>
                  </a:moveTo>
                  <a:lnTo>
                    <a:pt x="12292" y="98338"/>
                  </a:lnTo>
                  <a:lnTo>
                    <a:pt x="12292" y="12292"/>
                  </a:lnTo>
                  <a:lnTo>
                    <a:pt x="98338" y="12292"/>
                  </a:lnTo>
                  <a:close/>
                </a:path>
              </a:pathLst>
            </a:custGeom>
            <a:solidFill>
              <a:srgbClr val="000000"/>
            </a:solidFill>
            <a:ln w="1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B118D16-7A30-A07A-C2A0-4E62138622DF}"/>
                </a:ext>
              </a:extLst>
            </p:cNvPr>
            <p:cNvSpPr txBox="1"/>
            <p:nvPr/>
          </p:nvSpPr>
          <p:spPr>
            <a:xfrm>
              <a:off x="482250" y="1874158"/>
              <a:ext cx="13555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DC Combiner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6E68F6B-02FE-177A-A219-82441928910B}"/>
              </a:ext>
            </a:extLst>
          </p:cNvPr>
          <p:cNvGrpSpPr/>
          <p:nvPr/>
        </p:nvGrpSpPr>
        <p:grpSpPr>
          <a:xfrm>
            <a:off x="1605011" y="1688426"/>
            <a:ext cx="1410882" cy="230832"/>
            <a:chOff x="426890" y="2044716"/>
            <a:chExt cx="1410882" cy="230832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0416AFD-EA2F-A5A9-1CF7-4FC84CCB5E4A}"/>
                </a:ext>
              </a:extLst>
            </p:cNvPr>
            <p:cNvSpPr txBox="1"/>
            <p:nvPr/>
          </p:nvSpPr>
          <p:spPr>
            <a:xfrm>
              <a:off x="482250" y="2044716"/>
              <a:ext cx="13555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AC Combiner</a:t>
              </a: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A61D868-1E57-0CD2-5EBC-0EC448F44706}"/>
                </a:ext>
              </a:extLst>
            </p:cNvPr>
            <p:cNvSpPr/>
            <p:nvPr/>
          </p:nvSpPr>
          <p:spPr>
            <a:xfrm>
              <a:off x="426890" y="2109605"/>
              <a:ext cx="110629" cy="110629"/>
            </a:xfrm>
            <a:custGeom>
              <a:avLst/>
              <a:gdLst>
                <a:gd name="connsiteX0" fmla="*/ 0 w 110629"/>
                <a:gd name="connsiteY0" fmla="*/ 0 h 110629"/>
                <a:gd name="connsiteX1" fmla="*/ 0 w 110629"/>
                <a:gd name="connsiteY1" fmla="*/ 110630 h 110629"/>
                <a:gd name="connsiteX2" fmla="*/ 110630 w 110629"/>
                <a:gd name="connsiteY2" fmla="*/ 110630 h 110629"/>
                <a:gd name="connsiteX3" fmla="*/ 110630 w 110629"/>
                <a:gd name="connsiteY3" fmla="*/ 0 h 110629"/>
                <a:gd name="connsiteX4" fmla="*/ 98338 w 110629"/>
                <a:gd name="connsiteY4" fmla="*/ 98338 h 110629"/>
                <a:gd name="connsiteX5" fmla="*/ 12292 w 110629"/>
                <a:gd name="connsiteY5" fmla="*/ 98338 h 110629"/>
                <a:gd name="connsiteX6" fmla="*/ 12292 w 110629"/>
                <a:gd name="connsiteY6" fmla="*/ 12292 h 110629"/>
                <a:gd name="connsiteX7" fmla="*/ 98338 w 110629"/>
                <a:gd name="connsiteY7" fmla="*/ 12292 h 110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629" h="110629">
                  <a:moveTo>
                    <a:pt x="0" y="0"/>
                  </a:moveTo>
                  <a:lnTo>
                    <a:pt x="0" y="110630"/>
                  </a:lnTo>
                  <a:lnTo>
                    <a:pt x="110630" y="110630"/>
                  </a:lnTo>
                  <a:lnTo>
                    <a:pt x="110630" y="0"/>
                  </a:lnTo>
                  <a:close/>
                  <a:moveTo>
                    <a:pt x="98338" y="98338"/>
                  </a:moveTo>
                  <a:lnTo>
                    <a:pt x="12292" y="98338"/>
                  </a:lnTo>
                  <a:lnTo>
                    <a:pt x="12292" y="12292"/>
                  </a:lnTo>
                  <a:lnTo>
                    <a:pt x="98338" y="12292"/>
                  </a:lnTo>
                  <a:close/>
                </a:path>
              </a:pathLst>
            </a:custGeom>
            <a:solidFill>
              <a:srgbClr val="000000"/>
            </a:solidFill>
            <a:ln w="1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E0121DA-208E-BF59-308F-9A835F0A8A6D}"/>
              </a:ext>
            </a:extLst>
          </p:cNvPr>
          <p:cNvGrpSpPr/>
          <p:nvPr/>
        </p:nvGrpSpPr>
        <p:grpSpPr>
          <a:xfrm>
            <a:off x="413266" y="2157775"/>
            <a:ext cx="1871570" cy="261610"/>
            <a:chOff x="365275" y="1926038"/>
            <a:chExt cx="1871570" cy="26161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222F328-9D01-146C-B32E-B1F9D24ACF2D}"/>
                </a:ext>
              </a:extLst>
            </p:cNvPr>
            <p:cNvSpPr txBox="1"/>
            <p:nvPr/>
          </p:nvSpPr>
          <p:spPr>
            <a:xfrm>
              <a:off x="365275" y="1926038"/>
              <a:ext cx="18715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General Scheme Inputs</a:t>
              </a:r>
            </a:p>
          </p:txBody>
        </p:sp>
        <p:sp>
          <p:nvSpPr>
            <p:cNvPr id="114" name="Isosceles Triangle 113">
              <a:extLst>
                <a:ext uri="{FF2B5EF4-FFF2-40B4-BE49-F238E27FC236}">
                  <a16:creationId xmlns:a16="http://schemas.microsoft.com/office/drawing/2014/main" id="{94942405-71D2-6540-0C11-655E073BA5B5}"/>
                </a:ext>
              </a:extLst>
            </p:cNvPr>
            <p:cNvSpPr/>
            <p:nvPr/>
          </p:nvSpPr>
          <p:spPr>
            <a:xfrm rot="3600000">
              <a:off x="370118" y="2002571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7051F46-DD22-6F87-4D02-4CD35946ECC4}"/>
              </a:ext>
            </a:extLst>
          </p:cNvPr>
          <p:cNvGrpSpPr/>
          <p:nvPr/>
        </p:nvGrpSpPr>
        <p:grpSpPr>
          <a:xfrm>
            <a:off x="379574" y="1323851"/>
            <a:ext cx="1871570" cy="261610"/>
            <a:chOff x="365275" y="1926038"/>
            <a:chExt cx="1871570" cy="261610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E0DD92A-37D5-4D20-61AE-71DECCAEA1B9}"/>
                </a:ext>
              </a:extLst>
            </p:cNvPr>
            <p:cNvSpPr txBox="1"/>
            <p:nvPr/>
          </p:nvSpPr>
          <p:spPr>
            <a:xfrm>
              <a:off x="365275" y="1926038"/>
              <a:ext cx="187157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Overall System</a:t>
              </a:r>
            </a:p>
          </p:txBody>
        </p:sp>
        <p:sp>
          <p:nvSpPr>
            <p:cNvPr id="117" name="Isosceles Triangle 116">
              <a:extLst>
                <a:ext uri="{FF2B5EF4-FFF2-40B4-BE49-F238E27FC236}">
                  <a16:creationId xmlns:a16="http://schemas.microsoft.com/office/drawing/2014/main" id="{7F4E83C7-6D74-4134-00F0-A19FE08B0183}"/>
                </a:ext>
              </a:extLst>
            </p:cNvPr>
            <p:cNvSpPr/>
            <p:nvPr/>
          </p:nvSpPr>
          <p:spPr>
            <a:xfrm rot="3600000">
              <a:off x="370118" y="2002571"/>
              <a:ext cx="87095" cy="75082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387086CD-5ED4-4E7E-D51F-081823896C9D}"/>
              </a:ext>
            </a:extLst>
          </p:cNvPr>
          <p:cNvSpPr/>
          <p:nvPr/>
        </p:nvSpPr>
        <p:spPr>
          <a:xfrm>
            <a:off x="447794" y="4322041"/>
            <a:ext cx="8970902" cy="1953336"/>
          </a:xfrm>
          <a:prstGeom prst="roundRect">
            <a:avLst>
              <a:gd name="adj" fmla="val 3119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B0413C6-71B5-B877-8E1B-D0813A61713D}"/>
              </a:ext>
            </a:extLst>
          </p:cNvPr>
          <p:cNvGrpSpPr/>
          <p:nvPr/>
        </p:nvGrpSpPr>
        <p:grpSpPr>
          <a:xfrm>
            <a:off x="1605011" y="1530083"/>
            <a:ext cx="1410882" cy="230832"/>
            <a:chOff x="426890" y="1698461"/>
            <a:chExt cx="1410882" cy="230832"/>
          </a:xfrm>
        </p:grpSpPr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3CB5A08-E490-678C-4CEE-04BB32A775E4}"/>
                </a:ext>
              </a:extLst>
            </p:cNvPr>
            <p:cNvSpPr/>
            <p:nvPr/>
          </p:nvSpPr>
          <p:spPr>
            <a:xfrm>
              <a:off x="426890" y="1761758"/>
              <a:ext cx="110629" cy="110629"/>
            </a:xfrm>
            <a:custGeom>
              <a:avLst/>
              <a:gdLst>
                <a:gd name="connsiteX0" fmla="*/ 0 w 110629"/>
                <a:gd name="connsiteY0" fmla="*/ 0 h 110629"/>
                <a:gd name="connsiteX1" fmla="*/ 0 w 110629"/>
                <a:gd name="connsiteY1" fmla="*/ 110630 h 110629"/>
                <a:gd name="connsiteX2" fmla="*/ 110630 w 110629"/>
                <a:gd name="connsiteY2" fmla="*/ 110630 h 110629"/>
                <a:gd name="connsiteX3" fmla="*/ 110630 w 110629"/>
                <a:gd name="connsiteY3" fmla="*/ 0 h 110629"/>
                <a:gd name="connsiteX4" fmla="*/ 98338 w 110629"/>
                <a:gd name="connsiteY4" fmla="*/ 98338 h 110629"/>
                <a:gd name="connsiteX5" fmla="*/ 12292 w 110629"/>
                <a:gd name="connsiteY5" fmla="*/ 98338 h 110629"/>
                <a:gd name="connsiteX6" fmla="*/ 12292 w 110629"/>
                <a:gd name="connsiteY6" fmla="*/ 12292 h 110629"/>
                <a:gd name="connsiteX7" fmla="*/ 98338 w 110629"/>
                <a:gd name="connsiteY7" fmla="*/ 12292 h 110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629" h="110629">
                  <a:moveTo>
                    <a:pt x="0" y="0"/>
                  </a:moveTo>
                  <a:lnTo>
                    <a:pt x="0" y="110630"/>
                  </a:lnTo>
                  <a:lnTo>
                    <a:pt x="110630" y="110630"/>
                  </a:lnTo>
                  <a:lnTo>
                    <a:pt x="110630" y="0"/>
                  </a:lnTo>
                  <a:close/>
                  <a:moveTo>
                    <a:pt x="98338" y="98338"/>
                  </a:moveTo>
                  <a:lnTo>
                    <a:pt x="12292" y="98338"/>
                  </a:lnTo>
                  <a:lnTo>
                    <a:pt x="12292" y="12292"/>
                  </a:lnTo>
                  <a:lnTo>
                    <a:pt x="98338" y="12292"/>
                  </a:lnTo>
                  <a:close/>
                </a:path>
              </a:pathLst>
            </a:custGeom>
            <a:solidFill>
              <a:srgbClr val="000000"/>
            </a:solidFill>
            <a:ln w="1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06D99970-622D-3FBD-6E6C-2BFF9BD6EBD6}"/>
                </a:ext>
              </a:extLst>
            </p:cNvPr>
            <p:cNvSpPr txBox="1"/>
            <p:nvPr/>
          </p:nvSpPr>
          <p:spPr>
            <a:xfrm>
              <a:off x="482250" y="1698461"/>
              <a:ext cx="13555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Central Inverter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A294E4B-306E-6CE8-3843-550F52AA4D36}"/>
              </a:ext>
            </a:extLst>
          </p:cNvPr>
          <p:cNvGrpSpPr/>
          <p:nvPr/>
        </p:nvGrpSpPr>
        <p:grpSpPr>
          <a:xfrm>
            <a:off x="352630" y="1530041"/>
            <a:ext cx="1410882" cy="230832"/>
            <a:chOff x="426890" y="1530041"/>
            <a:chExt cx="1410882" cy="230832"/>
          </a:xfrm>
        </p:grpSpPr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1C5D54F-4849-0756-6A34-4FE7FC6BFD24}"/>
                </a:ext>
              </a:extLst>
            </p:cNvPr>
            <p:cNvSpPr/>
            <p:nvPr/>
          </p:nvSpPr>
          <p:spPr>
            <a:xfrm>
              <a:off x="426890" y="1593338"/>
              <a:ext cx="110629" cy="110629"/>
            </a:xfrm>
            <a:custGeom>
              <a:avLst/>
              <a:gdLst>
                <a:gd name="connsiteX0" fmla="*/ 0 w 110629"/>
                <a:gd name="connsiteY0" fmla="*/ 0 h 110629"/>
                <a:gd name="connsiteX1" fmla="*/ 0 w 110629"/>
                <a:gd name="connsiteY1" fmla="*/ 110630 h 110629"/>
                <a:gd name="connsiteX2" fmla="*/ 110630 w 110629"/>
                <a:gd name="connsiteY2" fmla="*/ 110630 h 110629"/>
                <a:gd name="connsiteX3" fmla="*/ 110630 w 110629"/>
                <a:gd name="connsiteY3" fmla="*/ 0 h 110629"/>
                <a:gd name="connsiteX4" fmla="*/ 98338 w 110629"/>
                <a:gd name="connsiteY4" fmla="*/ 98338 h 110629"/>
                <a:gd name="connsiteX5" fmla="*/ 12292 w 110629"/>
                <a:gd name="connsiteY5" fmla="*/ 98338 h 110629"/>
                <a:gd name="connsiteX6" fmla="*/ 12292 w 110629"/>
                <a:gd name="connsiteY6" fmla="*/ 12292 h 110629"/>
                <a:gd name="connsiteX7" fmla="*/ 98338 w 110629"/>
                <a:gd name="connsiteY7" fmla="*/ 12292 h 110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629" h="110629">
                  <a:moveTo>
                    <a:pt x="0" y="0"/>
                  </a:moveTo>
                  <a:lnTo>
                    <a:pt x="0" y="110630"/>
                  </a:lnTo>
                  <a:lnTo>
                    <a:pt x="110630" y="110630"/>
                  </a:lnTo>
                  <a:lnTo>
                    <a:pt x="110630" y="0"/>
                  </a:lnTo>
                  <a:close/>
                  <a:moveTo>
                    <a:pt x="98338" y="98338"/>
                  </a:moveTo>
                  <a:lnTo>
                    <a:pt x="12292" y="98338"/>
                  </a:lnTo>
                  <a:lnTo>
                    <a:pt x="12292" y="12292"/>
                  </a:lnTo>
                  <a:lnTo>
                    <a:pt x="98338" y="12292"/>
                  </a:lnTo>
                  <a:close/>
                </a:path>
              </a:pathLst>
            </a:custGeom>
            <a:solidFill>
              <a:srgbClr val="000000"/>
            </a:solidFill>
            <a:ln w="1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B700497-5F8F-8C3C-3E31-0173F244C427}"/>
                </a:ext>
              </a:extLst>
            </p:cNvPr>
            <p:cNvSpPr txBox="1"/>
            <p:nvPr/>
          </p:nvSpPr>
          <p:spPr>
            <a:xfrm>
              <a:off x="482250" y="1530041"/>
              <a:ext cx="13555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String Inverter</a:t>
              </a:r>
            </a:p>
          </p:txBody>
        </p:sp>
      </p:grpSp>
      <p:graphicFrame>
        <p:nvGraphicFramePr>
          <p:cNvPr id="130" name="Table 129">
            <a:extLst>
              <a:ext uri="{FF2B5EF4-FFF2-40B4-BE49-F238E27FC236}">
                <a16:creationId xmlns:a16="http://schemas.microsoft.com/office/drawing/2014/main" id="{10571EAB-E7D1-335C-F0E9-8F3975DAD04E}"/>
              </a:ext>
            </a:extLst>
          </p:cNvPr>
          <p:cNvGraphicFramePr>
            <a:graphicFrameLocks noGrp="1"/>
          </p:cNvGraphicFramePr>
          <p:nvPr/>
        </p:nvGraphicFramePr>
        <p:xfrm>
          <a:off x="447793" y="2773746"/>
          <a:ext cx="6416556" cy="1463040"/>
        </p:xfrm>
        <a:graphic>
          <a:graphicData uri="http://schemas.openxmlformats.org/drawingml/2006/table">
            <a:tbl>
              <a:tblPr bandRow="1">
                <a:tableStyleId>{1E171933-4619-4E11-9A3F-F7608DF75F80}</a:tableStyleId>
              </a:tblPr>
              <a:tblGrid>
                <a:gridCol w="513906">
                  <a:extLst>
                    <a:ext uri="{9D8B030D-6E8A-4147-A177-3AD203B41FA5}">
                      <a16:colId xmlns:a16="http://schemas.microsoft.com/office/drawing/2014/main" val="389129382"/>
                    </a:ext>
                  </a:extLst>
                </a:gridCol>
                <a:gridCol w="887759">
                  <a:extLst>
                    <a:ext uri="{9D8B030D-6E8A-4147-A177-3AD203B41FA5}">
                      <a16:colId xmlns:a16="http://schemas.microsoft.com/office/drawing/2014/main" val="3028214324"/>
                    </a:ext>
                  </a:extLst>
                </a:gridCol>
                <a:gridCol w="809908">
                  <a:extLst>
                    <a:ext uri="{9D8B030D-6E8A-4147-A177-3AD203B41FA5}">
                      <a16:colId xmlns:a16="http://schemas.microsoft.com/office/drawing/2014/main" val="3786739772"/>
                    </a:ext>
                  </a:extLst>
                </a:gridCol>
                <a:gridCol w="763612">
                  <a:extLst>
                    <a:ext uri="{9D8B030D-6E8A-4147-A177-3AD203B41FA5}">
                      <a16:colId xmlns:a16="http://schemas.microsoft.com/office/drawing/2014/main" val="4266186368"/>
                    </a:ext>
                  </a:extLst>
                </a:gridCol>
                <a:gridCol w="941359">
                  <a:extLst>
                    <a:ext uri="{9D8B030D-6E8A-4147-A177-3AD203B41FA5}">
                      <a16:colId xmlns:a16="http://schemas.microsoft.com/office/drawing/2014/main" val="3530402296"/>
                    </a:ext>
                  </a:extLst>
                </a:gridCol>
                <a:gridCol w="1114022">
                  <a:extLst>
                    <a:ext uri="{9D8B030D-6E8A-4147-A177-3AD203B41FA5}">
                      <a16:colId xmlns:a16="http://schemas.microsoft.com/office/drawing/2014/main" val="1330441581"/>
                    </a:ext>
                  </a:extLst>
                </a:gridCol>
                <a:gridCol w="776391">
                  <a:extLst>
                    <a:ext uri="{9D8B030D-6E8A-4147-A177-3AD203B41FA5}">
                      <a16:colId xmlns:a16="http://schemas.microsoft.com/office/drawing/2014/main" val="4287644026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4192260144"/>
                    </a:ext>
                  </a:extLst>
                </a:gridCol>
              </a:tblGrid>
              <a:tr h="178884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Area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Initial DC Capacity [kWp]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Inverter Capacity [kVA]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Desired DC/AC Ratio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PV Module/String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MV Transformer Station [kVA]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Delivery Station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/>
                        <a:t>POC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318364"/>
                  </a:ext>
                </a:extLst>
              </a:tr>
              <a:tr h="20258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Area 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Enter kVA</a:t>
                      </a:r>
                    </a:p>
                    <a:p>
                      <a:pPr algn="ctr"/>
                      <a:endParaRPr lang="en-US" sz="8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Enter Number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Enter Number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Enter kVA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DS 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POC 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1674870"/>
                  </a:ext>
                </a:extLst>
              </a:tr>
              <a:tr h="2025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Area 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Enter kVA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Enter Number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Enter Number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Enter kVA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DS 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POC 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893421"/>
                  </a:ext>
                </a:extLst>
              </a:tr>
              <a:tr h="2025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Area 3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Enter kVA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Enter Number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Enter Number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Enter kVA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DS 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POC 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4439795"/>
                  </a:ext>
                </a:extLst>
              </a:tr>
            </a:tbl>
          </a:graphicData>
        </a:graphic>
      </p:graphicFrame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7A114052-591B-7A9A-12E4-E48E7B90C75D}"/>
              </a:ext>
            </a:extLst>
          </p:cNvPr>
          <p:cNvSpPr/>
          <p:nvPr/>
        </p:nvSpPr>
        <p:spPr>
          <a:xfrm>
            <a:off x="451342" y="2407333"/>
            <a:ext cx="1092689" cy="2743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Add Delivery Station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on Map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808CD37-6EDE-DA6F-4F5F-BCC9D26DE207}"/>
              </a:ext>
            </a:extLst>
          </p:cNvPr>
          <p:cNvSpPr/>
          <p:nvPr/>
        </p:nvSpPr>
        <p:spPr>
          <a:xfrm>
            <a:off x="1609518" y="2407333"/>
            <a:ext cx="1097280" cy="2743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Add Point of Connection on Map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7F214CB-6D54-29E1-E698-8F5011B4AB03}"/>
              </a:ext>
            </a:extLst>
          </p:cNvPr>
          <p:cNvGrpSpPr/>
          <p:nvPr/>
        </p:nvGrpSpPr>
        <p:grpSpPr>
          <a:xfrm>
            <a:off x="1608769" y="1855169"/>
            <a:ext cx="1410882" cy="230832"/>
            <a:chOff x="426890" y="1874158"/>
            <a:chExt cx="1410882" cy="230832"/>
          </a:xfrm>
        </p:grpSpPr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41D1795D-09E8-27FD-4E59-CA4F6831E932}"/>
                </a:ext>
              </a:extLst>
            </p:cNvPr>
            <p:cNvSpPr/>
            <p:nvPr/>
          </p:nvSpPr>
          <p:spPr>
            <a:xfrm>
              <a:off x="426890" y="1937455"/>
              <a:ext cx="110629" cy="110629"/>
            </a:xfrm>
            <a:custGeom>
              <a:avLst/>
              <a:gdLst>
                <a:gd name="connsiteX0" fmla="*/ 0 w 110629"/>
                <a:gd name="connsiteY0" fmla="*/ 0 h 110629"/>
                <a:gd name="connsiteX1" fmla="*/ 0 w 110629"/>
                <a:gd name="connsiteY1" fmla="*/ 110630 h 110629"/>
                <a:gd name="connsiteX2" fmla="*/ 110630 w 110629"/>
                <a:gd name="connsiteY2" fmla="*/ 110630 h 110629"/>
                <a:gd name="connsiteX3" fmla="*/ 110630 w 110629"/>
                <a:gd name="connsiteY3" fmla="*/ 0 h 110629"/>
                <a:gd name="connsiteX4" fmla="*/ 98338 w 110629"/>
                <a:gd name="connsiteY4" fmla="*/ 98338 h 110629"/>
                <a:gd name="connsiteX5" fmla="*/ 12292 w 110629"/>
                <a:gd name="connsiteY5" fmla="*/ 98338 h 110629"/>
                <a:gd name="connsiteX6" fmla="*/ 12292 w 110629"/>
                <a:gd name="connsiteY6" fmla="*/ 12292 h 110629"/>
                <a:gd name="connsiteX7" fmla="*/ 98338 w 110629"/>
                <a:gd name="connsiteY7" fmla="*/ 12292 h 110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629" h="110629">
                  <a:moveTo>
                    <a:pt x="0" y="0"/>
                  </a:moveTo>
                  <a:lnTo>
                    <a:pt x="0" y="110630"/>
                  </a:lnTo>
                  <a:lnTo>
                    <a:pt x="110630" y="110630"/>
                  </a:lnTo>
                  <a:lnTo>
                    <a:pt x="110630" y="0"/>
                  </a:lnTo>
                  <a:close/>
                  <a:moveTo>
                    <a:pt x="98338" y="98338"/>
                  </a:moveTo>
                  <a:lnTo>
                    <a:pt x="12292" y="98338"/>
                  </a:lnTo>
                  <a:lnTo>
                    <a:pt x="12292" y="12292"/>
                  </a:lnTo>
                  <a:lnTo>
                    <a:pt x="98338" y="12292"/>
                  </a:lnTo>
                  <a:close/>
                </a:path>
              </a:pathLst>
            </a:custGeom>
            <a:solidFill>
              <a:srgbClr val="000000"/>
            </a:solidFill>
            <a:ln w="1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007F2F2-293B-1C67-09D7-40E1BA0B66CB}"/>
                </a:ext>
              </a:extLst>
            </p:cNvPr>
            <p:cNvSpPr txBox="1"/>
            <p:nvPr/>
          </p:nvSpPr>
          <p:spPr>
            <a:xfrm>
              <a:off x="482250" y="1874158"/>
              <a:ext cx="13555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Delivery Station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C95024A-CEF1-9258-1EEA-7506B28AE7D6}"/>
              </a:ext>
            </a:extLst>
          </p:cNvPr>
          <p:cNvGrpSpPr/>
          <p:nvPr/>
        </p:nvGrpSpPr>
        <p:grpSpPr>
          <a:xfrm>
            <a:off x="352630" y="1866591"/>
            <a:ext cx="1410882" cy="230832"/>
            <a:chOff x="426890" y="1874158"/>
            <a:chExt cx="1410882" cy="230832"/>
          </a:xfrm>
        </p:grpSpPr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C1FE300-E3DD-EFFB-AF00-4623A860F452}"/>
                </a:ext>
              </a:extLst>
            </p:cNvPr>
            <p:cNvSpPr/>
            <p:nvPr/>
          </p:nvSpPr>
          <p:spPr>
            <a:xfrm>
              <a:off x="426890" y="1937455"/>
              <a:ext cx="110629" cy="110629"/>
            </a:xfrm>
            <a:custGeom>
              <a:avLst/>
              <a:gdLst>
                <a:gd name="connsiteX0" fmla="*/ 0 w 110629"/>
                <a:gd name="connsiteY0" fmla="*/ 0 h 110629"/>
                <a:gd name="connsiteX1" fmla="*/ 0 w 110629"/>
                <a:gd name="connsiteY1" fmla="*/ 110630 h 110629"/>
                <a:gd name="connsiteX2" fmla="*/ 110630 w 110629"/>
                <a:gd name="connsiteY2" fmla="*/ 110630 h 110629"/>
                <a:gd name="connsiteX3" fmla="*/ 110630 w 110629"/>
                <a:gd name="connsiteY3" fmla="*/ 0 h 110629"/>
                <a:gd name="connsiteX4" fmla="*/ 98338 w 110629"/>
                <a:gd name="connsiteY4" fmla="*/ 98338 h 110629"/>
                <a:gd name="connsiteX5" fmla="*/ 12292 w 110629"/>
                <a:gd name="connsiteY5" fmla="*/ 98338 h 110629"/>
                <a:gd name="connsiteX6" fmla="*/ 12292 w 110629"/>
                <a:gd name="connsiteY6" fmla="*/ 12292 h 110629"/>
                <a:gd name="connsiteX7" fmla="*/ 98338 w 110629"/>
                <a:gd name="connsiteY7" fmla="*/ 12292 h 110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629" h="110629">
                  <a:moveTo>
                    <a:pt x="0" y="0"/>
                  </a:moveTo>
                  <a:lnTo>
                    <a:pt x="0" y="110630"/>
                  </a:lnTo>
                  <a:lnTo>
                    <a:pt x="110630" y="110630"/>
                  </a:lnTo>
                  <a:lnTo>
                    <a:pt x="110630" y="0"/>
                  </a:lnTo>
                  <a:close/>
                  <a:moveTo>
                    <a:pt x="98338" y="98338"/>
                  </a:moveTo>
                  <a:lnTo>
                    <a:pt x="12292" y="98338"/>
                  </a:lnTo>
                  <a:lnTo>
                    <a:pt x="12292" y="12292"/>
                  </a:lnTo>
                  <a:lnTo>
                    <a:pt x="98338" y="12292"/>
                  </a:lnTo>
                  <a:close/>
                </a:path>
              </a:pathLst>
            </a:custGeom>
            <a:solidFill>
              <a:srgbClr val="000000"/>
            </a:solidFill>
            <a:ln w="1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D253E870-979F-16E1-C090-6FF6AE59F67D}"/>
                </a:ext>
              </a:extLst>
            </p:cNvPr>
            <p:cNvSpPr txBox="1"/>
            <p:nvPr/>
          </p:nvSpPr>
          <p:spPr>
            <a:xfrm>
              <a:off x="482250" y="1874158"/>
              <a:ext cx="13555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  <a:latin typeface="Aptos SemiBold" panose="020F0502020204030204" pitchFamily="34" charset="0"/>
                  <a:cs typeface="Aldhabi" panose="020F0502020204030204" pitchFamily="2" charset="-78"/>
                </a:rPr>
                <a:t>Transformer Station</a:t>
              </a:r>
            </a:p>
          </p:txBody>
        </p:sp>
      </p:grpSp>
      <p:pic>
        <p:nvPicPr>
          <p:cNvPr id="167" name="Graphic 166" descr="Checkbox Checked with solid fill">
            <a:extLst>
              <a:ext uri="{FF2B5EF4-FFF2-40B4-BE49-F238E27FC236}">
                <a16:creationId xmlns:a16="http://schemas.microsoft.com/office/drawing/2014/main" id="{18885640-BC39-2AB7-9ED0-F01BA4DF1F6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9980" y="1887641"/>
            <a:ext cx="198031" cy="198031"/>
          </a:xfrm>
          <a:prstGeom prst="rect">
            <a:avLst/>
          </a:prstGeom>
        </p:spPr>
      </p:pic>
      <p:pic>
        <p:nvPicPr>
          <p:cNvPr id="169" name="Graphic 168" descr="Checkbox Checked with solid fill">
            <a:extLst>
              <a:ext uri="{FF2B5EF4-FFF2-40B4-BE49-F238E27FC236}">
                <a16:creationId xmlns:a16="http://schemas.microsoft.com/office/drawing/2014/main" id="{B129A24D-7CB6-D9B5-AB84-81AC17475FE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65067" y="1874764"/>
            <a:ext cx="198031" cy="198031"/>
          </a:xfrm>
          <a:prstGeom prst="rect">
            <a:avLst/>
          </a:prstGeom>
        </p:spPr>
      </p:pic>
      <p:pic>
        <p:nvPicPr>
          <p:cNvPr id="170" name="Graphic 169" descr="Checkbox Checked with solid fill">
            <a:extLst>
              <a:ext uri="{FF2B5EF4-FFF2-40B4-BE49-F238E27FC236}">
                <a16:creationId xmlns:a16="http://schemas.microsoft.com/office/drawing/2014/main" id="{7D589F6B-BD1B-0B5A-4288-A1518E0E2C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60773" y="1708759"/>
            <a:ext cx="198031" cy="198031"/>
          </a:xfrm>
          <a:prstGeom prst="rect">
            <a:avLst/>
          </a:prstGeom>
        </p:spPr>
      </p:pic>
      <p:pic>
        <p:nvPicPr>
          <p:cNvPr id="171" name="Graphic 170" descr="Checkbox Checked with solid fill">
            <a:extLst>
              <a:ext uri="{FF2B5EF4-FFF2-40B4-BE49-F238E27FC236}">
                <a16:creationId xmlns:a16="http://schemas.microsoft.com/office/drawing/2014/main" id="{AA815598-5004-237C-4FB5-4E2EF4C09F3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6597" y="1549068"/>
            <a:ext cx="198031" cy="198031"/>
          </a:xfrm>
          <a:prstGeom prst="rect">
            <a:avLst/>
          </a:prstGeom>
        </p:spPr>
      </p:pic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5E47ED7E-9B9A-11A8-3A64-F122B86A8D36}"/>
              </a:ext>
            </a:extLst>
          </p:cNvPr>
          <p:cNvSpPr/>
          <p:nvPr/>
        </p:nvSpPr>
        <p:spPr>
          <a:xfrm>
            <a:off x="2775310" y="2414171"/>
            <a:ext cx="1097280" cy="2743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Draw Main Cable Routs</a:t>
            </a:r>
          </a:p>
        </p:txBody>
      </p: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AFD3C4FD-44E9-A642-B395-C68CE615E991}"/>
              </a:ext>
            </a:extLst>
          </p:cNvPr>
          <p:cNvCxnSpPr>
            <a:cxnSpLocks/>
          </p:cNvCxnSpPr>
          <p:nvPr/>
        </p:nvCxnSpPr>
        <p:spPr>
          <a:xfrm flipH="1">
            <a:off x="1339095" y="2594535"/>
            <a:ext cx="2848753" cy="834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42B15AF1-FD43-4BF3-5AA0-BF1FDD98F5D2}"/>
              </a:ext>
            </a:extLst>
          </p:cNvPr>
          <p:cNvSpPr/>
          <p:nvPr/>
        </p:nvSpPr>
        <p:spPr>
          <a:xfrm>
            <a:off x="3997691" y="2399761"/>
            <a:ext cx="1155743" cy="2040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Auto fill from initial layout</a:t>
            </a:r>
          </a:p>
        </p:txBody>
      </p:sp>
      <p:sp>
        <p:nvSpPr>
          <p:cNvPr id="1040" name="Isosceles Triangle 1039">
            <a:extLst>
              <a:ext uri="{FF2B5EF4-FFF2-40B4-BE49-F238E27FC236}">
                <a16:creationId xmlns:a16="http://schemas.microsoft.com/office/drawing/2014/main" id="{280EEF0A-4E7A-6C10-87B0-BA87489CA053}"/>
              </a:ext>
            </a:extLst>
          </p:cNvPr>
          <p:cNvSpPr/>
          <p:nvPr/>
        </p:nvSpPr>
        <p:spPr>
          <a:xfrm rot="3600000">
            <a:off x="6143965" y="3300985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41EF391D-61CB-E0D6-D579-186557D58A4A}"/>
              </a:ext>
            </a:extLst>
          </p:cNvPr>
          <p:cNvSpPr/>
          <p:nvPr/>
        </p:nvSpPr>
        <p:spPr>
          <a:xfrm rot="3600000">
            <a:off x="6143965" y="3663232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Isosceles Triangle 1044">
            <a:extLst>
              <a:ext uri="{FF2B5EF4-FFF2-40B4-BE49-F238E27FC236}">
                <a16:creationId xmlns:a16="http://schemas.microsoft.com/office/drawing/2014/main" id="{BB9B8D93-723F-625C-0866-CE860C4F87BD}"/>
              </a:ext>
            </a:extLst>
          </p:cNvPr>
          <p:cNvSpPr/>
          <p:nvPr/>
        </p:nvSpPr>
        <p:spPr>
          <a:xfrm rot="3600000">
            <a:off x="6143965" y="3972333"/>
            <a:ext cx="87095" cy="75082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59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3073C1-04E4-BE26-EB1E-4DA95E8AB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584"/>
            <a:ext cx="12192000" cy="643283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C1384E-2FF2-6F07-20AE-42217981F386}"/>
              </a:ext>
            </a:extLst>
          </p:cNvPr>
          <p:cNvCxnSpPr>
            <a:cxnSpLocks/>
          </p:cNvCxnSpPr>
          <p:nvPr/>
        </p:nvCxnSpPr>
        <p:spPr>
          <a:xfrm flipH="1">
            <a:off x="4585716" y="308610"/>
            <a:ext cx="576072" cy="400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CA97477-A79F-0B0F-C172-4DD2358521B5}"/>
              </a:ext>
            </a:extLst>
          </p:cNvPr>
          <p:cNvSpPr/>
          <p:nvPr/>
        </p:nvSpPr>
        <p:spPr>
          <a:xfrm>
            <a:off x="82296" y="804672"/>
            <a:ext cx="4791456" cy="5715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F1FE0A-4004-3F3B-26F5-E50219EF35C0}"/>
              </a:ext>
            </a:extLst>
          </p:cNvPr>
          <p:cNvSpPr txBox="1"/>
          <p:nvPr/>
        </p:nvSpPr>
        <p:spPr>
          <a:xfrm>
            <a:off x="5041059" y="-62568"/>
            <a:ext cx="7271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Reduce This section Width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to be like the red window but keep the layout of the fields and everything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E7C3B3-836C-1E6C-1F53-9B44C2750421}"/>
              </a:ext>
            </a:extLst>
          </p:cNvPr>
          <p:cNvSpPr/>
          <p:nvPr/>
        </p:nvSpPr>
        <p:spPr>
          <a:xfrm>
            <a:off x="5041059" y="804672"/>
            <a:ext cx="7068646" cy="14904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40CD48-AEFD-8C1C-C420-3B1B3E4B80CD}"/>
              </a:ext>
            </a:extLst>
          </p:cNvPr>
          <p:cNvSpPr txBox="1"/>
          <p:nvPr/>
        </p:nvSpPr>
        <p:spPr>
          <a:xfrm>
            <a:off x="5087636" y="903577"/>
            <a:ext cx="366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Make the summary section smaller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7615E1-065A-917C-F312-9180C99C5E63}"/>
              </a:ext>
            </a:extLst>
          </p:cNvPr>
          <p:cNvSpPr/>
          <p:nvPr/>
        </p:nvSpPr>
        <p:spPr>
          <a:xfrm>
            <a:off x="5041058" y="2391170"/>
            <a:ext cx="7068646" cy="412850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6106E4-88B3-AF5C-F605-F3CAA7762197}"/>
              </a:ext>
            </a:extLst>
          </p:cNvPr>
          <p:cNvSpPr txBox="1"/>
          <p:nvPr/>
        </p:nvSpPr>
        <p:spPr>
          <a:xfrm>
            <a:off x="5161788" y="2586101"/>
            <a:ext cx="2669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This all window for layout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9D77E5-E567-C79D-6FC9-CD6157BF124F}"/>
              </a:ext>
            </a:extLst>
          </p:cNvPr>
          <p:cNvSpPr txBox="1"/>
          <p:nvPr/>
        </p:nvSpPr>
        <p:spPr>
          <a:xfrm>
            <a:off x="0" y="3957567"/>
            <a:ext cx="519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Make this section scroll up and now not all window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6A2A73-450B-0A1E-1084-F51148624FE7}"/>
              </a:ext>
            </a:extLst>
          </p:cNvPr>
          <p:cNvSpPr txBox="1"/>
          <p:nvPr/>
        </p:nvSpPr>
        <p:spPr>
          <a:xfrm>
            <a:off x="323695" y="62315"/>
            <a:ext cx="393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Put calculate and reset buttons up here and in the scroll section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A4E6148-BB01-A26F-4E35-CB037CBCF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461"/>
            <a:ext cx="12192000" cy="664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07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6245</TotalTime>
  <Words>403</Words>
  <Application>Microsoft Office PowerPoint</Application>
  <PresentationFormat>Widescreen</PresentationFormat>
  <Paragraphs>125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Aptos SemiBold</vt:lpstr>
      <vt:lpstr>Aptos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orhan</dc:creator>
  <cp:lastModifiedBy>orhan</cp:lastModifiedBy>
  <cp:revision>7</cp:revision>
  <dcterms:created xsi:type="dcterms:W3CDTF">2025-11-15T13:25:32Z</dcterms:created>
  <dcterms:modified xsi:type="dcterms:W3CDTF">2025-11-19T21:30:38Z</dcterms:modified>
</cp:coreProperties>
</file>